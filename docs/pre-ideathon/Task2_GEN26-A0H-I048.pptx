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2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59E3C4-6FCD-4D56-8ECD-74E5AEBCDDA9}" v="26" dt="2026-10-09T16:28:42.2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13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3288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864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3"/>
                </a:solidFill>
              </a:rPr>
              <a:t>PRE-IDEATHON TEMPLATE</a:t>
            </a:r>
            <a:endParaRPr lang="en-US" sz="1200" dirty="0"/>
          </a:p>
        </p:txBody>
      </p:sp>
      <p:sp>
        <p:nvSpPr>
          <p:cNvPr id="12" name="Event Title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548640" y="2443687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4" name="Cover Lead"/>
          <p:cNvSpPr txBox="1"/>
          <p:nvPr/>
        </p:nvSpPr>
        <p:spPr>
          <a:xfrm>
            <a:off x="630917" y="2880733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Introduce your team and the domain you have chosen</a:t>
            </a:r>
            <a:endParaRPr lang="en-US" sz="1600" dirty="0"/>
          </a:p>
        </p:txBody>
      </p:sp>
      <p:sp>
        <p:nvSpPr>
          <p:cNvPr id="15" name="Cover Fields"/>
          <p:cNvSpPr txBox="1"/>
          <p:nvPr/>
        </p:nvSpPr>
        <p:spPr>
          <a:xfrm>
            <a:off x="548640" y="3228391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Name – BRAIN BYTES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Members –</a:t>
            </a:r>
            <a:r>
              <a:rPr lang="en-US" dirty="0">
                <a:solidFill>
                  <a:schemeClr val="bg1"/>
                </a:solidFill>
              </a:rPr>
              <a:t> Tharunima M [CB.EN.U4AEE26060 ], Jagat S R [CB.EN.U4AEE26020 ], Sanjay Krishnan V [CB.EN.U4AEE26045 ], Vishwaja S  [CB.EN.U4AEE26065]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Selected </a:t>
            </a:r>
            <a:r>
              <a:rPr lang="en-US" dirty="0">
                <a:solidFill>
                  <a:schemeClr val="bg1"/>
                </a:solidFill>
              </a:rPr>
              <a:t>Domain – 8 [Space, Aerospace, Mobility &amp; Next-Gen Infrastructure]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Problem Statement – To develop an </a:t>
            </a:r>
            <a:r>
              <a:rPr lang="en-IN" sz="1800" dirty="0">
                <a:solidFill>
                  <a:schemeClr val="bg1"/>
                </a:solidFill>
              </a:rPr>
              <a:t>autonomous deployable surface tower network that overcomes lunar terrain blockages and ensures continuous, high-rate rover data transfer to </a:t>
            </a:r>
            <a:r>
              <a:rPr lang="en-IN" sz="1800">
                <a:solidFill>
                  <a:schemeClr val="bg1"/>
                </a:solidFill>
              </a:rPr>
              <a:t>orbital relays.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53FBCB3F-7B09-8C82-0C49-53FA20583260}"/>
              </a:ext>
            </a:extLst>
          </p:cNvPr>
          <p:cNvSpPr>
            <a:spLocks noGrp="1"/>
          </p:cNvSpPr>
          <p:nvPr>
            <p:ph type="title" idx="108"/>
          </p:nvPr>
        </p:nvSpPr>
        <p:spPr>
          <a:xfrm>
            <a:off x="2838974" y="368241"/>
            <a:ext cx="7498080" cy="822960"/>
          </a:xfrm>
        </p:spPr>
        <p:txBody>
          <a:bodyPr/>
          <a:lstStyle/>
          <a:p>
            <a:r>
              <a:rPr lang="en-IN" dirty="0"/>
              <a:t>DOMAIN PROBLEM IN OUR OWN WORDS </a:t>
            </a:r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6C5CED2E-0C49-505F-F1CF-A1DB0BB865CA}"/>
              </a:ext>
            </a:extLst>
          </p:cNvPr>
          <p:cNvSpPr/>
          <p:nvPr/>
        </p:nvSpPr>
        <p:spPr>
          <a:xfrm>
            <a:off x="772152" y="2579679"/>
            <a:ext cx="2164703" cy="1346706"/>
          </a:xfrm>
          <a:prstGeom prst="flowChartAlternateProcess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8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 robotic vehicle that moves across the moon’s surface.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Explores areas that are difficult or unsafe for humans to reach.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Collects scientific data, captures images, and send information back to Earth or nearby base.</a:t>
            </a:r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AF8E41DA-A4F3-CE3B-8EB5-C208DFCDD731}"/>
              </a:ext>
            </a:extLst>
          </p:cNvPr>
          <p:cNvSpPr/>
          <p:nvPr/>
        </p:nvSpPr>
        <p:spPr>
          <a:xfrm>
            <a:off x="781433" y="2478885"/>
            <a:ext cx="2164703" cy="318173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Aptos" panose="020B0004020202020204" pitchFamily="34" charset="0"/>
                <a:cs typeface="Times New Roman" panose="02020603050405020304" pitchFamily="18" charset="0"/>
              </a:rPr>
              <a:t>What is a lunar rover?  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BA4D6AF-BAC4-114B-9BAC-1938526A54BE}"/>
              </a:ext>
            </a:extLst>
          </p:cNvPr>
          <p:cNvSpPr/>
          <p:nvPr/>
        </p:nvSpPr>
        <p:spPr>
          <a:xfrm>
            <a:off x="675396" y="2408366"/>
            <a:ext cx="431076" cy="451136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ED400C56-103F-0F7E-2148-617C0EB68D16}"/>
              </a:ext>
            </a:extLst>
          </p:cNvPr>
          <p:cNvSpPr/>
          <p:nvPr/>
        </p:nvSpPr>
        <p:spPr>
          <a:xfrm>
            <a:off x="3602762" y="2501727"/>
            <a:ext cx="2164703" cy="1427734"/>
          </a:xfrm>
          <a:prstGeom prst="flowChartAlternateProcess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9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9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When the rover explores the moon, it may travel through craters, behind ridges, or across uneven terrain where its direct communication signal with Earth or a base can become weak or completely blocked.</a:t>
            </a:r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89AFD7C6-B319-979F-7495-28E39CB1791A}"/>
              </a:ext>
            </a:extLst>
          </p:cNvPr>
          <p:cNvSpPr/>
          <p:nvPr/>
        </p:nvSpPr>
        <p:spPr>
          <a:xfrm>
            <a:off x="3602761" y="2474559"/>
            <a:ext cx="2164703" cy="316039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Aptos" panose="020B0004020202020204" pitchFamily="34" charset="0"/>
                <a:cs typeface="Times New Roman" panose="02020603050405020304" pitchFamily="18" charset="0"/>
              </a:rPr>
              <a:t>  The challenge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88DD413-E32B-4227-F582-4B12FEBC99AC}"/>
              </a:ext>
            </a:extLst>
          </p:cNvPr>
          <p:cNvSpPr/>
          <p:nvPr/>
        </p:nvSpPr>
        <p:spPr>
          <a:xfrm>
            <a:off x="3542171" y="2407837"/>
            <a:ext cx="431076" cy="448109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6CBEC8E9-DD18-CA74-69D2-E501075B4349}"/>
              </a:ext>
            </a:extLst>
          </p:cNvPr>
          <p:cNvSpPr/>
          <p:nvPr/>
        </p:nvSpPr>
        <p:spPr>
          <a:xfrm>
            <a:off x="6468529" y="2478885"/>
            <a:ext cx="2164703" cy="1450576"/>
          </a:xfrm>
          <a:prstGeom prst="flowChartAlternateProcess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9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9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The problem is not simply that the rover needs communication.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Instead, it needs an autonomous surface tower to make lunar communication and data transfer seamless. </a:t>
            </a:r>
          </a:p>
        </p:txBody>
      </p:sp>
      <p:sp>
        <p:nvSpPr>
          <p:cNvPr id="28" name="Rectangle: Top Corners Rounded 27">
            <a:extLst>
              <a:ext uri="{FF2B5EF4-FFF2-40B4-BE49-F238E27FC236}">
                <a16:creationId xmlns:a16="http://schemas.microsoft.com/office/drawing/2014/main" id="{6F9CE933-65D9-EDA5-31F1-B33ED8164068}"/>
              </a:ext>
            </a:extLst>
          </p:cNvPr>
          <p:cNvSpPr/>
          <p:nvPr/>
        </p:nvSpPr>
        <p:spPr>
          <a:xfrm>
            <a:off x="6478514" y="2478885"/>
            <a:ext cx="2164703" cy="318173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Aptos" panose="020B0004020202020204" pitchFamily="34" charset="0"/>
                <a:cs typeface="Times New Roman" panose="02020603050405020304" pitchFamily="18" charset="0"/>
              </a:rPr>
              <a:t>  The problem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0C9C51D-40DE-EB6A-04BC-6CE74685456B}"/>
              </a:ext>
            </a:extLst>
          </p:cNvPr>
          <p:cNvSpPr/>
          <p:nvPr/>
        </p:nvSpPr>
        <p:spPr>
          <a:xfrm>
            <a:off x="6372476" y="2408366"/>
            <a:ext cx="431076" cy="451136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0" name="Flowchart: Alternate Process 29">
            <a:extLst>
              <a:ext uri="{FF2B5EF4-FFF2-40B4-BE49-F238E27FC236}">
                <a16:creationId xmlns:a16="http://schemas.microsoft.com/office/drawing/2014/main" id="{F1DCC79A-585E-3EB6-19E2-3E2F098DBDE9}"/>
              </a:ext>
            </a:extLst>
          </p:cNvPr>
          <p:cNvSpPr/>
          <p:nvPr/>
        </p:nvSpPr>
        <p:spPr>
          <a:xfrm>
            <a:off x="9300475" y="2489793"/>
            <a:ext cx="2415732" cy="1436590"/>
          </a:xfrm>
          <a:prstGeom prst="flowChartAlternateProcess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9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9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Our goal is to develop a network of autonomous, deployable lunar communication towers that overcome terrain-induced signal blockages by connecting rovers to orbital relay satellites, ensuring reliable data transmission even in cratered and shadowed regions of the moon. </a:t>
            </a:r>
          </a:p>
        </p:txBody>
      </p:sp>
      <p:sp>
        <p:nvSpPr>
          <p:cNvPr id="31" name="Rectangle: Top Corners Rounded 30">
            <a:extLst>
              <a:ext uri="{FF2B5EF4-FFF2-40B4-BE49-F238E27FC236}">
                <a16:creationId xmlns:a16="http://schemas.microsoft.com/office/drawing/2014/main" id="{29E61420-1A87-798D-7EF8-FDA8752C4862}"/>
              </a:ext>
            </a:extLst>
          </p:cNvPr>
          <p:cNvSpPr/>
          <p:nvPr/>
        </p:nvSpPr>
        <p:spPr>
          <a:xfrm>
            <a:off x="9300475" y="2457430"/>
            <a:ext cx="2415732" cy="339628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Aptos" panose="020B0004020202020204" pitchFamily="34" charset="0"/>
                <a:cs typeface="Times New Roman" panose="02020603050405020304" pitchFamily="18" charset="0"/>
              </a:rPr>
              <a:t>  Our goal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8A6C727-24A0-C61E-B173-64474E7ACF62}"/>
              </a:ext>
            </a:extLst>
          </p:cNvPr>
          <p:cNvSpPr/>
          <p:nvPr/>
        </p:nvSpPr>
        <p:spPr>
          <a:xfrm>
            <a:off x="9202781" y="2406440"/>
            <a:ext cx="431076" cy="418833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D53055C2-E050-B8CC-563D-050ECBFCC807}"/>
              </a:ext>
            </a:extLst>
          </p:cNvPr>
          <p:cNvSpPr/>
          <p:nvPr/>
        </p:nvSpPr>
        <p:spPr>
          <a:xfrm>
            <a:off x="1740410" y="4500965"/>
            <a:ext cx="2376786" cy="1346706"/>
          </a:xfrm>
          <a:prstGeom prst="flowChartAlternateProcess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9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9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Future lunar rovers will involve more rovers, long distances, and more challenging terrain.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Rovers will need to keep sending data, receiving instructions, and staying connected while far from a base.</a:t>
            </a:r>
          </a:p>
        </p:txBody>
      </p:sp>
      <p:sp>
        <p:nvSpPr>
          <p:cNvPr id="34" name="Rectangle: Top Corners Rounded 33">
            <a:extLst>
              <a:ext uri="{FF2B5EF4-FFF2-40B4-BE49-F238E27FC236}">
                <a16:creationId xmlns:a16="http://schemas.microsoft.com/office/drawing/2014/main" id="{413E0390-8650-6048-11DB-3776E29B4B56}"/>
              </a:ext>
            </a:extLst>
          </p:cNvPr>
          <p:cNvSpPr/>
          <p:nvPr/>
        </p:nvSpPr>
        <p:spPr>
          <a:xfrm>
            <a:off x="1764012" y="4500965"/>
            <a:ext cx="2353184" cy="318173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Aptos" panose="020B0004020202020204" pitchFamily="34" charset="0"/>
                <a:cs typeface="Times New Roman" panose="02020603050405020304" pitchFamily="18" charset="0"/>
              </a:rPr>
              <a:t>       Future need / perspective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E36602D-4FEC-FAAE-E823-D5D69290508E}"/>
              </a:ext>
            </a:extLst>
          </p:cNvPr>
          <p:cNvSpPr/>
          <p:nvPr/>
        </p:nvSpPr>
        <p:spPr>
          <a:xfrm>
            <a:off x="1665516" y="4397575"/>
            <a:ext cx="431076" cy="451136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6" name="Flowchart: Alternate Process 35">
            <a:extLst>
              <a:ext uri="{FF2B5EF4-FFF2-40B4-BE49-F238E27FC236}">
                <a16:creationId xmlns:a16="http://schemas.microsoft.com/office/drawing/2014/main" id="{C0C1355F-F9B1-C57D-9592-BADB0DFB52F3}"/>
              </a:ext>
            </a:extLst>
          </p:cNvPr>
          <p:cNvSpPr/>
          <p:nvPr/>
        </p:nvSpPr>
        <p:spPr>
          <a:xfrm>
            <a:off x="5047699" y="4500965"/>
            <a:ext cx="2164703" cy="1346706"/>
          </a:xfrm>
          <a:prstGeom prst="flowChartAlternateProcess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9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9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Even a temporary communication failure could interrupt scientific work.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It could delay important data.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It could affect control of the rover.</a:t>
            </a:r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3BBD85B7-7714-F792-DC22-B1BD0161AA39}"/>
              </a:ext>
            </a:extLst>
          </p:cNvPr>
          <p:cNvSpPr/>
          <p:nvPr/>
        </p:nvSpPr>
        <p:spPr>
          <a:xfrm>
            <a:off x="5047699" y="4480119"/>
            <a:ext cx="2164703" cy="318173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latin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en-IN" sz="1200" dirty="0">
                <a:latin typeface="Aptos" panose="020B0004020202020204" pitchFamily="34" charset="0"/>
                <a:cs typeface="Times New Roman" panose="02020603050405020304" pitchFamily="18" charset="0"/>
              </a:rPr>
              <a:t>Why it matters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F178027-6C32-9A7F-637D-94CB72EF7510}"/>
              </a:ext>
            </a:extLst>
          </p:cNvPr>
          <p:cNvSpPr/>
          <p:nvPr/>
        </p:nvSpPr>
        <p:spPr>
          <a:xfrm>
            <a:off x="4944394" y="4396087"/>
            <a:ext cx="431076" cy="451136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9" name="Flowchart: Alternate Process 38">
            <a:extLst>
              <a:ext uri="{FF2B5EF4-FFF2-40B4-BE49-F238E27FC236}">
                <a16:creationId xmlns:a16="http://schemas.microsoft.com/office/drawing/2014/main" id="{32B686F2-EFD3-7FAD-4600-7D0ED5B354C9}"/>
              </a:ext>
            </a:extLst>
          </p:cNvPr>
          <p:cNvSpPr/>
          <p:nvPr/>
        </p:nvSpPr>
        <p:spPr>
          <a:xfrm>
            <a:off x="8263283" y="4508376"/>
            <a:ext cx="2164703" cy="1331883"/>
          </a:xfrm>
          <a:prstGeom prst="flowChartAlternateProcess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IN" sz="1000" b="1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algn="just"/>
            <a:r>
              <a:rPr lang="en-IN" sz="10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 scalable, low-mass surface tower network with optional micro-relays to ensure uninterrupted connectivity across complex terrain. </a:t>
            </a:r>
          </a:p>
        </p:txBody>
      </p:sp>
      <p:sp>
        <p:nvSpPr>
          <p:cNvPr id="40" name="Rectangle: Top Corners Rounded 39">
            <a:extLst>
              <a:ext uri="{FF2B5EF4-FFF2-40B4-BE49-F238E27FC236}">
                <a16:creationId xmlns:a16="http://schemas.microsoft.com/office/drawing/2014/main" id="{9C90B6DD-9F17-0E29-1D4E-CB9941E4B20A}"/>
              </a:ext>
            </a:extLst>
          </p:cNvPr>
          <p:cNvSpPr/>
          <p:nvPr/>
        </p:nvSpPr>
        <p:spPr>
          <a:xfrm>
            <a:off x="8263284" y="4481869"/>
            <a:ext cx="2164703" cy="314671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Aptos" panose="020B0004020202020204" pitchFamily="34" charset="0"/>
                <a:cs typeface="Times New Roman" panose="02020603050405020304" pitchFamily="18" charset="0"/>
              </a:rPr>
              <a:t>  The need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199B99B-E14E-4672-E6FA-8C9ACE376368}"/>
              </a:ext>
            </a:extLst>
          </p:cNvPr>
          <p:cNvSpPr/>
          <p:nvPr/>
        </p:nvSpPr>
        <p:spPr>
          <a:xfrm>
            <a:off x="8186179" y="4398569"/>
            <a:ext cx="431076" cy="446171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8B0AE5-D768-6EC7-27C9-1BD1C20CBC09}"/>
              </a:ext>
            </a:extLst>
          </p:cNvPr>
          <p:cNvSpPr txBox="1"/>
          <p:nvPr/>
        </p:nvSpPr>
        <p:spPr>
          <a:xfrm>
            <a:off x="736092" y="1399592"/>
            <a:ext cx="30707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latin typeface="Aptos" panose="020B0004020202020204" pitchFamily="34" charset="0"/>
              </a:rPr>
              <a:t>L U N A R   </a:t>
            </a:r>
            <a:r>
              <a:rPr lang="en-IN" sz="900" dirty="0" err="1">
                <a:latin typeface="Aptos" panose="020B0004020202020204" pitchFamily="34" charset="0"/>
              </a:rPr>
              <a:t>R</a:t>
            </a:r>
            <a:r>
              <a:rPr lang="en-IN" sz="900" dirty="0">
                <a:latin typeface="Aptos" panose="020B0004020202020204" pitchFamily="34" charset="0"/>
              </a:rPr>
              <a:t> O V A R   C O M </a:t>
            </a:r>
            <a:r>
              <a:rPr lang="en-IN" sz="900" dirty="0" err="1">
                <a:latin typeface="Aptos" panose="020B0004020202020204" pitchFamily="34" charset="0"/>
              </a:rPr>
              <a:t>M</a:t>
            </a:r>
            <a:r>
              <a:rPr lang="en-IN" sz="900" dirty="0">
                <a:latin typeface="Aptos" panose="020B0004020202020204" pitchFamily="34" charset="0"/>
              </a:rPr>
              <a:t> U N I C A T I O N   S Y S T E 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0D652C-A2AA-AFAC-3F7C-809BB2A93AB4}"/>
              </a:ext>
            </a:extLst>
          </p:cNvPr>
          <p:cNvSpPr txBox="1"/>
          <p:nvPr/>
        </p:nvSpPr>
        <p:spPr>
          <a:xfrm>
            <a:off x="697836" y="1534883"/>
            <a:ext cx="4365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ptos DISPLAY" panose="020B0004020202020204" pitchFamily="34" charset="0"/>
              </a:rPr>
              <a:t>The</a:t>
            </a:r>
            <a:r>
              <a:rPr lang="en-IN" sz="2400" b="1" dirty="0">
                <a:latin typeface="Aptos DISPLAY" panose="020B0004020202020204" pitchFamily="34" charset="0"/>
              </a:rPr>
              <a:t> Challenge &amp; Our Solution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EFB12A3-AED7-700B-52C0-69AFD8C52182}"/>
              </a:ext>
            </a:extLst>
          </p:cNvPr>
          <p:cNvSpPr txBox="1"/>
          <p:nvPr/>
        </p:nvSpPr>
        <p:spPr>
          <a:xfrm>
            <a:off x="9128732" y="1666450"/>
            <a:ext cx="25720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latin typeface="Aptos" panose="020B0004020202020204" pitchFamily="34" charset="0"/>
              </a:rPr>
              <a:t>EXPLORE    /    COLLECT    /    SEND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B1F38A-40C3-B415-9D6C-22359F703EFD}"/>
              </a:ext>
            </a:extLst>
          </p:cNvPr>
          <p:cNvSpPr txBox="1"/>
          <p:nvPr/>
        </p:nvSpPr>
        <p:spPr>
          <a:xfrm>
            <a:off x="918972" y="6093916"/>
            <a:ext cx="35215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 M A R T E R   C O M </a:t>
            </a:r>
            <a:r>
              <a:rPr lang="en-IN" sz="8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</a:t>
            </a:r>
            <a:r>
              <a:rPr lang="en-IN" sz="8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U N I C A T I O N  .  S T R O N G E R   M I S </a:t>
            </a:r>
            <a:r>
              <a:rPr lang="en-IN" sz="8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</a:t>
            </a:r>
            <a:r>
              <a:rPr lang="en-IN" sz="8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I O N 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A47E923-17E6-7EEE-8DE2-0B7D63FAE24C}"/>
              </a:ext>
            </a:extLst>
          </p:cNvPr>
          <p:cNvCxnSpPr>
            <a:cxnSpLocks/>
          </p:cNvCxnSpPr>
          <p:nvPr/>
        </p:nvCxnSpPr>
        <p:spPr>
          <a:xfrm>
            <a:off x="4373756" y="6201638"/>
            <a:ext cx="64618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117F2607-B07B-A7EC-D7D6-36E52FBB0F6E}"/>
              </a:ext>
            </a:extLst>
          </p:cNvPr>
          <p:cNvSpPr/>
          <p:nvPr/>
        </p:nvSpPr>
        <p:spPr>
          <a:xfrm>
            <a:off x="3063240" y="3147373"/>
            <a:ext cx="391424" cy="278603"/>
          </a:xfrm>
          <a:prstGeom prst="righ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4A51E116-19E3-0064-B6BE-B50F2D6BE3AF}"/>
              </a:ext>
            </a:extLst>
          </p:cNvPr>
          <p:cNvSpPr/>
          <p:nvPr/>
        </p:nvSpPr>
        <p:spPr>
          <a:xfrm>
            <a:off x="5939196" y="3147373"/>
            <a:ext cx="391424" cy="278603"/>
          </a:xfrm>
          <a:prstGeom prst="righ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A4C80622-AB1E-0997-ABAA-F76D3E4AF57F}"/>
              </a:ext>
            </a:extLst>
          </p:cNvPr>
          <p:cNvSpPr/>
          <p:nvPr/>
        </p:nvSpPr>
        <p:spPr>
          <a:xfrm>
            <a:off x="8771141" y="3164143"/>
            <a:ext cx="391424" cy="278603"/>
          </a:xfrm>
          <a:prstGeom prst="righ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C8DEBA79-59D4-4ADD-BFE8-9394D9D345B3}"/>
              </a:ext>
            </a:extLst>
          </p:cNvPr>
          <p:cNvSpPr/>
          <p:nvPr/>
        </p:nvSpPr>
        <p:spPr>
          <a:xfrm>
            <a:off x="4388855" y="5081185"/>
            <a:ext cx="391424" cy="278603"/>
          </a:xfrm>
          <a:prstGeom prst="righ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8F03D2E7-A431-705B-DAA9-E9B10B1A67D0}"/>
              </a:ext>
            </a:extLst>
          </p:cNvPr>
          <p:cNvSpPr/>
          <p:nvPr/>
        </p:nvSpPr>
        <p:spPr>
          <a:xfrm>
            <a:off x="7550880" y="5085781"/>
            <a:ext cx="391424" cy="278603"/>
          </a:xfrm>
          <a:prstGeom prst="righ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65A00A83-BA12-47DA-851B-578E13D56AD6}"/>
              </a:ext>
            </a:extLst>
          </p:cNvPr>
          <p:cNvCxnSpPr>
            <a:cxnSpLocks/>
            <a:stCxn id="30" idx="2"/>
            <a:endCxn id="34" idx="3"/>
          </p:cNvCxnSpPr>
          <p:nvPr/>
        </p:nvCxnSpPr>
        <p:spPr>
          <a:xfrm rot="5400000">
            <a:off x="6437182" y="429806"/>
            <a:ext cx="574582" cy="756773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Arc 54">
            <a:extLst>
              <a:ext uri="{FF2B5EF4-FFF2-40B4-BE49-F238E27FC236}">
                <a16:creationId xmlns:a16="http://schemas.microsoft.com/office/drawing/2014/main" id="{13D1562A-C961-71CB-3E8D-53A064EFBF7B}"/>
              </a:ext>
            </a:extLst>
          </p:cNvPr>
          <p:cNvSpPr/>
          <p:nvPr/>
        </p:nvSpPr>
        <p:spPr>
          <a:xfrm>
            <a:off x="8966853" y="1196340"/>
            <a:ext cx="2292154" cy="1083369"/>
          </a:xfrm>
          <a:prstGeom prst="arc">
            <a:avLst>
              <a:gd name="adj1" fmla="val 21568111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8700DF3-1E9E-0F86-1EE1-5539BEA044AB}"/>
              </a:ext>
            </a:extLst>
          </p:cNvPr>
          <p:cNvCxnSpPr>
            <a:cxnSpLocks/>
            <a:stCxn id="45" idx="1"/>
          </p:cNvCxnSpPr>
          <p:nvPr/>
        </p:nvCxnSpPr>
        <p:spPr>
          <a:xfrm flipH="1">
            <a:off x="4584567" y="1781866"/>
            <a:ext cx="4544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am Badge">
            <a:extLst>
              <a:ext uri="{FF2B5EF4-FFF2-40B4-BE49-F238E27FC236}">
                <a16:creationId xmlns:a16="http://schemas.microsoft.com/office/drawing/2014/main" id="{D9479741-C457-DC22-FC10-067A94A75B6B}"/>
              </a:ext>
            </a:extLst>
          </p:cNvPr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am Name">
            <a:extLst>
              <a:ext uri="{FF2B5EF4-FFF2-40B4-BE49-F238E27FC236}">
                <a16:creationId xmlns:a16="http://schemas.microsoft.com/office/drawing/2014/main" id="{EA4D45D3-B6AE-DDF9-665F-B2FFC092077F}"/>
              </a:ext>
            </a:extLst>
          </p:cNvPr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BRAIN BYTES </a:t>
            </a: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C2BB49-AD7F-D874-32EA-ED7BDC250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32" y="357518"/>
            <a:ext cx="748004" cy="748004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7EC71DD5-629A-CF3C-6B1B-8D63C6B8F79F}"/>
              </a:ext>
            </a:extLst>
          </p:cNvPr>
          <p:cNvSpPr txBox="1"/>
          <p:nvPr/>
        </p:nvSpPr>
        <p:spPr>
          <a:xfrm>
            <a:off x="736092" y="1881608"/>
            <a:ext cx="62375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Clear Signals. Farther Reach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97D75FF-C8E8-9A45-3F29-6BCA95C168AB}"/>
              </a:ext>
            </a:extLst>
          </p:cNvPr>
          <p:cNvCxnSpPr>
            <a:cxnSpLocks/>
          </p:cNvCxnSpPr>
          <p:nvPr/>
        </p:nvCxnSpPr>
        <p:spPr>
          <a:xfrm>
            <a:off x="834390" y="2161950"/>
            <a:ext cx="2720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2854235" y="2971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392056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 dirty="0"/>
          </a:p>
        </p:txBody>
      </p:sp>
      <p:sp>
        <p:nvSpPr>
          <p:cNvPr id="93" name="Rounded Rectangle 3">
            <a:extLst>
              <a:ext uri="{FF2B5EF4-FFF2-40B4-BE49-F238E27FC236}">
                <a16:creationId xmlns:a16="http://schemas.microsoft.com/office/drawing/2014/main" id="{0086CBDF-8409-3338-C450-0F13EE24FBC2}"/>
              </a:ext>
            </a:extLst>
          </p:cNvPr>
          <p:cNvSpPr/>
          <p:nvPr/>
        </p:nvSpPr>
        <p:spPr>
          <a:xfrm>
            <a:off x="522732" y="1280160"/>
            <a:ext cx="3520440" cy="4251960"/>
          </a:xfrm>
          <a:prstGeom prst="roundRect">
            <a:avLst/>
          </a:prstGeom>
          <a:solidFill>
            <a:schemeClr val="accent6"/>
          </a:solidFill>
          <a:ln w="19050">
            <a:solidFill>
              <a:schemeClr val="accent6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C41A592-3701-348A-3029-EDF755FC8686}"/>
              </a:ext>
            </a:extLst>
          </p:cNvPr>
          <p:cNvSpPr txBox="1"/>
          <p:nvPr/>
        </p:nvSpPr>
        <p:spPr>
          <a:xfrm>
            <a:off x="751332" y="1481328"/>
            <a:ext cx="171874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5B96"/>
                </a:solidFill>
                <a:latin typeface="Aptos"/>
              </a:defRPr>
            </a:pPr>
            <a:r>
              <a:rPr sz="1600" dirty="0">
                <a:solidFill>
                  <a:schemeClr val="accent6">
                    <a:lumMod val="10000"/>
                  </a:schemeClr>
                </a:solidFill>
              </a:rPr>
              <a:t>PRIMARY USERS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CBE5571-1B52-DCE2-B117-89F4EB270271}"/>
              </a:ext>
            </a:extLst>
          </p:cNvPr>
          <p:cNvSpPr txBox="1"/>
          <p:nvPr/>
        </p:nvSpPr>
        <p:spPr>
          <a:xfrm>
            <a:off x="751332" y="2029968"/>
            <a:ext cx="3063240" cy="262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>
                <a:solidFill>
                  <a:srgbClr val="414858"/>
                </a:solidFill>
                <a:latin typeface="Aptos"/>
              </a:defRPr>
            </a:pPr>
            <a:r>
              <a:rPr sz="1300" b="1" dirty="0">
                <a:solidFill>
                  <a:schemeClr val="accent6">
                    <a:lumMod val="10000"/>
                  </a:schemeClr>
                </a:solidFill>
                <a:latin typeface="Aptos"/>
              </a:rPr>
              <a:t>Rover operators</a:t>
            </a:r>
            <a:r>
              <a:rPr sz="1200" dirty="0">
                <a:solidFill>
                  <a:srgbClr val="556073"/>
                </a:solidFill>
                <a:latin typeface="Aptos"/>
              </a:rPr>
              <a:t>
Maintain reliable command and data links.</a:t>
            </a:r>
          </a:p>
          <a:p>
            <a:pPr>
              <a:spcAft>
                <a:spcPts val="1600"/>
              </a:spcAft>
              <a:defRPr sz="1300">
                <a:solidFill>
                  <a:srgbClr val="414858"/>
                </a:solidFill>
                <a:latin typeface="Aptos"/>
              </a:defRPr>
            </a:pPr>
            <a:r>
              <a:rPr sz="1300" b="1" dirty="0">
                <a:solidFill>
                  <a:schemeClr val="accent6">
                    <a:lumMod val="10000"/>
                  </a:schemeClr>
                </a:solidFill>
                <a:latin typeface="Aptos"/>
              </a:rPr>
              <a:t>Mission control</a:t>
            </a:r>
            <a:r>
              <a:rPr sz="1200" dirty="0">
                <a:solidFill>
                  <a:srgbClr val="556073"/>
                </a:solidFill>
                <a:latin typeface="Aptos"/>
              </a:rPr>
              <a:t>
Monitor rover health, commands and scientific data.</a:t>
            </a:r>
          </a:p>
          <a:p>
            <a:pPr>
              <a:spcAft>
                <a:spcPts val="1600"/>
              </a:spcAft>
              <a:defRPr sz="1300">
                <a:solidFill>
                  <a:srgbClr val="414858"/>
                </a:solidFill>
                <a:latin typeface="Aptos"/>
              </a:defRPr>
            </a:pPr>
            <a:r>
              <a:rPr lang="en-IN" sz="1300" b="1" dirty="0">
                <a:solidFill>
                  <a:schemeClr val="accent6">
                    <a:lumMod val="10000"/>
                  </a:schemeClr>
                </a:solidFill>
                <a:latin typeface="Aptos"/>
              </a:rPr>
              <a:t>Scientists/researchers</a:t>
            </a:r>
            <a:r>
              <a:rPr sz="1200" dirty="0">
                <a:solidFill>
                  <a:srgbClr val="556073"/>
                </a:solidFill>
                <a:latin typeface="Aptos"/>
              </a:rPr>
              <a:t>
Stay connected while exploring difficult terrain.</a:t>
            </a:r>
          </a:p>
        </p:txBody>
      </p:sp>
      <p:sp>
        <p:nvSpPr>
          <p:cNvPr id="99" name="Rounded Rectangle 6">
            <a:extLst>
              <a:ext uri="{FF2B5EF4-FFF2-40B4-BE49-F238E27FC236}">
                <a16:creationId xmlns:a16="http://schemas.microsoft.com/office/drawing/2014/main" id="{31149B67-FBD8-000B-004E-B38902284A1D}"/>
              </a:ext>
            </a:extLst>
          </p:cNvPr>
          <p:cNvSpPr/>
          <p:nvPr/>
        </p:nvSpPr>
        <p:spPr>
          <a:xfrm>
            <a:off x="4335780" y="1280160"/>
            <a:ext cx="3520440" cy="425196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accent6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2F8C85F-D38F-0859-B6BA-AEDC4A6498DB}"/>
              </a:ext>
            </a:extLst>
          </p:cNvPr>
          <p:cNvSpPr txBox="1"/>
          <p:nvPr/>
        </p:nvSpPr>
        <p:spPr>
          <a:xfrm>
            <a:off x="4564380" y="1481328"/>
            <a:ext cx="29293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5B96"/>
                </a:solidFill>
                <a:latin typeface="Aptos"/>
              </a:defRPr>
            </a:pPr>
            <a:r>
              <a:rPr sz="1600" dirty="0">
                <a:solidFill>
                  <a:schemeClr val="accent6">
                    <a:lumMod val="10000"/>
                  </a:schemeClr>
                </a:solidFill>
              </a:rPr>
              <a:t>SECONDARY STAKEHOLDERS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12788AC-D7B5-25FE-2BF0-444F46E82660}"/>
              </a:ext>
            </a:extLst>
          </p:cNvPr>
          <p:cNvSpPr txBox="1"/>
          <p:nvPr/>
        </p:nvSpPr>
        <p:spPr>
          <a:xfrm>
            <a:off x="4564380" y="2029968"/>
            <a:ext cx="3063240" cy="2641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>
                <a:solidFill>
                  <a:srgbClr val="414858"/>
                </a:solidFill>
                <a:latin typeface="Aptos"/>
              </a:defRPr>
            </a:pPr>
            <a:r>
              <a:rPr sz="1300" b="1" dirty="0">
                <a:solidFill>
                  <a:schemeClr val="accent6">
                    <a:lumMod val="10000"/>
                  </a:schemeClr>
                </a:solidFill>
                <a:latin typeface="Aptos"/>
              </a:rPr>
              <a:t>Space agencies</a:t>
            </a:r>
            <a:r>
              <a:rPr sz="1200" dirty="0">
                <a:solidFill>
                  <a:srgbClr val="556073"/>
                </a:solidFill>
                <a:latin typeface="Aptos"/>
              </a:rPr>
              <a:t>
More flexible support for lunar missions.</a:t>
            </a:r>
          </a:p>
          <a:p>
            <a:pPr>
              <a:spcAft>
                <a:spcPts val="1600"/>
              </a:spcAft>
              <a:defRPr sz="1300">
                <a:solidFill>
                  <a:srgbClr val="414858"/>
                </a:solidFill>
                <a:latin typeface="Aptos"/>
              </a:defRPr>
            </a:pPr>
            <a:r>
              <a:rPr sz="1300" b="1" dirty="0">
                <a:solidFill>
                  <a:schemeClr val="accent6">
                    <a:lumMod val="10000"/>
                  </a:schemeClr>
                </a:solidFill>
                <a:latin typeface="Aptos"/>
              </a:rPr>
              <a:t>Scientists</a:t>
            </a:r>
            <a:r>
              <a:rPr sz="1200" dirty="0">
                <a:solidFill>
                  <a:srgbClr val="556073"/>
                </a:solidFill>
                <a:latin typeface="Aptos"/>
              </a:rPr>
              <a:t>
More reliable transmission of exploration data.</a:t>
            </a:r>
          </a:p>
          <a:p>
            <a:pPr>
              <a:spcAft>
                <a:spcPts val="1600"/>
              </a:spcAft>
              <a:defRPr sz="1300">
                <a:solidFill>
                  <a:srgbClr val="414858"/>
                </a:solidFill>
                <a:latin typeface="Aptos"/>
              </a:defRPr>
            </a:pPr>
            <a:r>
              <a:rPr sz="1300" b="1" dirty="0">
                <a:solidFill>
                  <a:schemeClr val="accent6">
                    <a:lumMod val="10000"/>
                  </a:schemeClr>
                </a:solidFill>
                <a:latin typeface="Aptos"/>
              </a:rPr>
              <a:t>Future surface crews</a:t>
            </a:r>
            <a:r>
              <a:rPr sz="1200" dirty="0">
                <a:solidFill>
                  <a:srgbClr val="556073"/>
                </a:solidFill>
                <a:latin typeface="Aptos"/>
              </a:rPr>
              <a:t>
Local connectivity for multiple mobile assets.</a:t>
            </a:r>
          </a:p>
        </p:txBody>
      </p:sp>
      <p:sp>
        <p:nvSpPr>
          <p:cNvPr id="105" name="Rounded Rectangle 9">
            <a:extLst>
              <a:ext uri="{FF2B5EF4-FFF2-40B4-BE49-F238E27FC236}">
                <a16:creationId xmlns:a16="http://schemas.microsoft.com/office/drawing/2014/main" id="{29503FAA-CB86-40BB-53D6-42708278A776}"/>
              </a:ext>
            </a:extLst>
          </p:cNvPr>
          <p:cNvSpPr/>
          <p:nvPr/>
        </p:nvSpPr>
        <p:spPr>
          <a:xfrm>
            <a:off x="8148828" y="1280160"/>
            <a:ext cx="3520440" cy="4251960"/>
          </a:xfrm>
          <a:prstGeom prst="roundRect">
            <a:avLst/>
          </a:prstGeom>
          <a:solidFill>
            <a:schemeClr val="accent6"/>
          </a:solidFill>
          <a:ln w="19050">
            <a:solidFill>
              <a:schemeClr val="accent6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AAAF8FE-6A1C-FBAE-6002-5C0F90F074EC}"/>
              </a:ext>
            </a:extLst>
          </p:cNvPr>
          <p:cNvSpPr txBox="1"/>
          <p:nvPr/>
        </p:nvSpPr>
        <p:spPr>
          <a:xfrm>
            <a:off x="8377428" y="1481328"/>
            <a:ext cx="89633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5B96"/>
                </a:solidFill>
                <a:latin typeface="Aptos"/>
              </a:defRPr>
            </a:pPr>
            <a:r>
              <a:rPr sz="1600" dirty="0">
                <a:solidFill>
                  <a:schemeClr val="accent6">
                    <a:lumMod val="10000"/>
                  </a:schemeClr>
                </a:solidFill>
              </a:rPr>
              <a:t>IMPACT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3EBAF94-5CC1-EB03-F9E5-1C908B9FE6CD}"/>
              </a:ext>
            </a:extLst>
          </p:cNvPr>
          <p:cNvSpPr txBox="1"/>
          <p:nvPr/>
        </p:nvSpPr>
        <p:spPr>
          <a:xfrm>
            <a:off x="8377428" y="2029968"/>
            <a:ext cx="3063240" cy="2641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>
                <a:solidFill>
                  <a:srgbClr val="414858"/>
                </a:solidFill>
                <a:latin typeface="Aptos"/>
              </a:defRPr>
            </a:pPr>
            <a:r>
              <a:rPr sz="1300" b="1" dirty="0">
                <a:solidFill>
                  <a:schemeClr val="accent6">
                    <a:lumMod val="10000"/>
                  </a:schemeClr>
                </a:solidFill>
                <a:latin typeface="Aptos"/>
              </a:rPr>
              <a:t>More exploration</a:t>
            </a:r>
            <a:r>
              <a:rPr sz="1200" dirty="0">
                <a:solidFill>
                  <a:srgbClr val="556073"/>
                </a:solidFill>
                <a:latin typeface="Aptos"/>
              </a:rPr>
              <a:t>
Rovers can operate beyond </a:t>
            </a:r>
            <a:r>
              <a:rPr sz="1200" dirty="0" err="1">
                <a:solidFill>
                  <a:srgbClr val="556073"/>
                </a:solidFill>
                <a:latin typeface="Aptos"/>
              </a:rPr>
              <a:t>favourable</a:t>
            </a:r>
            <a:r>
              <a:rPr sz="1200" dirty="0">
                <a:solidFill>
                  <a:srgbClr val="556073"/>
                </a:solidFill>
                <a:latin typeface="Aptos"/>
              </a:rPr>
              <a:t> communication locations.</a:t>
            </a:r>
          </a:p>
          <a:p>
            <a:pPr>
              <a:spcAft>
                <a:spcPts val="1600"/>
              </a:spcAft>
              <a:defRPr sz="1300">
                <a:solidFill>
                  <a:srgbClr val="414858"/>
                </a:solidFill>
                <a:latin typeface="Aptos"/>
              </a:defRPr>
            </a:pPr>
            <a:r>
              <a:rPr sz="1300" b="1" dirty="0">
                <a:solidFill>
                  <a:schemeClr val="accent6">
                    <a:lumMod val="10000"/>
                  </a:schemeClr>
                </a:solidFill>
                <a:latin typeface="Aptos"/>
              </a:rPr>
              <a:t>Resilient links</a:t>
            </a:r>
            <a:r>
              <a:rPr sz="1200" dirty="0">
                <a:solidFill>
                  <a:srgbClr val="556073"/>
                </a:solidFill>
                <a:latin typeface="Aptos"/>
              </a:rPr>
              <a:t>
Weak or failed relay paths can be bypassed.</a:t>
            </a:r>
          </a:p>
          <a:p>
            <a:pPr>
              <a:spcAft>
                <a:spcPts val="1600"/>
              </a:spcAft>
              <a:defRPr sz="1300">
                <a:solidFill>
                  <a:srgbClr val="414858"/>
                </a:solidFill>
                <a:latin typeface="Aptos"/>
              </a:defRPr>
            </a:pPr>
            <a:r>
              <a:rPr sz="1300" b="1" dirty="0">
                <a:solidFill>
                  <a:schemeClr val="accent6">
                    <a:lumMod val="10000"/>
                  </a:schemeClr>
                </a:solidFill>
                <a:latin typeface="Aptos"/>
              </a:rPr>
              <a:t>Scalable network</a:t>
            </a:r>
            <a:r>
              <a:rPr sz="1200" dirty="0">
                <a:solidFill>
                  <a:srgbClr val="556073"/>
                </a:solidFill>
                <a:latin typeface="Aptos"/>
              </a:rPr>
              <a:t>
The concept can support multiple lunar assets.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D2B38B4-CB55-9A4E-CB76-688CD2CF9707}"/>
              </a:ext>
            </a:extLst>
          </p:cNvPr>
          <p:cNvSpPr txBox="1"/>
          <p:nvPr/>
        </p:nvSpPr>
        <p:spPr>
          <a:xfrm>
            <a:off x="1114303" y="5852160"/>
            <a:ext cx="99725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34169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0000"/>
                    <a:lumOff val="10000"/>
                  </a:schemeClr>
                </a:solidFill>
              </a:rPr>
              <a:t>KEY VALUE:  Not just better signal — a communication layer that adapts with the rover as the lunar environment changes.</a:t>
            </a:r>
          </a:p>
        </p:txBody>
      </p:sp>
      <p:sp>
        <p:nvSpPr>
          <p:cNvPr id="8" name="Team Badge">
            <a:extLst>
              <a:ext uri="{FF2B5EF4-FFF2-40B4-BE49-F238E27FC236}">
                <a16:creationId xmlns:a16="http://schemas.microsoft.com/office/drawing/2014/main" id="{F41B3DC2-7712-DE20-706A-C0B04232793C}"/>
              </a:ext>
            </a:extLst>
          </p:cNvPr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am Name">
            <a:extLst>
              <a:ext uri="{FF2B5EF4-FFF2-40B4-BE49-F238E27FC236}">
                <a16:creationId xmlns:a16="http://schemas.microsoft.com/office/drawing/2014/main" id="{D73399E6-0B22-ABE3-34D5-8FC48A6E20C6}"/>
              </a:ext>
            </a:extLst>
          </p:cNvPr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BRAIN BYTES 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5C90D2-C2E8-9102-1749-DCFE2A362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32" y="357518"/>
            <a:ext cx="748004" cy="7480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  <p:sp>
        <p:nvSpPr>
          <p:cNvPr id="118" name="TextBox 3">
            <a:extLst>
              <a:ext uri="{FF2B5EF4-FFF2-40B4-BE49-F238E27FC236}">
                <a16:creationId xmlns:a16="http://schemas.microsoft.com/office/drawing/2014/main" id="{ADA3F9BE-3C54-7077-4CA5-868909F252BE}"/>
              </a:ext>
            </a:extLst>
          </p:cNvPr>
          <p:cNvSpPr txBox="1"/>
          <p:nvPr/>
        </p:nvSpPr>
        <p:spPr>
          <a:xfrm>
            <a:off x="533095" y="1158955"/>
            <a:ext cx="11064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0" dirty="0">
                <a:solidFill>
                  <a:schemeClr val="tx1">
                    <a:lumMod val="90000"/>
                    <a:lumOff val="10000"/>
                  </a:schemeClr>
                </a:solidFill>
                <a:latin typeface="Aptos"/>
              </a:rPr>
              <a:t>Lunar terrain can disrupt communication as rovers move through difficult regions.</a:t>
            </a:r>
          </a:p>
        </p:txBody>
      </p:sp>
      <p:sp>
        <p:nvSpPr>
          <p:cNvPr id="119" name="Rounded Rectangle 4">
            <a:extLst>
              <a:ext uri="{FF2B5EF4-FFF2-40B4-BE49-F238E27FC236}">
                <a16:creationId xmlns:a16="http://schemas.microsoft.com/office/drawing/2014/main" id="{79481784-B710-D291-F2D1-0BC52D524C6F}"/>
              </a:ext>
            </a:extLst>
          </p:cNvPr>
          <p:cNvSpPr/>
          <p:nvPr/>
        </p:nvSpPr>
        <p:spPr>
          <a:xfrm>
            <a:off x="533095" y="1616155"/>
            <a:ext cx="3584448" cy="148132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0" name="TextBox 5">
            <a:extLst>
              <a:ext uri="{FF2B5EF4-FFF2-40B4-BE49-F238E27FC236}">
                <a16:creationId xmlns:a16="http://schemas.microsoft.com/office/drawing/2014/main" id="{A378C54D-958B-E95F-646C-F6F23C493C20}"/>
              </a:ext>
            </a:extLst>
          </p:cNvPr>
          <p:cNvSpPr txBox="1"/>
          <p:nvPr/>
        </p:nvSpPr>
        <p:spPr>
          <a:xfrm>
            <a:off x="743407" y="1799035"/>
            <a:ext cx="31089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 dirty="0">
                <a:solidFill>
                  <a:schemeClr val="accent2">
                    <a:lumMod val="50000"/>
                    <a:lumOff val="50000"/>
                  </a:schemeClr>
                </a:solidFill>
                <a:latin typeface="Aptos"/>
              </a:rPr>
              <a:t>EXISTING SCENARIO</a:t>
            </a:r>
          </a:p>
        </p:txBody>
      </p:sp>
      <p:sp>
        <p:nvSpPr>
          <p:cNvPr id="121" name="TextBox 6">
            <a:extLst>
              <a:ext uri="{FF2B5EF4-FFF2-40B4-BE49-F238E27FC236}">
                <a16:creationId xmlns:a16="http://schemas.microsoft.com/office/drawing/2014/main" id="{C8CF4AAD-ADEB-3364-F61A-FC132F610105}"/>
              </a:ext>
            </a:extLst>
          </p:cNvPr>
          <p:cNvSpPr txBox="1"/>
          <p:nvPr/>
        </p:nvSpPr>
        <p:spPr>
          <a:xfrm>
            <a:off x="743407" y="2100787"/>
            <a:ext cx="30632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20" b="0">
                <a:solidFill>
                  <a:srgbClr val="F5F7FA"/>
                </a:solidFill>
                <a:latin typeface="Aptos"/>
              </a:rPr>
              <a:t>Rovers depend on direct Earth links, relay satellites, or nearby surface infrastructure. Craters and ridges can obstruct the communication path.</a:t>
            </a:r>
          </a:p>
        </p:txBody>
      </p:sp>
      <p:sp>
        <p:nvSpPr>
          <p:cNvPr id="122" name="Rounded Rectangle 7">
            <a:extLst>
              <a:ext uri="{FF2B5EF4-FFF2-40B4-BE49-F238E27FC236}">
                <a16:creationId xmlns:a16="http://schemas.microsoft.com/office/drawing/2014/main" id="{7F942EAD-313F-408B-6C3F-8B9990D8FB03}"/>
              </a:ext>
            </a:extLst>
          </p:cNvPr>
          <p:cNvSpPr/>
          <p:nvPr/>
        </p:nvSpPr>
        <p:spPr>
          <a:xfrm>
            <a:off x="4327855" y="1616155"/>
            <a:ext cx="3584448" cy="148132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3" name="TextBox 8">
            <a:extLst>
              <a:ext uri="{FF2B5EF4-FFF2-40B4-BE49-F238E27FC236}">
                <a16:creationId xmlns:a16="http://schemas.microsoft.com/office/drawing/2014/main" id="{9DF09B67-C3ED-F3D0-9076-9D6B7708016E}"/>
              </a:ext>
            </a:extLst>
          </p:cNvPr>
          <p:cNvSpPr txBox="1"/>
          <p:nvPr/>
        </p:nvSpPr>
        <p:spPr>
          <a:xfrm>
            <a:off x="4538167" y="1799035"/>
            <a:ext cx="31089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 dirty="0">
                <a:solidFill>
                  <a:srgbClr val="66DAB1"/>
                </a:solidFill>
                <a:latin typeface="Aptos"/>
              </a:rPr>
              <a:t>KEY CHALLENGE</a:t>
            </a:r>
          </a:p>
        </p:txBody>
      </p:sp>
      <p:sp>
        <p:nvSpPr>
          <p:cNvPr id="124" name="TextBox 9">
            <a:extLst>
              <a:ext uri="{FF2B5EF4-FFF2-40B4-BE49-F238E27FC236}">
                <a16:creationId xmlns:a16="http://schemas.microsoft.com/office/drawing/2014/main" id="{488B379A-4B91-5E83-D55A-EBD4163CC81C}"/>
              </a:ext>
            </a:extLst>
          </p:cNvPr>
          <p:cNvSpPr txBox="1"/>
          <p:nvPr/>
        </p:nvSpPr>
        <p:spPr>
          <a:xfrm>
            <a:off x="4538167" y="2100787"/>
            <a:ext cx="30632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20" b="0">
                <a:solidFill>
                  <a:srgbClr val="F5F7FA"/>
                </a:solidFill>
                <a:latin typeface="Aptos"/>
              </a:rPr>
              <a:t>The lunar South Pole has rugged terrain and limited or obstructed communication visibility.</a:t>
            </a:r>
          </a:p>
        </p:txBody>
      </p:sp>
      <p:sp>
        <p:nvSpPr>
          <p:cNvPr id="125" name="Rounded Rectangle 10">
            <a:extLst>
              <a:ext uri="{FF2B5EF4-FFF2-40B4-BE49-F238E27FC236}">
                <a16:creationId xmlns:a16="http://schemas.microsoft.com/office/drawing/2014/main" id="{42A6509D-7401-A2DB-A8F0-22402D1E4183}"/>
              </a:ext>
            </a:extLst>
          </p:cNvPr>
          <p:cNvSpPr/>
          <p:nvPr/>
        </p:nvSpPr>
        <p:spPr>
          <a:xfrm>
            <a:off x="8122615" y="1616155"/>
            <a:ext cx="3593592" cy="148132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6" name="TextBox 11">
            <a:extLst>
              <a:ext uri="{FF2B5EF4-FFF2-40B4-BE49-F238E27FC236}">
                <a16:creationId xmlns:a16="http://schemas.microsoft.com/office/drawing/2014/main" id="{70408EB8-1A5E-9B91-24C9-6C25C606EDB3}"/>
              </a:ext>
            </a:extLst>
          </p:cNvPr>
          <p:cNvSpPr txBox="1"/>
          <p:nvPr/>
        </p:nvSpPr>
        <p:spPr>
          <a:xfrm>
            <a:off x="8332927" y="1799035"/>
            <a:ext cx="31089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WHY IT MATTERS</a:t>
            </a:r>
          </a:p>
        </p:txBody>
      </p:sp>
      <p:sp>
        <p:nvSpPr>
          <p:cNvPr id="127" name="TextBox 12">
            <a:extLst>
              <a:ext uri="{FF2B5EF4-FFF2-40B4-BE49-F238E27FC236}">
                <a16:creationId xmlns:a16="http://schemas.microsoft.com/office/drawing/2014/main" id="{A5199F5C-D127-DDD3-A7D3-FAFD42B66AFC}"/>
              </a:ext>
            </a:extLst>
          </p:cNvPr>
          <p:cNvSpPr txBox="1"/>
          <p:nvPr/>
        </p:nvSpPr>
        <p:spPr>
          <a:xfrm>
            <a:off x="8332927" y="2100787"/>
            <a:ext cx="30632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20" b="0">
                <a:solidFill>
                  <a:srgbClr val="F5F7FA"/>
                </a:solidFill>
                <a:latin typeface="Aptos"/>
              </a:rPr>
              <a:t>Future missions will involve more rovers and surface operations, increasing the need for reliable connectivity.</a:t>
            </a:r>
          </a:p>
        </p:txBody>
      </p:sp>
      <p:sp>
        <p:nvSpPr>
          <p:cNvPr id="128" name="Rounded Rectangle 13">
            <a:extLst>
              <a:ext uri="{FF2B5EF4-FFF2-40B4-BE49-F238E27FC236}">
                <a16:creationId xmlns:a16="http://schemas.microsoft.com/office/drawing/2014/main" id="{DAB85179-19EC-9475-CBDA-E1D14974A6EE}"/>
              </a:ext>
            </a:extLst>
          </p:cNvPr>
          <p:cNvSpPr/>
          <p:nvPr/>
        </p:nvSpPr>
        <p:spPr>
          <a:xfrm>
            <a:off x="533095" y="3353515"/>
            <a:ext cx="7479792" cy="269748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9" name="TextBox 14">
            <a:extLst>
              <a:ext uri="{FF2B5EF4-FFF2-40B4-BE49-F238E27FC236}">
                <a16:creationId xmlns:a16="http://schemas.microsoft.com/office/drawing/2014/main" id="{431F352F-3033-DED8-3022-7614F87400A7}"/>
              </a:ext>
            </a:extLst>
          </p:cNvPr>
          <p:cNvSpPr txBox="1"/>
          <p:nvPr/>
        </p:nvSpPr>
        <p:spPr>
          <a:xfrm>
            <a:off x="761695" y="3554683"/>
            <a:ext cx="23774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dirty="0">
                <a:solidFill>
                  <a:srgbClr val="4FB0FF"/>
                </a:solidFill>
                <a:latin typeface="Aptos"/>
              </a:rPr>
              <a:t>CURRENT WORKFLOW</a:t>
            </a:r>
          </a:p>
        </p:txBody>
      </p:sp>
      <p:sp>
        <p:nvSpPr>
          <p:cNvPr id="130" name="Rounded Rectangle 15">
            <a:extLst>
              <a:ext uri="{FF2B5EF4-FFF2-40B4-BE49-F238E27FC236}">
                <a16:creationId xmlns:a16="http://schemas.microsoft.com/office/drawing/2014/main" id="{9FCCC727-8B8F-B8D1-95E1-F05F282564AA}"/>
              </a:ext>
            </a:extLst>
          </p:cNvPr>
          <p:cNvSpPr/>
          <p:nvPr/>
        </p:nvSpPr>
        <p:spPr>
          <a:xfrm>
            <a:off x="761695" y="3950254"/>
            <a:ext cx="1572768" cy="749808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1FB4BE09-3919-8574-0324-7E7BECF05BB8}"/>
              </a:ext>
            </a:extLst>
          </p:cNvPr>
          <p:cNvSpPr/>
          <p:nvPr/>
        </p:nvSpPr>
        <p:spPr>
          <a:xfrm>
            <a:off x="853135" y="4094179"/>
            <a:ext cx="310896" cy="310896"/>
          </a:xfrm>
          <a:prstGeom prst="ellipse">
            <a:avLst/>
          </a:prstGeom>
          <a:solidFill>
            <a:srgbClr val="4F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2" name="TextBox 17">
            <a:extLst>
              <a:ext uri="{FF2B5EF4-FFF2-40B4-BE49-F238E27FC236}">
                <a16:creationId xmlns:a16="http://schemas.microsoft.com/office/drawing/2014/main" id="{F4786071-289A-D9C0-1675-8C6DD0EE3566}"/>
              </a:ext>
            </a:extLst>
          </p:cNvPr>
          <p:cNvSpPr txBox="1"/>
          <p:nvPr/>
        </p:nvSpPr>
        <p:spPr>
          <a:xfrm>
            <a:off x="853135" y="4135327"/>
            <a:ext cx="3108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50" b="1" dirty="0">
                <a:solidFill>
                  <a:srgbClr val="0A101D"/>
                </a:solidFill>
                <a:latin typeface="Aptos"/>
              </a:rPr>
              <a:t>1</a:t>
            </a:r>
          </a:p>
        </p:txBody>
      </p:sp>
      <p:sp>
        <p:nvSpPr>
          <p:cNvPr id="133" name="TextBox 18">
            <a:extLst>
              <a:ext uri="{FF2B5EF4-FFF2-40B4-BE49-F238E27FC236}">
                <a16:creationId xmlns:a16="http://schemas.microsoft.com/office/drawing/2014/main" id="{CC342169-FEA3-935A-2047-E1F5377748A6}"/>
              </a:ext>
            </a:extLst>
          </p:cNvPr>
          <p:cNvSpPr txBox="1"/>
          <p:nvPr/>
        </p:nvSpPr>
        <p:spPr>
          <a:xfrm>
            <a:off x="1246327" y="4048458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F5F7FA"/>
                </a:solidFill>
                <a:latin typeface="Aptos"/>
              </a:rPr>
              <a:t>Explore</a:t>
            </a:r>
          </a:p>
        </p:txBody>
      </p:sp>
      <p:sp>
        <p:nvSpPr>
          <p:cNvPr id="134" name="TextBox 19">
            <a:extLst>
              <a:ext uri="{FF2B5EF4-FFF2-40B4-BE49-F238E27FC236}">
                <a16:creationId xmlns:a16="http://schemas.microsoft.com/office/drawing/2014/main" id="{1F1698B4-C6EA-E2C9-2260-7DECF8BB5577}"/>
              </a:ext>
            </a:extLst>
          </p:cNvPr>
          <p:cNvSpPr txBox="1"/>
          <p:nvPr/>
        </p:nvSpPr>
        <p:spPr>
          <a:xfrm>
            <a:off x="1237183" y="4240482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10" b="0">
                <a:solidFill>
                  <a:srgbClr val="B4BFCF"/>
                </a:solidFill>
                <a:latin typeface="Aptos"/>
              </a:rPr>
              <a:t>Rover collects data</a:t>
            </a:r>
          </a:p>
        </p:txBody>
      </p:sp>
      <p:sp>
        <p:nvSpPr>
          <p:cNvPr id="135" name="Rounded Rectangle 20">
            <a:extLst>
              <a:ext uri="{FF2B5EF4-FFF2-40B4-BE49-F238E27FC236}">
                <a16:creationId xmlns:a16="http://schemas.microsoft.com/office/drawing/2014/main" id="{8B832949-2D10-5407-DD19-02D758908AFA}"/>
              </a:ext>
            </a:extLst>
          </p:cNvPr>
          <p:cNvSpPr/>
          <p:nvPr/>
        </p:nvSpPr>
        <p:spPr>
          <a:xfrm>
            <a:off x="2517847" y="3961870"/>
            <a:ext cx="1572768" cy="749808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FEEA5271-F190-81FC-52CE-BB0395D70F01}"/>
              </a:ext>
            </a:extLst>
          </p:cNvPr>
          <p:cNvSpPr/>
          <p:nvPr/>
        </p:nvSpPr>
        <p:spPr>
          <a:xfrm>
            <a:off x="2608783" y="4094179"/>
            <a:ext cx="310896" cy="310896"/>
          </a:xfrm>
          <a:prstGeom prst="ellipse">
            <a:avLst/>
          </a:prstGeom>
          <a:solidFill>
            <a:srgbClr val="4F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7" name="TextBox 22">
            <a:extLst>
              <a:ext uri="{FF2B5EF4-FFF2-40B4-BE49-F238E27FC236}">
                <a16:creationId xmlns:a16="http://schemas.microsoft.com/office/drawing/2014/main" id="{41120C77-7455-4BD6-6E51-B5B0AFAD16CD}"/>
              </a:ext>
            </a:extLst>
          </p:cNvPr>
          <p:cNvSpPr txBox="1"/>
          <p:nvPr/>
        </p:nvSpPr>
        <p:spPr>
          <a:xfrm>
            <a:off x="2608783" y="4127673"/>
            <a:ext cx="3108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50" b="1" dirty="0">
                <a:solidFill>
                  <a:srgbClr val="0A101D"/>
                </a:solidFill>
                <a:latin typeface="Aptos"/>
              </a:rPr>
              <a:t>2</a:t>
            </a:r>
          </a:p>
        </p:txBody>
      </p:sp>
      <p:sp>
        <p:nvSpPr>
          <p:cNvPr id="138" name="TextBox 23">
            <a:extLst>
              <a:ext uri="{FF2B5EF4-FFF2-40B4-BE49-F238E27FC236}">
                <a16:creationId xmlns:a16="http://schemas.microsoft.com/office/drawing/2014/main" id="{45110BBE-A3B2-477A-4FA2-3A0727192B35}"/>
              </a:ext>
            </a:extLst>
          </p:cNvPr>
          <p:cNvSpPr txBox="1"/>
          <p:nvPr/>
        </p:nvSpPr>
        <p:spPr>
          <a:xfrm>
            <a:off x="3001975" y="4048458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F5F7FA"/>
                </a:solidFill>
                <a:latin typeface="Aptos"/>
              </a:rPr>
              <a:t>Transmit</a:t>
            </a:r>
          </a:p>
        </p:txBody>
      </p:sp>
      <p:sp>
        <p:nvSpPr>
          <p:cNvPr id="139" name="TextBox 24">
            <a:extLst>
              <a:ext uri="{FF2B5EF4-FFF2-40B4-BE49-F238E27FC236}">
                <a16:creationId xmlns:a16="http://schemas.microsoft.com/office/drawing/2014/main" id="{F40CC9C7-B422-1388-CADF-EF7546DB635E}"/>
              </a:ext>
            </a:extLst>
          </p:cNvPr>
          <p:cNvSpPr txBox="1"/>
          <p:nvPr/>
        </p:nvSpPr>
        <p:spPr>
          <a:xfrm>
            <a:off x="3001975" y="4267914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10" b="0">
                <a:solidFill>
                  <a:srgbClr val="B4BFCF"/>
                </a:solidFill>
                <a:latin typeface="Aptos"/>
              </a:rPr>
              <a:t>Uses an available link</a:t>
            </a:r>
          </a:p>
        </p:txBody>
      </p:sp>
      <p:sp>
        <p:nvSpPr>
          <p:cNvPr id="140" name="Rounded Rectangle 25">
            <a:extLst>
              <a:ext uri="{FF2B5EF4-FFF2-40B4-BE49-F238E27FC236}">
                <a16:creationId xmlns:a16="http://schemas.microsoft.com/office/drawing/2014/main" id="{FBB9360A-BA69-B9FA-95B9-667A02A37C3F}"/>
              </a:ext>
            </a:extLst>
          </p:cNvPr>
          <p:cNvSpPr/>
          <p:nvPr/>
        </p:nvSpPr>
        <p:spPr>
          <a:xfrm>
            <a:off x="4272991" y="3967654"/>
            <a:ext cx="1572768" cy="749808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EE381012-76DF-3DAB-EAAE-4565B997E223}"/>
              </a:ext>
            </a:extLst>
          </p:cNvPr>
          <p:cNvSpPr/>
          <p:nvPr/>
        </p:nvSpPr>
        <p:spPr>
          <a:xfrm>
            <a:off x="4364430" y="4094179"/>
            <a:ext cx="310896" cy="310896"/>
          </a:xfrm>
          <a:prstGeom prst="ellipse">
            <a:avLst/>
          </a:prstGeom>
          <a:solidFill>
            <a:srgbClr val="4F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2" name="TextBox 27">
            <a:extLst>
              <a:ext uri="{FF2B5EF4-FFF2-40B4-BE49-F238E27FC236}">
                <a16:creationId xmlns:a16="http://schemas.microsoft.com/office/drawing/2014/main" id="{1F99823A-2E1D-8033-FE61-4E62C5146785}"/>
              </a:ext>
            </a:extLst>
          </p:cNvPr>
          <p:cNvSpPr txBox="1"/>
          <p:nvPr/>
        </p:nvSpPr>
        <p:spPr>
          <a:xfrm>
            <a:off x="4364430" y="4126182"/>
            <a:ext cx="3108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50" b="1" dirty="0">
                <a:solidFill>
                  <a:srgbClr val="0A101D"/>
                </a:solidFill>
                <a:latin typeface="Aptos"/>
              </a:rPr>
              <a:t>3</a:t>
            </a:r>
          </a:p>
        </p:txBody>
      </p:sp>
      <p:sp>
        <p:nvSpPr>
          <p:cNvPr id="143" name="TextBox 28">
            <a:extLst>
              <a:ext uri="{FF2B5EF4-FFF2-40B4-BE49-F238E27FC236}">
                <a16:creationId xmlns:a16="http://schemas.microsoft.com/office/drawing/2014/main" id="{8B33B841-CE2C-73C7-53A7-E19F9D5753E0}"/>
              </a:ext>
            </a:extLst>
          </p:cNvPr>
          <p:cNvSpPr txBox="1"/>
          <p:nvPr/>
        </p:nvSpPr>
        <p:spPr>
          <a:xfrm>
            <a:off x="4757623" y="4021026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 dirty="0">
                <a:solidFill>
                  <a:srgbClr val="F5F7FA"/>
                </a:solidFill>
                <a:latin typeface="Aptos"/>
              </a:rPr>
              <a:t>Route</a:t>
            </a:r>
          </a:p>
        </p:txBody>
      </p:sp>
      <p:sp>
        <p:nvSpPr>
          <p:cNvPr id="144" name="TextBox 29">
            <a:extLst>
              <a:ext uri="{FF2B5EF4-FFF2-40B4-BE49-F238E27FC236}">
                <a16:creationId xmlns:a16="http://schemas.microsoft.com/office/drawing/2014/main" id="{7205353E-2DFD-118C-4636-6C1D2EF38B77}"/>
              </a:ext>
            </a:extLst>
          </p:cNvPr>
          <p:cNvSpPr txBox="1"/>
          <p:nvPr/>
        </p:nvSpPr>
        <p:spPr>
          <a:xfrm>
            <a:off x="4757623" y="4203906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10" b="0" dirty="0">
                <a:solidFill>
                  <a:srgbClr val="B4BFCF"/>
                </a:solidFill>
                <a:latin typeface="Aptos"/>
              </a:rPr>
              <a:t>Earth / relay / surface infrastructure</a:t>
            </a:r>
          </a:p>
        </p:txBody>
      </p:sp>
      <p:sp>
        <p:nvSpPr>
          <p:cNvPr id="145" name="Rounded Rectangle 30">
            <a:extLst>
              <a:ext uri="{FF2B5EF4-FFF2-40B4-BE49-F238E27FC236}">
                <a16:creationId xmlns:a16="http://schemas.microsoft.com/office/drawing/2014/main" id="{314D010E-E4AB-58BD-9ADA-BFD128FF2D88}"/>
              </a:ext>
            </a:extLst>
          </p:cNvPr>
          <p:cNvSpPr/>
          <p:nvPr/>
        </p:nvSpPr>
        <p:spPr>
          <a:xfrm>
            <a:off x="6028639" y="3957018"/>
            <a:ext cx="1572768" cy="749808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79E7CA05-A186-BEE1-B7D1-82AC69C07DC9}"/>
              </a:ext>
            </a:extLst>
          </p:cNvPr>
          <p:cNvSpPr/>
          <p:nvPr/>
        </p:nvSpPr>
        <p:spPr>
          <a:xfrm>
            <a:off x="6120078" y="4094179"/>
            <a:ext cx="310896" cy="310896"/>
          </a:xfrm>
          <a:prstGeom prst="ellipse">
            <a:avLst/>
          </a:prstGeom>
          <a:solidFill>
            <a:srgbClr val="4F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7" name="TextBox 32">
            <a:extLst>
              <a:ext uri="{FF2B5EF4-FFF2-40B4-BE49-F238E27FC236}">
                <a16:creationId xmlns:a16="http://schemas.microsoft.com/office/drawing/2014/main" id="{F4C400DC-C626-4335-984A-A0A2CD1B94B1}"/>
              </a:ext>
            </a:extLst>
          </p:cNvPr>
          <p:cNvSpPr txBox="1"/>
          <p:nvPr/>
        </p:nvSpPr>
        <p:spPr>
          <a:xfrm>
            <a:off x="6110934" y="4135327"/>
            <a:ext cx="3108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50" b="1" dirty="0">
                <a:solidFill>
                  <a:srgbClr val="0A101D"/>
                </a:solidFill>
                <a:latin typeface="Aptos"/>
              </a:rPr>
              <a:t>4</a:t>
            </a:r>
          </a:p>
        </p:txBody>
      </p:sp>
      <p:sp>
        <p:nvSpPr>
          <p:cNvPr id="148" name="TextBox 33">
            <a:extLst>
              <a:ext uri="{FF2B5EF4-FFF2-40B4-BE49-F238E27FC236}">
                <a16:creationId xmlns:a16="http://schemas.microsoft.com/office/drawing/2014/main" id="{7F1B246D-9706-8B76-8990-CB0A2B9935FD}"/>
              </a:ext>
            </a:extLst>
          </p:cNvPr>
          <p:cNvSpPr txBox="1"/>
          <p:nvPr/>
        </p:nvSpPr>
        <p:spPr>
          <a:xfrm>
            <a:off x="6513271" y="4021026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 dirty="0">
                <a:solidFill>
                  <a:srgbClr val="F5F7FA"/>
                </a:solidFill>
                <a:latin typeface="Aptos"/>
              </a:rPr>
              <a:t>Terrain</a:t>
            </a:r>
          </a:p>
        </p:txBody>
      </p:sp>
      <p:sp>
        <p:nvSpPr>
          <p:cNvPr id="149" name="TextBox 34">
            <a:extLst>
              <a:ext uri="{FF2B5EF4-FFF2-40B4-BE49-F238E27FC236}">
                <a16:creationId xmlns:a16="http://schemas.microsoft.com/office/drawing/2014/main" id="{34C2D487-21BC-40C4-6795-86BD6EA53AED}"/>
              </a:ext>
            </a:extLst>
          </p:cNvPr>
          <p:cNvSpPr txBox="1"/>
          <p:nvPr/>
        </p:nvSpPr>
        <p:spPr>
          <a:xfrm>
            <a:off x="6536130" y="4218928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10" b="0" dirty="0">
                <a:solidFill>
                  <a:srgbClr val="B4BFCF"/>
                </a:solidFill>
                <a:latin typeface="Aptos"/>
              </a:rPr>
              <a:t>Movement changes link quality</a:t>
            </a:r>
          </a:p>
        </p:txBody>
      </p:sp>
      <p:sp>
        <p:nvSpPr>
          <p:cNvPr id="150" name="Rounded Rectangle 35">
            <a:extLst>
              <a:ext uri="{FF2B5EF4-FFF2-40B4-BE49-F238E27FC236}">
                <a16:creationId xmlns:a16="http://schemas.microsoft.com/office/drawing/2014/main" id="{A127455F-5956-7A3A-1068-57530336201C}"/>
              </a:ext>
            </a:extLst>
          </p:cNvPr>
          <p:cNvSpPr/>
          <p:nvPr/>
        </p:nvSpPr>
        <p:spPr>
          <a:xfrm>
            <a:off x="747979" y="4962858"/>
            <a:ext cx="1572768" cy="749808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507A5756-36D1-082A-503A-6DFF0C5B45DF}"/>
              </a:ext>
            </a:extLst>
          </p:cNvPr>
          <p:cNvSpPr/>
          <p:nvPr/>
        </p:nvSpPr>
        <p:spPr>
          <a:xfrm>
            <a:off x="853135" y="5072587"/>
            <a:ext cx="310896" cy="310896"/>
          </a:xfrm>
          <a:prstGeom prst="ellipse">
            <a:avLst/>
          </a:prstGeom>
          <a:solidFill>
            <a:srgbClr val="4F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2" name="TextBox 37">
            <a:extLst>
              <a:ext uri="{FF2B5EF4-FFF2-40B4-BE49-F238E27FC236}">
                <a16:creationId xmlns:a16="http://schemas.microsoft.com/office/drawing/2014/main" id="{5506A496-475E-CEE2-792F-A5B20718BB48}"/>
              </a:ext>
            </a:extLst>
          </p:cNvPr>
          <p:cNvSpPr txBox="1"/>
          <p:nvPr/>
        </p:nvSpPr>
        <p:spPr>
          <a:xfrm>
            <a:off x="853135" y="5113735"/>
            <a:ext cx="3108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50" b="1" dirty="0">
                <a:solidFill>
                  <a:srgbClr val="0A101D"/>
                </a:solidFill>
                <a:latin typeface="Aptos"/>
              </a:rPr>
              <a:t>5</a:t>
            </a:r>
          </a:p>
        </p:txBody>
      </p:sp>
      <p:sp>
        <p:nvSpPr>
          <p:cNvPr id="153" name="TextBox 38">
            <a:extLst>
              <a:ext uri="{FF2B5EF4-FFF2-40B4-BE49-F238E27FC236}">
                <a16:creationId xmlns:a16="http://schemas.microsoft.com/office/drawing/2014/main" id="{9B3C6FE9-53EC-D857-BCC1-B5D2D6DDFA15}"/>
              </a:ext>
            </a:extLst>
          </p:cNvPr>
          <p:cNvSpPr txBox="1"/>
          <p:nvPr/>
        </p:nvSpPr>
        <p:spPr>
          <a:xfrm>
            <a:off x="1246327" y="4981147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 dirty="0">
                <a:solidFill>
                  <a:srgbClr val="F5F7FA"/>
                </a:solidFill>
                <a:latin typeface="Aptos"/>
              </a:rPr>
              <a:t>Block</a:t>
            </a:r>
          </a:p>
        </p:txBody>
      </p:sp>
      <p:sp>
        <p:nvSpPr>
          <p:cNvPr id="154" name="TextBox 39">
            <a:extLst>
              <a:ext uri="{FF2B5EF4-FFF2-40B4-BE49-F238E27FC236}">
                <a16:creationId xmlns:a16="http://schemas.microsoft.com/office/drawing/2014/main" id="{9A3F9A01-657D-F16F-F70C-D6E7339D1AF5}"/>
              </a:ext>
            </a:extLst>
          </p:cNvPr>
          <p:cNvSpPr txBox="1"/>
          <p:nvPr/>
        </p:nvSpPr>
        <p:spPr>
          <a:xfrm>
            <a:off x="1225296" y="5187073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10" b="0" dirty="0">
                <a:solidFill>
                  <a:srgbClr val="B4BFCF"/>
                </a:solidFill>
                <a:latin typeface="Aptos"/>
              </a:rPr>
              <a:t>Terrain may weaken or block signal</a:t>
            </a:r>
          </a:p>
        </p:txBody>
      </p:sp>
      <p:sp>
        <p:nvSpPr>
          <p:cNvPr id="155" name="Rounded Rectangle 40">
            <a:extLst>
              <a:ext uri="{FF2B5EF4-FFF2-40B4-BE49-F238E27FC236}">
                <a16:creationId xmlns:a16="http://schemas.microsoft.com/office/drawing/2014/main" id="{68C98FEB-0D97-FA33-D59B-8AF9E570C9EE}"/>
              </a:ext>
            </a:extLst>
          </p:cNvPr>
          <p:cNvSpPr/>
          <p:nvPr/>
        </p:nvSpPr>
        <p:spPr>
          <a:xfrm>
            <a:off x="2517343" y="4935427"/>
            <a:ext cx="1572768" cy="749808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063E402B-37AC-CFCE-39E0-2A2425BB47A6}"/>
              </a:ext>
            </a:extLst>
          </p:cNvPr>
          <p:cNvSpPr/>
          <p:nvPr/>
        </p:nvSpPr>
        <p:spPr>
          <a:xfrm>
            <a:off x="2608783" y="5072587"/>
            <a:ext cx="310896" cy="310896"/>
          </a:xfrm>
          <a:prstGeom prst="ellipse">
            <a:avLst/>
          </a:prstGeom>
          <a:solidFill>
            <a:srgbClr val="4F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7" name="TextBox 42">
            <a:extLst>
              <a:ext uri="{FF2B5EF4-FFF2-40B4-BE49-F238E27FC236}">
                <a16:creationId xmlns:a16="http://schemas.microsoft.com/office/drawing/2014/main" id="{DE7031A9-98B3-2413-D478-D55A3B273497}"/>
              </a:ext>
            </a:extLst>
          </p:cNvPr>
          <p:cNvSpPr txBox="1"/>
          <p:nvPr/>
        </p:nvSpPr>
        <p:spPr>
          <a:xfrm>
            <a:off x="2599956" y="5109162"/>
            <a:ext cx="3108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50" b="1" dirty="0">
                <a:solidFill>
                  <a:srgbClr val="0A101D"/>
                </a:solidFill>
                <a:latin typeface="Aptos"/>
              </a:rPr>
              <a:t>6</a:t>
            </a:r>
          </a:p>
        </p:txBody>
      </p:sp>
      <p:sp>
        <p:nvSpPr>
          <p:cNvPr id="158" name="TextBox 43">
            <a:extLst>
              <a:ext uri="{FF2B5EF4-FFF2-40B4-BE49-F238E27FC236}">
                <a16:creationId xmlns:a16="http://schemas.microsoft.com/office/drawing/2014/main" id="{11F6616D-10C6-A8B2-098E-D950B7FEDE0B}"/>
              </a:ext>
            </a:extLst>
          </p:cNvPr>
          <p:cNvSpPr txBox="1"/>
          <p:nvPr/>
        </p:nvSpPr>
        <p:spPr>
          <a:xfrm>
            <a:off x="3001975" y="5026867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F5F7FA"/>
                </a:solidFill>
                <a:latin typeface="Aptos"/>
              </a:rPr>
              <a:t>Recover</a:t>
            </a:r>
          </a:p>
        </p:txBody>
      </p:sp>
      <p:sp>
        <p:nvSpPr>
          <p:cNvPr id="159" name="TextBox 44">
            <a:extLst>
              <a:ext uri="{FF2B5EF4-FFF2-40B4-BE49-F238E27FC236}">
                <a16:creationId xmlns:a16="http://schemas.microsoft.com/office/drawing/2014/main" id="{DD863525-D720-B433-DDC6-C176BAEF7D02}"/>
              </a:ext>
            </a:extLst>
          </p:cNvPr>
          <p:cNvSpPr txBox="1"/>
          <p:nvPr/>
        </p:nvSpPr>
        <p:spPr>
          <a:xfrm>
            <a:off x="3001975" y="5246323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10" b="0" dirty="0">
                <a:solidFill>
                  <a:srgbClr val="B4BFCF"/>
                </a:solidFill>
                <a:latin typeface="Aptos"/>
              </a:rPr>
              <a:t>Another path or relay is used</a:t>
            </a:r>
          </a:p>
        </p:txBody>
      </p:sp>
      <p:sp>
        <p:nvSpPr>
          <p:cNvPr id="160" name="Rounded Rectangle 45">
            <a:extLst>
              <a:ext uri="{FF2B5EF4-FFF2-40B4-BE49-F238E27FC236}">
                <a16:creationId xmlns:a16="http://schemas.microsoft.com/office/drawing/2014/main" id="{79A14257-6382-060B-6443-E95E6C390644}"/>
              </a:ext>
            </a:extLst>
          </p:cNvPr>
          <p:cNvSpPr/>
          <p:nvPr/>
        </p:nvSpPr>
        <p:spPr>
          <a:xfrm>
            <a:off x="4272991" y="4935427"/>
            <a:ext cx="1572768" cy="749808"/>
          </a:xfrm>
          <a:prstGeom prst="round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6AB62AD3-1995-19EC-AD2B-4D1B143ED4C1}"/>
              </a:ext>
            </a:extLst>
          </p:cNvPr>
          <p:cNvSpPr/>
          <p:nvPr/>
        </p:nvSpPr>
        <p:spPr>
          <a:xfrm>
            <a:off x="4364430" y="5072587"/>
            <a:ext cx="310896" cy="310896"/>
          </a:xfrm>
          <a:prstGeom prst="ellipse">
            <a:avLst/>
          </a:prstGeom>
          <a:solidFill>
            <a:srgbClr val="4F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2" name="TextBox 47">
            <a:extLst>
              <a:ext uri="{FF2B5EF4-FFF2-40B4-BE49-F238E27FC236}">
                <a16:creationId xmlns:a16="http://schemas.microsoft.com/office/drawing/2014/main" id="{51127D0E-F0D3-54A6-B38B-42FA5A3F7609}"/>
              </a:ext>
            </a:extLst>
          </p:cNvPr>
          <p:cNvSpPr txBox="1"/>
          <p:nvPr/>
        </p:nvSpPr>
        <p:spPr>
          <a:xfrm>
            <a:off x="4364430" y="5096189"/>
            <a:ext cx="31089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50" b="1" dirty="0">
                <a:solidFill>
                  <a:srgbClr val="0A101D"/>
                </a:solidFill>
                <a:latin typeface="Aptos"/>
              </a:rPr>
              <a:t>7</a:t>
            </a:r>
          </a:p>
        </p:txBody>
      </p:sp>
      <p:sp>
        <p:nvSpPr>
          <p:cNvPr id="163" name="TextBox 48">
            <a:extLst>
              <a:ext uri="{FF2B5EF4-FFF2-40B4-BE49-F238E27FC236}">
                <a16:creationId xmlns:a16="http://schemas.microsoft.com/office/drawing/2014/main" id="{12759BD6-1F67-784B-A2EF-9C0D170B7BB3}"/>
              </a:ext>
            </a:extLst>
          </p:cNvPr>
          <p:cNvSpPr txBox="1"/>
          <p:nvPr/>
        </p:nvSpPr>
        <p:spPr>
          <a:xfrm>
            <a:off x="4757623" y="5026867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F5F7FA"/>
                </a:solidFill>
                <a:latin typeface="Aptos"/>
              </a:rPr>
              <a:t>Resume</a:t>
            </a:r>
          </a:p>
        </p:txBody>
      </p:sp>
      <p:sp>
        <p:nvSpPr>
          <p:cNvPr id="164" name="TextBox 49">
            <a:extLst>
              <a:ext uri="{FF2B5EF4-FFF2-40B4-BE49-F238E27FC236}">
                <a16:creationId xmlns:a16="http://schemas.microsoft.com/office/drawing/2014/main" id="{FABD96B7-20C2-ED85-1616-E3007A824824}"/>
              </a:ext>
            </a:extLst>
          </p:cNvPr>
          <p:cNvSpPr txBox="1"/>
          <p:nvPr/>
        </p:nvSpPr>
        <p:spPr>
          <a:xfrm>
            <a:off x="4757623" y="5187073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10" b="0" dirty="0">
                <a:solidFill>
                  <a:srgbClr val="B4BFCF"/>
                </a:solidFill>
                <a:latin typeface="Aptos"/>
              </a:rPr>
              <a:t>Data &amp; commands continue</a:t>
            </a:r>
          </a:p>
        </p:txBody>
      </p:sp>
      <p:sp>
        <p:nvSpPr>
          <p:cNvPr id="165" name="Rounded Rectangle 50">
            <a:extLst>
              <a:ext uri="{FF2B5EF4-FFF2-40B4-BE49-F238E27FC236}">
                <a16:creationId xmlns:a16="http://schemas.microsoft.com/office/drawing/2014/main" id="{94F294BF-27E2-5BC7-F203-D055D3C65A08}"/>
              </a:ext>
            </a:extLst>
          </p:cNvPr>
          <p:cNvSpPr/>
          <p:nvPr/>
        </p:nvSpPr>
        <p:spPr>
          <a:xfrm>
            <a:off x="8232343" y="3275790"/>
            <a:ext cx="3474720" cy="295584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6" name="TextBox 51">
            <a:extLst>
              <a:ext uri="{FF2B5EF4-FFF2-40B4-BE49-F238E27FC236}">
                <a16:creationId xmlns:a16="http://schemas.microsoft.com/office/drawing/2014/main" id="{FFD3F477-086C-E702-B193-F7C57B6E8BBA}"/>
              </a:ext>
            </a:extLst>
          </p:cNvPr>
          <p:cNvSpPr txBox="1"/>
          <p:nvPr/>
        </p:nvSpPr>
        <p:spPr>
          <a:xfrm>
            <a:off x="8488375" y="3554683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 dirty="0">
                <a:solidFill>
                  <a:srgbClr val="66DAB1"/>
                </a:solidFill>
                <a:latin typeface="Aptos"/>
              </a:rPr>
              <a:t>GAP → OUR IDEA</a:t>
            </a:r>
          </a:p>
        </p:txBody>
      </p:sp>
      <p:sp>
        <p:nvSpPr>
          <p:cNvPr id="167" name="TextBox 52">
            <a:extLst>
              <a:ext uri="{FF2B5EF4-FFF2-40B4-BE49-F238E27FC236}">
                <a16:creationId xmlns:a16="http://schemas.microsoft.com/office/drawing/2014/main" id="{1DAD6EBE-1753-68F7-1243-58EB2CA120B9}"/>
              </a:ext>
            </a:extLst>
          </p:cNvPr>
          <p:cNvSpPr txBox="1"/>
          <p:nvPr/>
        </p:nvSpPr>
        <p:spPr>
          <a:xfrm>
            <a:off x="8488375" y="3957018"/>
            <a:ext cx="2852928" cy="9048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320" b="1" dirty="0">
                <a:solidFill>
                  <a:srgbClr val="F5F7FA"/>
                </a:solidFill>
                <a:latin typeface="Aptos"/>
              </a:rPr>
              <a:t>Local lunar terrain (craters and ridges) to </a:t>
            </a:r>
            <a:r>
              <a:rPr lang="en-IN" sz="1320" b="1" dirty="0">
                <a:solidFill>
                  <a:srgbClr val="F5F7FA"/>
                </a:solidFill>
                <a:latin typeface="Aptos"/>
              </a:rPr>
              <a:t>maintain continuous line of sight between surface rovers and existing satellites or Earth. </a:t>
            </a:r>
            <a:endParaRPr lang="en-US" sz="1320" b="1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68" name="TextBox 53">
            <a:extLst>
              <a:ext uri="{FF2B5EF4-FFF2-40B4-BE49-F238E27FC236}">
                <a16:creationId xmlns:a16="http://schemas.microsoft.com/office/drawing/2014/main" id="{F2742FC1-8D2A-0E45-BF4C-6076815161CE}"/>
              </a:ext>
            </a:extLst>
          </p:cNvPr>
          <p:cNvSpPr txBox="1"/>
          <p:nvPr/>
        </p:nvSpPr>
        <p:spPr>
          <a:xfrm>
            <a:off x="8499422" y="4934525"/>
            <a:ext cx="2852928" cy="96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140" b="1" dirty="0">
                <a:solidFill>
                  <a:srgbClr val="66DAB1"/>
                </a:solidFill>
                <a:latin typeface="Aptos"/>
              </a:rPr>
              <a:t>We propose a network of autonomous deployable lunar tower that overcome terrain blockages by connecting rovers to orbital satellites , ensuring reliable data transmission in shadowed regions.</a:t>
            </a:r>
            <a:endParaRPr lang="en-US" sz="1140" b="1" dirty="0">
              <a:solidFill>
                <a:srgbClr val="66DAB1"/>
              </a:solidFill>
              <a:latin typeface="Aptos"/>
            </a:endParaRPr>
          </a:p>
        </p:txBody>
      </p:sp>
      <p:sp>
        <p:nvSpPr>
          <p:cNvPr id="5" name="Team Badge">
            <a:extLst>
              <a:ext uri="{FF2B5EF4-FFF2-40B4-BE49-F238E27FC236}">
                <a16:creationId xmlns:a16="http://schemas.microsoft.com/office/drawing/2014/main" id="{96ACDB29-57ED-D3B1-4E36-6C43115134B2}"/>
              </a:ext>
            </a:extLst>
          </p:cNvPr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am Name">
            <a:extLst>
              <a:ext uri="{FF2B5EF4-FFF2-40B4-BE49-F238E27FC236}">
                <a16:creationId xmlns:a16="http://schemas.microsoft.com/office/drawing/2014/main" id="{10FE273E-3277-C1F8-3E62-196DD20D9AD0}"/>
              </a:ext>
            </a:extLst>
          </p:cNvPr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BRAIN BYTES 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627CE9-89A9-CAEA-553B-5E6FBD8CD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32" y="357518"/>
            <a:ext cx="748004" cy="7480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2619755" y="24688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  <p:sp>
        <p:nvSpPr>
          <p:cNvPr id="13" name="Lead Text">
            <a:extLst>
              <a:ext uri="{FF2B5EF4-FFF2-40B4-BE49-F238E27FC236}">
                <a16:creationId xmlns:a16="http://schemas.microsoft.com/office/drawing/2014/main" id="{11486BFF-98F3-5144-6352-24B08035CDF2}"/>
              </a:ext>
            </a:extLst>
          </p:cNvPr>
          <p:cNvSpPr txBox="1"/>
          <p:nvPr/>
        </p:nvSpPr>
        <p:spPr>
          <a:xfrm>
            <a:off x="457200" y="124952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50" dirty="0">
                <a:solidFill>
                  <a:srgbClr val="053137"/>
                </a:solidFill>
                <a:latin typeface="Aptos"/>
              </a:rPr>
              <a:t>Why lunar terrain and limited relay coverage disrupt surface missions</a:t>
            </a:r>
          </a:p>
        </p:txBody>
      </p:sp>
      <p:sp>
        <p:nvSpPr>
          <p:cNvPr id="23" name="Rounded Rectangle 33">
            <a:extLst>
              <a:ext uri="{FF2B5EF4-FFF2-40B4-BE49-F238E27FC236}">
                <a16:creationId xmlns:a16="http://schemas.microsoft.com/office/drawing/2014/main" id="{4F977007-9B53-6050-ED4D-280DBE26C5D5}"/>
              </a:ext>
            </a:extLst>
          </p:cNvPr>
          <p:cNvSpPr/>
          <p:nvPr/>
        </p:nvSpPr>
        <p:spPr>
          <a:xfrm>
            <a:off x="635133" y="1844382"/>
            <a:ext cx="2734056" cy="832104"/>
          </a:xfrm>
          <a:prstGeom prst="roundRect">
            <a:avLst/>
          </a:prstGeom>
          <a:solidFill>
            <a:srgbClr val="EEF8F2"/>
          </a:solidFill>
          <a:ln w="10160">
            <a:solidFill>
              <a:srgbClr val="B6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8580" bIns="36576" rtlCol="0" anchor="ctr"/>
          <a:lstStyle/>
          <a:p>
            <a:pPr algn="ctr">
              <a:spcAft>
                <a:spcPts val="300"/>
              </a:spcAft>
            </a:pPr>
            <a:r>
              <a:rPr sz="1370" b="1">
                <a:solidFill>
                  <a:srgbClr val="006A53"/>
                </a:solidFill>
                <a:latin typeface="Aptos Display"/>
              </a:rPr>
              <a:t>01  Terrain obstruction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053137"/>
                </a:solidFill>
                <a:latin typeface="Aptos"/>
              </a:rPr>
              <a:t>Crater walls, mountains and ridges block line-of-sight radio links.</a:t>
            </a:r>
          </a:p>
        </p:txBody>
      </p:sp>
      <p:sp>
        <p:nvSpPr>
          <p:cNvPr id="26" name="Rounded Rectangle 34">
            <a:extLst>
              <a:ext uri="{FF2B5EF4-FFF2-40B4-BE49-F238E27FC236}">
                <a16:creationId xmlns:a16="http://schemas.microsoft.com/office/drawing/2014/main" id="{E5840322-CBF5-5EB0-352E-D95BD6712E35}"/>
              </a:ext>
            </a:extLst>
          </p:cNvPr>
          <p:cNvSpPr/>
          <p:nvPr/>
        </p:nvSpPr>
        <p:spPr>
          <a:xfrm>
            <a:off x="3634739" y="1844382"/>
            <a:ext cx="2734056" cy="832104"/>
          </a:xfrm>
          <a:prstGeom prst="roundRect">
            <a:avLst/>
          </a:prstGeom>
          <a:solidFill>
            <a:srgbClr val="EEF8F2"/>
          </a:solidFill>
          <a:ln w="10160">
            <a:solidFill>
              <a:srgbClr val="B6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8580" bIns="36576" rtlCol="0" anchor="ctr"/>
          <a:lstStyle/>
          <a:p>
            <a:pPr algn="ctr">
              <a:spcAft>
                <a:spcPts val="300"/>
              </a:spcAft>
            </a:pPr>
            <a:r>
              <a:rPr sz="1370" b="1">
                <a:solidFill>
                  <a:srgbClr val="006A53"/>
                </a:solidFill>
                <a:latin typeface="Aptos Display"/>
              </a:rPr>
              <a:t>02  Limited coverage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053137"/>
                </a:solidFill>
                <a:latin typeface="Aptos"/>
              </a:rPr>
              <a:t>Earth-based and orbital links cannot provide continuous access everywhere.</a:t>
            </a:r>
          </a:p>
        </p:txBody>
      </p:sp>
      <p:sp>
        <p:nvSpPr>
          <p:cNvPr id="28" name="Rounded Rectangle 35">
            <a:extLst>
              <a:ext uri="{FF2B5EF4-FFF2-40B4-BE49-F238E27FC236}">
                <a16:creationId xmlns:a16="http://schemas.microsoft.com/office/drawing/2014/main" id="{25193DCA-0A4F-83BB-BCCD-40A241332683}"/>
              </a:ext>
            </a:extLst>
          </p:cNvPr>
          <p:cNvSpPr/>
          <p:nvPr/>
        </p:nvSpPr>
        <p:spPr>
          <a:xfrm>
            <a:off x="635133" y="2749638"/>
            <a:ext cx="2734056" cy="832104"/>
          </a:xfrm>
          <a:prstGeom prst="roundRect">
            <a:avLst/>
          </a:prstGeom>
          <a:solidFill>
            <a:srgbClr val="EEF8F2"/>
          </a:solidFill>
          <a:ln w="10160">
            <a:solidFill>
              <a:srgbClr val="B6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8580" bIns="36576" rtlCol="0" anchor="ctr"/>
          <a:lstStyle/>
          <a:p>
            <a:pPr algn="ctr">
              <a:spcAft>
                <a:spcPts val="300"/>
              </a:spcAft>
            </a:pPr>
            <a:r>
              <a:rPr sz="1370" b="1">
                <a:solidFill>
                  <a:srgbClr val="006A53"/>
                </a:solidFill>
                <a:latin typeface="Aptos Display"/>
              </a:rPr>
              <a:t>03  Communication blackouts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053137"/>
                </a:solidFill>
                <a:latin typeface="Aptos"/>
              </a:rPr>
              <a:t>Deep craters, valleys and far-side areas may lose direct contact.</a:t>
            </a:r>
          </a:p>
        </p:txBody>
      </p:sp>
      <p:sp>
        <p:nvSpPr>
          <p:cNvPr id="30" name="Rounded Rectangle 36">
            <a:extLst>
              <a:ext uri="{FF2B5EF4-FFF2-40B4-BE49-F238E27FC236}">
                <a16:creationId xmlns:a16="http://schemas.microsoft.com/office/drawing/2014/main" id="{891EFAD0-B483-E66B-F930-8D7D7439FFE7}"/>
              </a:ext>
            </a:extLst>
          </p:cNvPr>
          <p:cNvSpPr/>
          <p:nvPr/>
        </p:nvSpPr>
        <p:spPr>
          <a:xfrm>
            <a:off x="3634739" y="2749638"/>
            <a:ext cx="2734056" cy="832104"/>
          </a:xfrm>
          <a:prstGeom prst="roundRect">
            <a:avLst/>
          </a:prstGeom>
          <a:solidFill>
            <a:srgbClr val="EEF8F2"/>
          </a:solidFill>
          <a:ln w="10160">
            <a:solidFill>
              <a:srgbClr val="B6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8580" bIns="36576" rtlCol="0" anchor="ctr"/>
          <a:lstStyle/>
          <a:p>
            <a:pPr algn="ctr">
              <a:spcAft>
                <a:spcPts val="300"/>
              </a:spcAft>
            </a:pPr>
            <a:r>
              <a:rPr sz="1370" b="1">
                <a:solidFill>
                  <a:srgbClr val="006A53"/>
                </a:solidFill>
                <a:latin typeface="Aptos Display"/>
              </a:rPr>
              <a:t>04  Orbital dependence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053137"/>
                </a:solidFill>
                <a:latin typeface="Aptos"/>
              </a:rPr>
              <a:t>Relay visibility and orbital geometry create periods without access.</a:t>
            </a:r>
          </a:p>
        </p:txBody>
      </p:sp>
      <p:sp>
        <p:nvSpPr>
          <p:cNvPr id="32" name="Rounded Rectangle 37">
            <a:extLst>
              <a:ext uri="{FF2B5EF4-FFF2-40B4-BE49-F238E27FC236}">
                <a16:creationId xmlns:a16="http://schemas.microsoft.com/office/drawing/2014/main" id="{81E91113-34AA-4A00-EC60-993976C47165}"/>
              </a:ext>
            </a:extLst>
          </p:cNvPr>
          <p:cNvSpPr/>
          <p:nvPr/>
        </p:nvSpPr>
        <p:spPr>
          <a:xfrm>
            <a:off x="635133" y="3654894"/>
            <a:ext cx="2734056" cy="832104"/>
          </a:xfrm>
          <a:prstGeom prst="roundRect">
            <a:avLst/>
          </a:prstGeom>
          <a:solidFill>
            <a:srgbClr val="EEF8F2"/>
          </a:solidFill>
          <a:ln w="10160">
            <a:solidFill>
              <a:srgbClr val="B6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8580" bIns="36576" rtlCol="0" anchor="ctr"/>
          <a:lstStyle/>
          <a:p>
            <a:pPr algn="ctr">
              <a:spcAft>
                <a:spcPts val="300"/>
              </a:spcAft>
            </a:pPr>
            <a:r>
              <a:rPr sz="1370" b="1">
                <a:solidFill>
                  <a:srgbClr val="006A53"/>
                </a:solidFill>
                <a:latin typeface="Aptos Display"/>
              </a:rPr>
              <a:t>05  Operational delays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053137"/>
                </a:solidFill>
                <a:latin typeface="Aptos"/>
              </a:rPr>
              <a:t>Lost links delay rover commands, monitoring and science-data transfer.</a:t>
            </a:r>
          </a:p>
        </p:txBody>
      </p:sp>
      <p:sp>
        <p:nvSpPr>
          <p:cNvPr id="34" name="Rounded Rectangle 38">
            <a:extLst>
              <a:ext uri="{FF2B5EF4-FFF2-40B4-BE49-F238E27FC236}">
                <a16:creationId xmlns:a16="http://schemas.microsoft.com/office/drawing/2014/main" id="{9279D26B-42EF-82BF-CFBB-0ED376E1A303}"/>
              </a:ext>
            </a:extLst>
          </p:cNvPr>
          <p:cNvSpPr/>
          <p:nvPr/>
        </p:nvSpPr>
        <p:spPr>
          <a:xfrm>
            <a:off x="3634739" y="3654894"/>
            <a:ext cx="2734056" cy="832104"/>
          </a:xfrm>
          <a:prstGeom prst="roundRect">
            <a:avLst/>
          </a:prstGeom>
          <a:solidFill>
            <a:srgbClr val="EEF8F2"/>
          </a:solidFill>
          <a:ln w="10160">
            <a:solidFill>
              <a:srgbClr val="B6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8580" bIns="36576" rtlCol="0" anchor="ctr"/>
          <a:lstStyle/>
          <a:p>
            <a:pPr algn="ctr">
              <a:spcAft>
                <a:spcPts val="300"/>
              </a:spcAft>
            </a:pPr>
            <a:r>
              <a:rPr sz="1370" b="1">
                <a:solidFill>
                  <a:srgbClr val="006A53"/>
                </a:solidFill>
                <a:latin typeface="Aptos Display"/>
              </a:rPr>
              <a:t>06  Restricted exploration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053137"/>
                </a:solidFill>
                <a:latin typeface="Aptos"/>
              </a:rPr>
              <a:t>Coverage limits how far rovers can safely travel into key regions.</a:t>
            </a:r>
          </a:p>
        </p:txBody>
      </p:sp>
      <p:sp>
        <p:nvSpPr>
          <p:cNvPr id="36" name="Rounded Rectangle 39">
            <a:extLst>
              <a:ext uri="{FF2B5EF4-FFF2-40B4-BE49-F238E27FC236}">
                <a16:creationId xmlns:a16="http://schemas.microsoft.com/office/drawing/2014/main" id="{282D1C6D-C43D-2617-2B58-66A027DAC667}"/>
              </a:ext>
            </a:extLst>
          </p:cNvPr>
          <p:cNvSpPr/>
          <p:nvPr/>
        </p:nvSpPr>
        <p:spPr>
          <a:xfrm>
            <a:off x="635133" y="4560150"/>
            <a:ext cx="2734056" cy="832104"/>
          </a:xfrm>
          <a:prstGeom prst="roundRect">
            <a:avLst/>
          </a:prstGeom>
          <a:solidFill>
            <a:srgbClr val="EEF8F2"/>
          </a:solidFill>
          <a:ln w="10160">
            <a:solidFill>
              <a:srgbClr val="B6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8580" bIns="36576" rtlCol="0" anchor="ctr"/>
          <a:lstStyle/>
          <a:p>
            <a:pPr algn="ctr">
              <a:spcAft>
                <a:spcPts val="300"/>
              </a:spcAft>
            </a:pPr>
            <a:r>
              <a:rPr sz="1370" b="1">
                <a:solidFill>
                  <a:srgbClr val="006A53"/>
                </a:solidFill>
                <a:latin typeface="Aptos Display"/>
              </a:rPr>
              <a:t>07  Expensive expansion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053137"/>
                </a:solidFill>
                <a:latin typeface="Aptos"/>
              </a:rPr>
              <a:t>Wider reliable coverage requires added relays and mission resources.</a:t>
            </a:r>
          </a:p>
        </p:txBody>
      </p:sp>
      <p:sp>
        <p:nvSpPr>
          <p:cNvPr id="38" name="Rounded Rectangle 40">
            <a:extLst>
              <a:ext uri="{FF2B5EF4-FFF2-40B4-BE49-F238E27FC236}">
                <a16:creationId xmlns:a16="http://schemas.microsoft.com/office/drawing/2014/main" id="{BDFDD347-23EB-7210-7929-AA3EDC432863}"/>
              </a:ext>
            </a:extLst>
          </p:cNvPr>
          <p:cNvSpPr/>
          <p:nvPr/>
        </p:nvSpPr>
        <p:spPr>
          <a:xfrm>
            <a:off x="3634739" y="4560150"/>
            <a:ext cx="2734056" cy="832104"/>
          </a:xfrm>
          <a:prstGeom prst="roundRect">
            <a:avLst/>
          </a:prstGeom>
          <a:solidFill>
            <a:srgbClr val="EEF8F2"/>
          </a:solidFill>
          <a:ln w="10160">
            <a:solidFill>
              <a:srgbClr val="B6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8580" bIns="36576" rtlCol="0" anchor="ctr"/>
          <a:lstStyle/>
          <a:p>
            <a:pPr algn="ctr">
              <a:spcAft>
                <a:spcPts val="300"/>
              </a:spcAft>
            </a:pPr>
            <a:r>
              <a:rPr sz="1370" b="1">
                <a:solidFill>
                  <a:srgbClr val="006A53"/>
                </a:solidFill>
                <a:latin typeface="Aptos Display"/>
              </a:rPr>
              <a:t>08  Greater mission risk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053137"/>
                </a:solidFill>
                <a:latin typeface="Aptos"/>
              </a:rPr>
              <a:t>Blackouts delay fault detection, emergency response and recovery.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BC791C-06CD-904E-C006-BC48C39B5A0A}"/>
              </a:ext>
            </a:extLst>
          </p:cNvPr>
          <p:cNvSpPr txBox="1"/>
          <p:nvPr/>
        </p:nvSpPr>
        <p:spPr>
          <a:xfrm>
            <a:off x="1131801" y="5515698"/>
            <a:ext cx="5550408" cy="2651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0" b="1" dirty="0">
                <a:solidFill>
                  <a:srgbClr val="006A53"/>
                </a:solidFill>
              </a:rPr>
              <a:t>ROOT CAUSE  </a:t>
            </a:r>
            <a:r>
              <a:rPr sz="1090" dirty="0">
                <a:solidFill>
                  <a:srgbClr val="053137"/>
                </a:solidFill>
              </a:rPr>
              <a:t>Uneven terrain + line-of-sight dependence + limited relay reach.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64451D-EB90-B951-A319-4AA7CAB7516F}"/>
              </a:ext>
            </a:extLst>
          </p:cNvPr>
          <p:cNvSpPr txBox="1"/>
          <p:nvPr/>
        </p:nvSpPr>
        <p:spPr>
          <a:xfrm>
            <a:off x="1131801" y="5722038"/>
            <a:ext cx="5550408" cy="2651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0" b="1" dirty="0">
                <a:solidFill>
                  <a:srgbClr val="006A53"/>
                </a:solidFill>
              </a:rPr>
              <a:t>IMPACT  </a:t>
            </a:r>
            <a:r>
              <a:rPr sz="1090" dirty="0">
                <a:solidFill>
                  <a:srgbClr val="053137"/>
                </a:solidFill>
              </a:rPr>
              <a:t>Interrupted science, restricted exploration and higher mission risk.</a:t>
            </a:r>
          </a:p>
        </p:txBody>
      </p:sp>
      <p:sp>
        <p:nvSpPr>
          <p:cNvPr id="44" name="Team Badge">
            <a:extLst>
              <a:ext uri="{FF2B5EF4-FFF2-40B4-BE49-F238E27FC236}">
                <a16:creationId xmlns:a16="http://schemas.microsoft.com/office/drawing/2014/main" id="{9C7F66E2-A9B6-EABC-0098-CD6844A46381}"/>
              </a:ext>
            </a:extLst>
          </p:cNvPr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6" name="Team Name">
            <a:extLst>
              <a:ext uri="{FF2B5EF4-FFF2-40B4-BE49-F238E27FC236}">
                <a16:creationId xmlns:a16="http://schemas.microsoft.com/office/drawing/2014/main" id="{98D67102-0D82-80BF-7A8A-9B694B896FB5}"/>
              </a:ext>
            </a:extLst>
          </p:cNvPr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BRAIN BYTES </a:t>
            </a:r>
            <a:endParaRPr lang="en-US" sz="20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1FF9FA2-AF53-E68E-9D9F-625EA8CE7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32" y="357518"/>
            <a:ext cx="748004" cy="7480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992102-5AFA-F63D-A3CD-0F91FA512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5215" y="1490095"/>
            <a:ext cx="4820992" cy="43015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855EA78-ED78-F0CC-4C17-729BA2501E78}"/>
              </a:ext>
            </a:extLst>
          </p:cNvPr>
          <p:cNvSpPr/>
          <p:nvPr/>
        </p:nvSpPr>
        <p:spPr>
          <a:xfrm>
            <a:off x="329940" y="1493338"/>
            <a:ext cx="1028748" cy="197584"/>
          </a:xfrm>
          <a:custGeom>
            <a:avLst/>
            <a:gdLst/>
            <a:ahLst/>
            <a:cxnLst/>
            <a:rect l="0" t="0" r="0" b="0"/>
            <a:pathLst>
              <a:path w="1028748" h="197584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1004653" y="0"/>
                </a:moveTo>
                <a:lnTo>
                  <a:pt x="24095" y="0"/>
                </a:lnTo>
                <a:moveTo>
                  <a:pt x="1028748" y="173488"/>
                </a:moveTo>
                <a:cubicBezTo>
                  <a:pt x="1028748" y="186796"/>
                  <a:pt x="1017961" y="197584"/>
                  <a:pt x="1004653" y="197584"/>
                </a:cubicBezTo>
                <a:moveTo>
                  <a:pt x="1004653" y="0"/>
                </a:moveTo>
                <a:cubicBezTo>
                  <a:pt x="1017961" y="0"/>
                  <a:pt x="1028748" y="10787"/>
                  <a:pt x="1028748" y="24095"/>
                </a:cubicBezTo>
                <a:moveTo>
                  <a:pt x="0" y="173488"/>
                </a:moveTo>
                <a:lnTo>
                  <a:pt x="0" y="24095"/>
                </a:lnTo>
                <a:moveTo>
                  <a:pt x="1028748" y="173488"/>
                </a:moveTo>
                <a:lnTo>
                  <a:pt x="1028748" y="24095"/>
                </a:lnTo>
                <a:moveTo>
                  <a:pt x="24095" y="197584"/>
                </a:moveTo>
                <a:lnTo>
                  <a:pt x="1004653" y="197584"/>
                </a:lnTo>
                <a:moveTo>
                  <a:pt x="24095" y="197584"/>
                </a:moveTo>
                <a:cubicBezTo>
                  <a:pt x="10787" y="197584"/>
                  <a:pt x="0" y="186796"/>
                  <a:pt x="0" y="173488"/>
                </a:cubicBezTo>
              </a:path>
            </a:pathLst>
          </a:custGeom>
          <a:noFill/>
          <a:ln w="16063">
            <a:solidFill>
              <a:schemeClr val="accent4">
                <a:lumMod val="75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BAD2721-A4D2-B25A-2FD5-99E02F427E4D}"/>
              </a:ext>
            </a:extLst>
          </p:cNvPr>
          <p:cNvSpPr/>
          <p:nvPr/>
        </p:nvSpPr>
        <p:spPr>
          <a:xfrm>
            <a:off x="633027" y="1787306"/>
            <a:ext cx="725662" cy="298764"/>
          </a:xfrm>
          <a:custGeom>
            <a:avLst/>
            <a:gdLst/>
            <a:ahLst/>
            <a:cxnLst/>
            <a:rect l="0" t="0" r="0" b="0"/>
            <a:pathLst>
              <a:path w="725662" h="298764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701566" y="0"/>
                </a:moveTo>
                <a:lnTo>
                  <a:pt x="24095" y="0"/>
                </a:lnTo>
                <a:moveTo>
                  <a:pt x="725662" y="274668"/>
                </a:moveTo>
                <a:cubicBezTo>
                  <a:pt x="725662" y="287976"/>
                  <a:pt x="714874" y="298764"/>
                  <a:pt x="701566" y="298764"/>
                </a:cubicBezTo>
                <a:moveTo>
                  <a:pt x="701566" y="0"/>
                </a:moveTo>
                <a:cubicBezTo>
                  <a:pt x="714874" y="0"/>
                  <a:pt x="725662" y="10787"/>
                  <a:pt x="725662" y="24095"/>
                </a:cubicBezTo>
                <a:moveTo>
                  <a:pt x="0" y="274668"/>
                </a:moveTo>
                <a:lnTo>
                  <a:pt x="0" y="24095"/>
                </a:lnTo>
                <a:moveTo>
                  <a:pt x="725662" y="274668"/>
                </a:moveTo>
                <a:lnTo>
                  <a:pt x="725662" y="24095"/>
                </a:lnTo>
                <a:moveTo>
                  <a:pt x="24095" y="298764"/>
                </a:moveTo>
                <a:lnTo>
                  <a:pt x="701566" y="298764"/>
                </a:lnTo>
                <a:moveTo>
                  <a:pt x="24095" y="298764"/>
                </a:moveTo>
                <a:cubicBezTo>
                  <a:pt x="10787" y="298764"/>
                  <a:pt x="0" y="287976"/>
                  <a:pt x="0" y="274668"/>
                </a:cubicBezTo>
              </a:path>
            </a:pathLst>
          </a:custGeom>
          <a:noFill/>
          <a:ln w="16063">
            <a:solidFill>
              <a:schemeClr val="accent4">
                <a:lumMod val="75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462571-D299-28CC-0C5F-EF41C615347F}"/>
              </a:ext>
            </a:extLst>
          </p:cNvPr>
          <p:cNvSpPr/>
          <p:nvPr/>
        </p:nvSpPr>
        <p:spPr>
          <a:xfrm>
            <a:off x="1647837" y="1651556"/>
            <a:ext cx="1012018" cy="276296"/>
          </a:xfrm>
          <a:custGeom>
            <a:avLst/>
            <a:gdLst/>
            <a:ahLst/>
            <a:cxnLst/>
            <a:rect l="0" t="0" r="0" b="0"/>
            <a:pathLst>
              <a:path w="1012018" h="276296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987922" y="0"/>
                </a:moveTo>
                <a:lnTo>
                  <a:pt x="24095" y="0"/>
                </a:lnTo>
                <a:moveTo>
                  <a:pt x="1012018" y="252201"/>
                </a:moveTo>
                <a:cubicBezTo>
                  <a:pt x="1012018" y="265509"/>
                  <a:pt x="1001230" y="276296"/>
                  <a:pt x="987922" y="276296"/>
                </a:cubicBezTo>
                <a:moveTo>
                  <a:pt x="987922" y="0"/>
                </a:moveTo>
                <a:cubicBezTo>
                  <a:pt x="1001230" y="0"/>
                  <a:pt x="1012018" y="10787"/>
                  <a:pt x="1012018" y="24095"/>
                </a:cubicBezTo>
                <a:moveTo>
                  <a:pt x="0" y="252201"/>
                </a:moveTo>
                <a:lnTo>
                  <a:pt x="0" y="24095"/>
                </a:lnTo>
                <a:moveTo>
                  <a:pt x="1012018" y="252201"/>
                </a:moveTo>
                <a:lnTo>
                  <a:pt x="1012018" y="24095"/>
                </a:lnTo>
                <a:moveTo>
                  <a:pt x="24095" y="276296"/>
                </a:moveTo>
                <a:lnTo>
                  <a:pt x="987922" y="276296"/>
                </a:lnTo>
                <a:moveTo>
                  <a:pt x="24095" y="276296"/>
                </a:moveTo>
                <a:cubicBezTo>
                  <a:pt x="10787" y="276296"/>
                  <a:pt x="0" y="265509"/>
                  <a:pt x="0" y="252201"/>
                </a:cubicBezTo>
              </a:path>
            </a:pathLst>
          </a:custGeom>
          <a:noFill/>
          <a:ln w="16063">
            <a:solidFill>
              <a:schemeClr val="accent4">
                <a:lumMod val="75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B0D7372-8BFD-9E4A-9BEC-0D969334F5F7}"/>
              </a:ext>
            </a:extLst>
          </p:cNvPr>
          <p:cNvSpPr/>
          <p:nvPr/>
        </p:nvSpPr>
        <p:spPr>
          <a:xfrm>
            <a:off x="1067980" y="2471601"/>
            <a:ext cx="427360" cy="197584"/>
          </a:xfrm>
          <a:custGeom>
            <a:avLst/>
            <a:gdLst/>
            <a:ahLst/>
            <a:cxnLst/>
            <a:rect l="0" t="0" r="0" b="0"/>
            <a:pathLst>
              <a:path w="427360" h="197584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403265" y="0"/>
                </a:moveTo>
                <a:lnTo>
                  <a:pt x="24095" y="0"/>
                </a:lnTo>
                <a:moveTo>
                  <a:pt x="427360" y="173488"/>
                </a:moveTo>
                <a:cubicBezTo>
                  <a:pt x="427360" y="186796"/>
                  <a:pt x="416573" y="197584"/>
                  <a:pt x="403265" y="197584"/>
                </a:cubicBezTo>
                <a:moveTo>
                  <a:pt x="403265" y="0"/>
                </a:moveTo>
                <a:cubicBezTo>
                  <a:pt x="416573" y="0"/>
                  <a:pt x="427360" y="10787"/>
                  <a:pt x="427360" y="24095"/>
                </a:cubicBezTo>
                <a:moveTo>
                  <a:pt x="0" y="173488"/>
                </a:moveTo>
                <a:lnTo>
                  <a:pt x="0" y="24095"/>
                </a:lnTo>
                <a:moveTo>
                  <a:pt x="427360" y="173488"/>
                </a:moveTo>
                <a:lnTo>
                  <a:pt x="427360" y="24095"/>
                </a:lnTo>
                <a:moveTo>
                  <a:pt x="24095" y="197584"/>
                </a:moveTo>
                <a:lnTo>
                  <a:pt x="403265" y="197584"/>
                </a:lnTo>
                <a:moveTo>
                  <a:pt x="24095" y="197584"/>
                </a:moveTo>
                <a:cubicBezTo>
                  <a:pt x="10787" y="197584"/>
                  <a:pt x="0" y="186796"/>
                  <a:pt x="0" y="173488"/>
                </a:cubicBezTo>
              </a:path>
            </a:pathLst>
          </a:custGeom>
          <a:noFill/>
          <a:ln w="16063">
            <a:solidFill>
              <a:schemeClr val="accent3">
                <a:lumMod val="75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F8F4E062-7139-9A3C-6819-4452DFF42787}"/>
              </a:ext>
            </a:extLst>
          </p:cNvPr>
          <p:cNvSpPr/>
          <p:nvPr/>
        </p:nvSpPr>
        <p:spPr>
          <a:xfrm>
            <a:off x="546464" y="2765568"/>
            <a:ext cx="948877" cy="197584"/>
          </a:xfrm>
          <a:custGeom>
            <a:avLst/>
            <a:gdLst/>
            <a:ahLst/>
            <a:cxnLst/>
            <a:rect l="0" t="0" r="0" b="0"/>
            <a:pathLst>
              <a:path w="948877" h="197584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924781" y="0"/>
                </a:moveTo>
                <a:lnTo>
                  <a:pt x="24095" y="0"/>
                </a:lnTo>
                <a:moveTo>
                  <a:pt x="948877" y="173489"/>
                </a:moveTo>
                <a:cubicBezTo>
                  <a:pt x="948877" y="186797"/>
                  <a:pt x="938089" y="197584"/>
                  <a:pt x="924781" y="197584"/>
                </a:cubicBezTo>
                <a:moveTo>
                  <a:pt x="924781" y="0"/>
                </a:moveTo>
                <a:cubicBezTo>
                  <a:pt x="938089" y="0"/>
                  <a:pt x="948877" y="10787"/>
                  <a:pt x="948877" y="24095"/>
                </a:cubicBezTo>
                <a:moveTo>
                  <a:pt x="0" y="173489"/>
                </a:moveTo>
                <a:lnTo>
                  <a:pt x="0" y="24095"/>
                </a:lnTo>
                <a:moveTo>
                  <a:pt x="948877" y="173489"/>
                </a:moveTo>
                <a:lnTo>
                  <a:pt x="948877" y="24095"/>
                </a:lnTo>
                <a:moveTo>
                  <a:pt x="24095" y="197584"/>
                </a:moveTo>
                <a:lnTo>
                  <a:pt x="924781" y="197584"/>
                </a:lnTo>
                <a:moveTo>
                  <a:pt x="24095" y="197584"/>
                </a:moveTo>
                <a:cubicBezTo>
                  <a:pt x="10787" y="197584"/>
                  <a:pt x="0" y="186797"/>
                  <a:pt x="0" y="173489"/>
                </a:cubicBezTo>
              </a:path>
            </a:pathLst>
          </a:custGeom>
          <a:noFill/>
          <a:ln w="16063">
            <a:solidFill>
              <a:schemeClr val="accent3">
                <a:lumMod val="75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BA0CB744-7B18-CF1A-9A8A-199328FE98E8}"/>
              </a:ext>
            </a:extLst>
          </p:cNvPr>
          <p:cNvSpPr/>
          <p:nvPr/>
        </p:nvSpPr>
        <p:spPr>
          <a:xfrm>
            <a:off x="1784489" y="2521387"/>
            <a:ext cx="875366" cy="391978"/>
          </a:xfrm>
          <a:custGeom>
            <a:avLst/>
            <a:gdLst/>
            <a:ahLst/>
            <a:cxnLst/>
            <a:rect l="0" t="0" r="0" b="0"/>
            <a:pathLst>
              <a:path w="875366" h="391978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851270" y="0"/>
                </a:moveTo>
                <a:lnTo>
                  <a:pt x="24095" y="0"/>
                </a:lnTo>
                <a:moveTo>
                  <a:pt x="875366" y="367883"/>
                </a:moveTo>
                <a:cubicBezTo>
                  <a:pt x="875366" y="381191"/>
                  <a:pt x="864578" y="391978"/>
                  <a:pt x="851270" y="391978"/>
                </a:cubicBezTo>
                <a:moveTo>
                  <a:pt x="851270" y="0"/>
                </a:moveTo>
                <a:cubicBezTo>
                  <a:pt x="864578" y="0"/>
                  <a:pt x="875366" y="10787"/>
                  <a:pt x="875366" y="24095"/>
                </a:cubicBezTo>
                <a:moveTo>
                  <a:pt x="0" y="367883"/>
                </a:moveTo>
                <a:lnTo>
                  <a:pt x="0" y="24095"/>
                </a:lnTo>
                <a:moveTo>
                  <a:pt x="875366" y="367883"/>
                </a:moveTo>
                <a:lnTo>
                  <a:pt x="875366" y="24095"/>
                </a:lnTo>
                <a:moveTo>
                  <a:pt x="24095" y="391978"/>
                </a:moveTo>
                <a:lnTo>
                  <a:pt x="851270" y="391978"/>
                </a:lnTo>
                <a:moveTo>
                  <a:pt x="24095" y="391978"/>
                </a:moveTo>
                <a:cubicBezTo>
                  <a:pt x="10787" y="391978"/>
                  <a:pt x="0" y="381191"/>
                  <a:pt x="0" y="367883"/>
                </a:cubicBezTo>
              </a:path>
            </a:pathLst>
          </a:custGeom>
          <a:noFill/>
          <a:ln w="16063">
            <a:solidFill>
              <a:schemeClr val="accent3">
                <a:lumMod val="75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1CF91949-DE38-52D6-EDAD-BF68F7080A59}"/>
              </a:ext>
            </a:extLst>
          </p:cNvPr>
          <p:cNvSpPr/>
          <p:nvPr/>
        </p:nvSpPr>
        <p:spPr>
          <a:xfrm>
            <a:off x="665719" y="3348683"/>
            <a:ext cx="697323" cy="197584"/>
          </a:xfrm>
          <a:custGeom>
            <a:avLst/>
            <a:gdLst/>
            <a:ahLst/>
            <a:cxnLst/>
            <a:rect l="0" t="0" r="0" b="0"/>
            <a:pathLst>
              <a:path w="697323" h="197584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673227" y="0"/>
                </a:moveTo>
                <a:lnTo>
                  <a:pt x="24095" y="0"/>
                </a:lnTo>
                <a:moveTo>
                  <a:pt x="697323" y="173488"/>
                </a:moveTo>
                <a:cubicBezTo>
                  <a:pt x="697323" y="186796"/>
                  <a:pt x="686535" y="197584"/>
                  <a:pt x="673227" y="197584"/>
                </a:cubicBezTo>
                <a:moveTo>
                  <a:pt x="673227" y="0"/>
                </a:moveTo>
                <a:cubicBezTo>
                  <a:pt x="686535" y="0"/>
                  <a:pt x="697323" y="10787"/>
                  <a:pt x="697323" y="24095"/>
                </a:cubicBezTo>
                <a:moveTo>
                  <a:pt x="0" y="173488"/>
                </a:moveTo>
                <a:lnTo>
                  <a:pt x="0" y="24095"/>
                </a:lnTo>
                <a:moveTo>
                  <a:pt x="697323" y="173488"/>
                </a:moveTo>
                <a:lnTo>
                  <a:pt x="697323" y="24095"/>
                </a:lnTo>
                <a:moveTo>
                  <a:pt x="24095" y="197584"/>
                </a:moveTo>
                <a:lnTo>
                  <a:pt x="673227" y="197584"/>
                </a:lnTo>
                <a:moveTo>
                  <a:pt x="24095" y="197584"/>
                </a:moveTo>
                <a:cubicBezTo>
                  <a:pt x="10787" y="197584"/>
                  <a:pt x="0" y="186796"/>
                  <a:pt x="0" y="173488"/>
                </a:cubicBezTo>
              </a:path>
            </a:pathLst>
          </a:custGeom>
          <a:noFill/>
          <a:ln w="16063">
            <a:solidFill>
              <a:schemeClr val="accent1">
                <a:lumMod val="50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F7AED629-9128-6551-0B32-91D11C1F4ED5}"/>
              </a:ext>
            </a:extLst>
          </p:cNvPr>
          <p:cNvSpPr/>
          <p:nvPr/>
        </p:nvSpPr>
        <p:spPr>
          <a:xfrm>
            <a:off x="546135" y="3642650"/>
            <a:ext cx="816907" cy="197584"/>
          </a:xfrm>
          <a:custGeom>
            <a:avLst/>
            <a:gdLst/>
            <a:ahLst/>
            <a:cxnLst/>
            <a:rect l="0" t="0" r="0" b="0"/>
            <a:pathLst>
              <a:path w="816907" h="197584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792812" y="0"/>
                </a:moveTo>
                <a:lnTo>
                  <a:pt x="24095" y="0"/>
                </a:lnTo>
                <a:moveTo>
                  <a:pt x="816907" y="173488"/>
                </a:moveTo>
                <a:cubicBezTo>
                  <a:pt x="816907" y="186796"/>
                  <a:pt x="806120" y="197584"/>
                  <a:pt x="792812" y="197584"/>
                </a:cubicBezTo>
                <a:moveTo>
                  <a:pt x="792812" y="0"/>
                </a:moveTo>
                <a:cubicBezTo>
                  <a:pt x="806120" y="0"/>
                  <a:pt x="816907" y="10787"/>
                  <a:pt x="816907" y="24095"/>
                </a:cubicBezTo>
                <a:moveTo>
                  <a:pt x="0" y="173488"/>
                </a:moveTo>
                <a:lnTo>
                  <a:pt x="0" y="24095"/>
                </a:lnTo>
                <a:moveTo>
                  <a:pt x="816907" y="173488"/>
                </a:moveTo>
                <a:lnTo>
                  <a:pt x="816907" y="24095"/>
                </a:lnTo>
                <a:moveTo>
                  <a:pt x="24095" y="197584"/>
                </a:moveTo>
                <a:lnTo>
                  <a:pt x="792812" y="197584"/>
                </a:lnTo>
                <a:moveTo>
                  <a:pt x="24095" y="197584"/>
                </a:moveTo>
                <a:cubicBezTo>
                  <a:pt x="10787" y="197584"/>
                  <a:pt x="0" y="186796"/>
                  <a:pt x="0" y="173488"/>
                </a:cubicBezTo>
              </a:path>
            </a:pathLst>
          </a:custGeom>
          <a:noFill/>
          <a:ln w="16063">
            <a:solidFill>
              <a:schemeClr val="accent4">
                <a:lumMod val="50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Rounded Rectangle 10">
            <a:extLst>
              <a:ext uri="{FF2B5EF4-FFF2-40B4-BE49-F238E27FC236}">
                <a16:creationId xmlns:a16="http://schemas.microsoft.com/office/drawing/2014/main" id="{94B05BA0-1877-37CA-666C-585E28E02C5D}"/>
              </a:ext>
            </a:extLst>
          </p:cNvPr>
          <p:cNvSpPr/>
          <p:nvPr/>
        </p:nvSpPr>
        <p:spPr>
          <a:xfrm>
            <a:off x="1652190" y="3398469"/>
            <a:ext cx="1007665" cy="391978"/>
          </a:xfrm>
          <a:custGeom>
            <a:avLst/>
            <a:gdLst/>
            <a:ahLst/>
            <a:cxnLst/>
            <a:rect l="0" t="0" r="0" b="0"/>
            <a:pathLst>
              <a:path w="1007665" h="391978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983569" y="0"/>
                </a:moveTo>
                <a:lnTo>
                  <a:pt x="24095" y="0"/>
                </a:lnTo>
                <a:moveTo>
                  <a:pt x="1007665" y="367883"/>
                </a:moveTo>
                <a:cubicBezTo>
                  <a:pt x="1007665" y="381191"/>
                  <a:pt x="996877" y="391978"/>
                  <a:pt x="983569" y="391978"/>
                </a:cubicBezTo>
                <a:moveTo>
                  <a:pt x="983569" y="0"/>
                </a:moveTo>
                <a:cubicBezTo>
                  <a:pt x="996877" y="0"/>
                  <a:pt x="1007665" y="10787"/>
                  <a:pt x="1007665" y="24095"/>
                </a:cubicBezTo>
                <a:moveTo>
                  <a:pt x="0" y="367883"/>
                </a:moveTo>
                <a:lnTo>
                  <a:pt x="0" y="24095"/>
                </a:lnTo>
                <a:moveTo>
                  <a:pt x="1007665" y="367883"/>
                </a:moveTo>
                <a:lnTo>
                  <a:pt x="1007665" y="24095"/>
                </a:lnTo>
                <a:moveTo>
                  <a:pt x="24095" y="391978"/>
                </a:moveTo>
                <a:lnTo>
                  <a:pt x="983569" y="391978"/>
                </a:lnTo>
                <a:moveTo>
                  <a:pt x="24095" y="391978"/>
                </a:moveTo>
                <a:cubicBezTo>
                  <a:pt x="10787" y="391978"/>
                  <a:pt x="0" y="381191"/>
                  <a:pt x="0" y="367883"/>
                </a:cubicBezTo>
              </a:path>
            </a:pathLst>
          </a:custGeom>
          <a:noFill/>
          <a:ln w="16063">
            <a:solidFill>
              <a:schemeClr val="accent4">
                <a:lumMod val="50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9" name="Rounded Rectangle 11">
            <a:extLst>
              <a:ext uri="{FF2B5EF4-FFF2-40B4-BE49-F238E27FC236}">
                <a16:creationId xmlns:a16="http://schemas.microsoft.com/office/drawing/2014/main" id="{449FA210-1638-1D0E-BB50-D01793D271F0}"/>
              </a:ext>
            </a:extLst>
          </p:cNvPr>
          <p:cNvSpPr/>
          <p:nvPr/>
        </p:nvSpPr>
        <p:spPr>
          <a:xfrm>
            <a:off x="773365" y="4225765"/>
            <a:ext cx="613882" cy="197584"/>
          </a:xfrm>
          <a:custGeom>
            <a:avLst/>
            <a:gdLst/>
            <a:ahLst/>
            <a:cxnLst/>
            <a:rect l="0" t="0" r="0" b="0"/>
            <a:pathLst>
              <a:path w="613882" h="197584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589787" y="0"/>
                </a:moveTo>
                <a:lnTo>
                  <a:pt x="24095" y="0"/>
                </a:lnTo>
                <a:moveTo>
                  <a:pt x="613882" y="173488"/>
                </a:moveTo>
                <a:cubicBezTo>
                  <a:pt x="613882" y="186796"/>
                  <a:pt x="603095" y="197584"/>
                  <a:pt x="589787" y="197584"/>
                </a:cubicBezTo>
                <a:moveTo>
                  <a:pt x="589787" y="0"/>
                </a:moveTo>
                <a:cubicBezTo>
                  <a:pt x="603095" y="0"/>
                  <a:pt x="613882" y="10787"/>
                  <a:pt x="613882" y="24095"/>
                </a:cubicBezTo>
                <a:moveTo>
                  <a:pt x="0" y="173488"/>
                </a:moveTo>
                <a:lnTo>
                  <a:pt x="0" y="24095"/>
                </a:lnTo>
                <a:moveTo>
                  <a:pt x="613882" y="173488"/>
                </a:moveTo>
                <a:lnTo>
                  <a:pt x="613882" y="24095"/>
                </a:lnTo>
                <a:moveTo>
                  <a:pt x="24095" y="197584"/>
                </a:moveTo>
                <a:lnTo>
                  <a:pt x="589787" y="197584"/>
                </a:lnTo>
                <a:moveTo>
                  <a:pt x="24095" y="197584"/>
                </a:moveTo>
                <a:cubicBezTo>
                  <a:pt x="10787" y="197584"/>
                  <a:pt x="0" y="186796"/>
                  <a:pt x="0" y="173488"/>
                </a:cubicBezTo>
              </a:path>
            </a:pathLst>
          </a:custGeom>
          <a:noFill/>
          <a:ln w="16063">
            <a:solidFill>
              <a:schemeClr val="accent2">
                <a:lumMod val="75000"/>
                <a:lumOff val="25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Rounded Rectangle 12">
            <a:extLst>
              <a:ext uri="{FF2B5EF4-FFF2-40B4-BE49-F238E27FC236}">
                <a16:creationId xmlns:a16="http://schemas.microsoft.com/office/drawing/2014/main" id="{47450664-3961-9A35-6234-13323BBC735A}"/>
              </a:ext>
            </a:extLst>
          </p:cNvPr>
          <p:cNvSpPr/>
          <p:nvPr/>
        </p:nvSpPr>
        <p:spPr>
          <a:xfrm>
            <a:off x="435241" y="4519732"/>
            <a:ext cx="952006" cy="197584"/>
          </a:xfrm>
          <a:custGeom>
            <a:avLst/>
            <a:gdLst/>
            <a:ahLst/>
            <a:cxnLst/>
            <a:rect l="0" t="0" r="0" b="0"/>
            <a:pathLst>
              <a:path w="952006" h="197584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927910" y="0"/>
                </a:moveTo>
                <a:lnTo>
                  <a:pt x="24095" y="0"/>
                </a:lnTo>
                <a:moveTo>
                  <a:pt x="952006" y="173488"/>
                </a:moveTo>
                <a:cubicBezTo>
                  <a:pt x="952006" y="186796"/>
                  <a:pt x="941219" y="197584"/>
                  <a:pt x="927910" y="197584"/>
                </a:cubicBezTo>
                <a:moveTo>
                  <a:pt x="927910" y="0"/>
                </a:moveTo>
                <a:cubicBezTo>
                  <a:pt x="941219" y="0"/>
                  <a:pt x="952006" y="10787"/>
                  <a:pt x="952006" y="24095"/>
                </a:cubicBezTo>
                <a:moveTo>
                  <a:pt x="0" y="173488"/>
                </a:moveTo>
                <a:lnTo>
                  <a:pt x="0" y="24095"/>
                </a:lnTo>
                <a:moveTo>
                  <a:pt x="952006" y="173488"/>
                </a:moveTo>
                <a:lnTo>
                  <a:pt x="952006" y="24095"/>
                </a:lnTo>
                <a:moveTo>
                  <a:pt x="24095" y="197584"/>
                </a:moveTo>
                <a:lnTo>
                  <a:pt x="927910" y="197584"/>
                </a:lnTo>
                <a:moveTo>
                  <a:pt x="24095" y="197584"/>
                </a:moveTo>
                <a:cubicBezTo>
                  <a:pt x="10787" y="197584"/>
                  <a:pt x="0" y="186796"/>
                  <a:pt x="0" y="173488"/>
                </a:cubicBezTo>
              </a:path>
            </a:pathLst>
          </a:custGeom>
          <a:noFill/>
          <a:ln w="16063">
            <a:solidFill>
              <a:schemeClr val="accent2">
                <a:lumMod val="75000"/>
                <a:lumOff val="25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Rounded Rectangle 13">
            <a:extLst>
              <a:ext uri="{FF2B5EF4-FFF2-40B4-BE49-F238E27FC236}">
                <a16:creationId xmlns:a16="http://schemas.microsoft.com/office/drawing/2014/main" id="{B45A4C31-F705-50B7-302A-2283D53D1683}"/>
              </a:ext>
            </a:extLst>
          </p:cNvPr>
          <p:cNvSpPr/>
          <p:nvPr/>
        </p:nvSpPr>
        <p:spPr>
          <a:xfrm>
            <a:off x="1676396" y="4275551"/>
            <a:ext cx="983459" cy="391978"/>
          </a:xfrm>
          <a:custGeom>
            <a:avLst/>
            <a:gdLst/>
            <a:ahLst/>
            <a:cxnLst/>
            <a:rect l="0" t="0" r="0" b="0"/>
            <a:pathLst>
              <a:path w="983459" h="391978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959363" y="0"/>
                </a:moveTo>
                <a:lnTo>
                  <a:pt x="24095" y="0"/>
                </a:lnTo>
                <a:moveTo>
                  <a:pt x="983459" y="367882"/>
                </a:moveTo>
                <a:cubicBezTo>
                  <a:pt x="983459" y="381190"/>
                  <a:pt x="972672" y="391978"/>
                  <a:pt x="959363" y="391978"/>
                </a:cubicBezTo>
                <a:moveTo>
                  <a:pt x="959363" y="0"/>
                </a:moveTo>
                <a:cubicBezTo>
                  <a:pt x="972672" y="0"/>
                  <a:pt x="983459" y="10787"/>
                  <a:pt x="983459" y="24095"/>
                </a:cubicBezTo>
                <a:moveTo>
                  <a:pt x="0" y="367882"/>
                </a:moveTo>
                <a:lnTo>
                  <a:pt x="0" y="24095"/>
                </a:lnTo>
                <a:moveTo>
                  <a:pt x="983459" y="367882"/>
                </a:moveTo>
                <a:lnTo>
                  <a:pt x="983459" y="24095"/>
                </a:lnTo>
                <a:moveTo>
                  <a:pt x="24095" y="391978"/>
                </a:moveTo>
                <a:lnTo>
                  <a:pt x="959363" y="391978"/>
                </a:lnTo>
                <a:moveTo>
                  <a:pt x="24095" y="391978"/>
                </a:moveTo>
                <a:cubicBezTo>
                  <a:pt x="10787" y="391978"/>
                  <a:pt x="0" y="381190"/>
                  <a:pt x="0" y="367882"/>
                </a:cubicBezTo>
              </a:path>
            </a:pathLst>
          </a:custGeom>
          <a:noFill/>
          <a:ln w="16063">
            <a:solidFill>
              <a:schemeClr val="accent2">
                <a:lumMod val="75000"/>
                <a:lumOff val="25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Rounded Rectangle 14">
            <a:extLst>
              <a:ext uri="{FF2B5EF4-FFF2-40B4-BE49-F238E27FC236}">
                <a16:creationId xmlns:a16="http://schemas.microsoft.com/office/drawing/2014/main" id="{6F906074-ED43-5032-3FAB-A9B65E2F5676}"/>
              </a:ext>
            </a:extLst>
          </p:cNvPr>
          <p:cNvSpPr/>
          <p:nvPr/>
        </p:nvSpPr>
        <p:spPr>
          <a:xfrm>
            <a:off x="766777" y="5102847"/>
            <a:ext cx="725662" cy="298764"/>
          </a:xfrm>
          <a:custGeom>
            <a:avLst/>
            <a:gdLst/>
            <a:ahLst/>
            <a:cxnLst/>
            <a:rect l="0" t="0" r="0" b="0"/>
            <a:pathLst>
              <a:path w="725662" h="298764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701566" y="0"/>
                </a:moveTo>
                <a:lnTo>
                  <a:pt x="24095" y="0"/>
                </a:lnTo>
                <a:moveTo>
                  <a:pt x="725662" y="274668"/>
                </a:moveTo>
                <a:cubicBezTo>
                  <a:pt x="725662" y="287976"/>
                  <a:pt x="714874" y="298764"/>
                  <a:pt x="701566" y="298764"/>
                </a:cubicBezTo>
                <a:moveTo>
                  <a:pt x="701566" y="0"/>
                </a:moveTo>
                <a:cubicBezTo>
                  <a:pt x="714874" y="0"/>
                  <a:pt x="725662" y="10787"/>
                  <a:pt x="725662" y="24095"/>
                </a:cubicBezTo>
                <a:moveTo>
                  <a:pt x="0" y="274668"/>
                </a:moveTo>
                <a:lnTo>
                  <a:pt x="0" y="24095"/>
                </a:lnTo>
                <a:moveTo>
                  <a:pt x="725662" y="274668"/>
                </a:moveTo>
                <a:lnTo>
                  <a:pt x="725662" y="24095"/>
                </a:lnTo>
                <a:moveTo>
                  <a:pt x="24095" y="298764"/>
                </a:moveTo>
                <a:lnTo>
                  <a:pt x="701566" y="298764"/>
                </a:lnTo>
                <a:moveTo>
                  <a:pt x="24095" y="298764"/>
                </a:moveTo>
                <a:cubicBezTo>
                  <a:pt x="10787" y="298764"/>
                  <a:pt x="0" y="287976"/>
                  <a:pt x="0" y="274668"/>
                </a:cubicBezTo>
              </a:path>
            </a:pathLst>
          </a:custGeom>
          <a:noFill/>
          <a:ln w="16063">
            <a:solidFill>
              <a:srgbClr val="92BD39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" name="Rounded Rectangle 15">
            <a:extLst>
              <a:ext uri="{FF2B5EF4-FFF2-40B4-BE49-F238E27FC236}">
                <a16:creationId xmlns:a16="http://schemas.microsoft.com/office/drawing/2014/main" id="{5348E11D-79D0-D0E5-A3F8-F75C90F08139}"/>
              </a:ext>
            </a:extLst>
          </p:cNvPr>
          <p:cNvSpPr/>
          <p:nvPr/>
        </p:nvSpPr>
        <p:spPr>
          <a:xfrm>
            <a:off x="565869" y="5497994"/>
            <a:ext cx="926569" cy="197584"/>
          </a:xfrm>
          <a:custGeom>
            <a:avLst/>
            <a:gdLst/>
            <a:ahLst/>
            <a:cxnLst/>
            <a:rect l="0" t="0" r="0" b="0"/>
            <a:pathLst>
              <a:path w="926569" h="197584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902474" y="0"/>
                </a:moveTo>
                <a:lnTo>
                  <a:pt x="24095" y="0"/>
                </a:lnTo>
                <a:moveTo>
                  <a:pt x="926569" y="173488"/>
                </a:moveTo>
                <a:cubicBezTo>
                  <a:pt x="926569" y="186796"/>
                  <a:pt x="915782" y="197584"/>
                  <a:pt x="902474" y="197584"/>
                </a:cubicBezTo>
                <a:moveTo>
                  <a:pt x="902474" y="0"/>
                </a:moveTo>
                <a:cubicBezTo>
                  <a:pt x="915782" y="0"/>
                  <a:pt x="926569" y="10787"/>
                  <a:pt x="926569" y="24095"/>
                </a:cubicBezTo>
                <a:moveTo>
                  <a:pt x="0" y="173488"/>
                </a:moveTo>
                <a:lnTo>
                  <a:pt x="0" y="24095"/>
                </a:lnTo>
                <a:moveTo>
                  <a:pt x="926569" y="173488"/>
                </a:moveTo>
                <a:lnTo>
                  <a:pt x="926569" y="24095"/>
                </a:lnTo>
                <a:moveTo>
                  <a:pt x="24095" y="197584"/>
                </a:moveTo>
                <a:lnTo>
                  <a:pt x="902474" y="197584"/>
                </a:lnTo>
                <a:moveTo>
                  <a:pt x="24095" y="197584"/>
                </a:moveTo>
                <a:cubicBezTo>
                  <a:pt x="10787" y="197584"/>
                  <a:pt x="0" y="186796"/>
                  <a:pt x="0" y="173488"/>
                </a:cubicBezTo>
              </a:path>
            </a:pathLst>
          </a:custGeom>
          <a:noFill/>
          <a:ln w="16063">
            <a:solidFill>
              <a:srgbClr val="92BD39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Rounded Rectangle 17">
            <a:extLst>
              <a:ext uri="{FF2B5EF4-FFF2-40B4-BE49-F238E27FC236}">
                <a16:creationId xmlns:a16="http://schemas.microsoft.com/office/drawing/2014/main" id="{4BA39A3D-76FC-CFB0-247B-FA658F79CF0A}"/>
              </a:ext>
            </a:extLst>
          </p:cNvPr>
          <p:cNvSpPr/>
          <p:nvPr/>
        </p:nvSpPr>
        <p:spPr>
          <a:xfrm>
            <a:off x="3430917" y="3324564"/>
            <a:ext cx="929581" cy="539787"/>
          </a:xfrm>
          <a:custGeom>
            <a:avLst/>
            <a:gdLst/>
            <a:ahLst/>
            <a:cxnLst/>
            <a:rect l="0" t="0" r="0" b="0"/>
            <a:pathLst>
              <a:path w="929581" h="539787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905485" y="0"/>
                </a:moveTo>
                <a:lnTo>
                  <a:pt x="24095" y="0"/>
                </a:lnTo>
                <a:moveTo>
                  <a:pt x="929581" y="515692"/>
                </a:moveTo>
                <a:cubicBezTo>
                  <a:pt x="929581" y="529000"/>
                  <a:pt x="918794" y="539787"/>
                  <a:pt x="905485" y="539787"/>
                </a:cubicBezTo>
                <a:moveTo>
                  <a:pt x="905485" y="0"/>
                </a:moveTo>
                <a:cubicBezTo>
                  <a:pt x="918794" y="0"/>
                  <a:pt x="929581" y="10787"/>
                  <a:pt x="929581" y="24095"/>
                </a:cubicBezTo>
                <a:moveTo>
                  <a:pt x="0" y="515692"/>
                </a:moveTo>
                <a:lnTo>
                  <a:pt x="0" y="24095"/>
                </a:lnTo>
                <a:moveTo>
                  <a:pt x="929581" y="515692"/>
                </a:moveTo>
                <a:lnTo>
                  <a:pt x="929581" y="24095"/>
                </a:lnTo>
                <a:moveTo>
                  <a:pt x="24095" y="539787"/>
                </a:moveTo>
                <a:lnTo>
                  <a:pt x="905485" y="539787"/>
                </a:lnTo>
                <a:moveTo>
                  <a:pt x="24095" y="539787"/>
                </a:moveTo>
                <a:cubicBezTo>
                  <a:pt x="10787" y="539787"/>
                  <a:pt x="0" y="529000"/>
                  <a:pt x="0" y="515692"/>
                </a:cubicBezTo>
              </a:path>
            </a:pathLst>
          </a:custGeom>
          <a:noFill/>
          <a:ln w="16063">
            <a:solidFill>
              <a:srgbClr val="A3A3A3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6" name="Rounded Rectangle 18">
            <a:extLst>
              <a:ext uri="{FF2B5EF4-FFF2-40B4-BE49-F238E27FC236}">
                <a16:creationId xmlns:a16="http://schemas.microsoft.com/office/drawing/2014/main" id="{7D0BA200-DD23-B125-4E81-CFD7BBC5990E}"/>
              </a:ext>
            </a:extLst>
          </p:cNvPr>
          <p:cNvSpPr/>
          <p:nvPr/>
        </p:nvSpPr>
        <p:spPr>
          <a:xfrm>
            <a:off x="5131560" y="2032256"/>
            <a:ext cx="875366" cy="391978"/>
          </a:xfrm>
          <a:custGeom>
            <a:avLst/>
            <a:gdLst/>
            <a:ahLst/>
            <a:cxnLst/>
            <a:rect l="0" t="0" r="0" b="0"/>
            <a:pathLst>
              <a:path w="875366" h="391978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851270" y="0"/>
                </a:moveTo>
                <a:lnTo>
                  <a:pt x="24095" y="0"/>
                </a:lnTo>
                <a:moveTo>
                  <a:pt x="875366" y="367882"/>
                </a:moveTo>
                <a:cubicBezTo>
                  <a:pt x="875366" y="381190"/>
                  <a:pt x="864578" y="391978"/>
                  <a:pt x="851270" y="391978"/>
                </a:cubicBezTo>
                <a:moveTo>
                  <a:pt x="851270" y="0"/>
                </a:moveTo>
                <a:cubicBezTo>
                  <a:pt x="864578" y="0"/>
                  <a:pt x="875366" y="10787"/>
                  <a:pt x="875366" y="24095"/>
                </a:cubicBezTo>
                <a:moveTo>
                  <a:pt x="0" y="367882"/>
                </a:moveTo>
                <a:lnTo>
                  <a:pt x="0" y="24095"/>
                </a:lnTo>
                <a:moveTo>
                  <a:pt x="875366" y="367882"/>
                </a:moveTo>
                <a:lnTo>
                  <a:pt x="875366" y="24095"/>
                </a:lnTo>
                <a:moveTo>
                  <a:pt x="24095" y="391978"/>
                </a:moveTo>
                <a:lnTo>
                  <a:pt x="851270" y="391978"/>
                </a:lnTo>
                <a:moveTo>
                  <a:pt x="24095" y="391978"/>
                </a:moveTo>
                <a:cubicBezTo>
                  <a:pt x="10787" y="391978"/>
                  <a:pt x="0" y="381190"/>
                  <a:pt x="0" y="367882"/>
                </a:cubicBezTo>
              </a:path>
            </a:pathLst>
          </a:custGeom>
          <a:noFill/>
          <a:ln w="16063">
            <a:solidFill>
              <a:schemeClr val="bg2">
                <a:lumMod val="50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7" name="Rounded Rectangle 19">
            <a:extLst>
              <a:ext uri="{FF2B5EF4-FFF2-40B4-BE49-F238E27FC236}">
                <a16:creationId xmlns:a16="http://schemas.microsoft.com/office/drawing/2014/main" id="{13147969-CDFF-EEA8-F1C9-54C7D3A07E0F}"/>
              </a:ext>
            </a:extLst>
          </p:cNvPr>
          <p:cNvSpPr/>
          <p:nvPr/>
        </p:nvSpPr>
        <p:spPr>
          <a:xfrm>
            <a:off x="6296075" y="1982469"/>
            <a:ext cx="618118" cy="197584"/>
          </a:xfrm>
          <a:custGeom>
            <a:avLst/>
            <a:gdLst/>
            <a:ahLst/>
            <a:cxnLst/>
            <a:rect l="0" t="0" r="0" b="0"/>
            <a:pathLst>
              <a:path w="618118" h="197584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594022" y="0"/>
                </a:moveTo>
                <a:lnTo>
                  <a:pt x="24095" y="0"/>
                </a:lnTo>
                <a:moveTo>
                  <a:pt x="618118" y="173488"/>
                </a:moveTo>
                <a:cubicBezTo>
                  <a:pt x="618118" y="186796"/>
                  <a:pt x="607330" y="197584"/>
                  <a:pt x="594022" y="197584"/>
                </a:cubicBezTo>
                <a:moveTo>
                  <a:pt x="594022" y="0"/>
                </a:moveTo>
                <a:cubicBezTo>
                  <a:pt x="607330" y="0"/>
                  <a:pt x="618118" y="10787"/>
                  <a:pt x="618118" y="24095"/>
                </a:cubicBezTo>
                <a:moveTo>
                  <a:pt x="0" y="173488"/>
                </a:moveTo>
                <a:lnTo>
                  <a:pt x="0" y="24095"/>
                </a:lnTo>
                <a:moveTo>
                  <a:pt x="618118" y="173488"/>
                </a:moveTo>
                <a:lnTo>
                  <a:pt x="618118" y="24095"/>
                </a:lnTo>
                <a:moveTo>
                  <a:pt x="24095" y="197584"/>
                </a:moveTo>
                <a:lnTo>
                  <a:pt x="594022" y="197584"/>
                </a:lnTo>
                <a:moveTo>
                  <a:pt x="24095" y="197584"/>
                </a:moveTo>
                <a:cubicBezTo>
                  <a:pt x="10787" y="197584"/>
                  <a:pt x="0" y="186796"/>
                  <a:pt x="0" y="173488"/>
                </a:cubicBezTo>
              </a:path>
            </a:pathLst>
          </a:custGeom>
          <a:noFill/>
          <a:ln w="16063">
            <a:solidFill>
              <a:schemeClr val="bg2">
                <a:lumMod val="50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8" name="Rounded Rectangle 20">
            <a:extLst>
              <a:ext uri="{FF2B5EF4-FFF2-40B4-BE49-F238E27FC236}">
                <a16:creationId xmlns:a16="http://schemas.microsoft.com/office/drawing/2014/main" id="{A2086C93-210C-2853-70F9-8E2CE8075BEE}"/>
              </a:ext>
            </a:extLst>
          </p:cNvPr>
          <p:cNvSpPr/>
          <p:nvPr/>
        </p:nvSpPr>
        <p:spPr>
          <a:xfrm>
            <a:off x="6296075" y="2276437"/>
            <a:ext cx="721866" cy="197584"/>
          </a:xfrm>
          <a:custGeom>
            <a:avLst/>
            <a:gdLst/>
            <a:ahLst/>
            <a:cxnLst/>
            <a:rect l="0" t="0" r="0" b="0"/>
            <a:pathLst>
              <a:path w="721866" h="197584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697770" y="0"/>
                </a:moveTo>
                <a:lnTo>
                  <a:pt x="24095" y="0"/>
                </a:lnTo>
                <a:moveTo>
                  <a:pt x="721866" y="173488"/>
                </a:moveTo>
                <a:cubicBezTo>
                  <a:pt x="721866" y="186796"/>
                  <a:pt x="711078" y="197584"/>
                  <a:pt x="697770" y="197584"/>
                </a:cubicBezTo>
                <a:moveTo>
                  <a:pt x="697770" y="0"/>
                </a:moveTo>
                <a:cubicBezTo>
                  <a:pt x="711078" y="0"/>
                  <a:pt x="721866" y="10787"/>
                  <a:pt x="721866" y="24095"/>
                </a:cubicBezTo>
                <a:moveTo>
                  <a:pt x="0" y="173488"/>
                </a:moveTo>
                <a:lnTo>
                  <a:pt x="0" y="24095"/>
                </a:lnTo>
                <a:moveTo>
                  <a:pt x="721866" y="173488"/>
                </a:moveTo>
                <a:lnTo>
                  <a:pt x="721866" y="24095"/>
                </a:lnTo>
                <a:moveTo>
                  <a:pt x="24095" y="197584"/>
                </a:moveTo>
                <a:lnTo>
                  <a:pt x="697770" y="197584"/>
                </a:lnTo>
                <a:moveTo>
                  <a:pt x="24095" y="197584"/>
                </a:moveTo>
                <a:cubicBezTo>
                  <a:pt x="10787" y="197584"/>
                  <a:pt x="0" y="186796"/>
                  <a:pt x="0" y="173488"/>
                </a:cubicBezTo>
              </a:path>
            </a:pathLst>
          </a:custGeom>
          <a:noFill/>
          <a:ln w="16063">
            <a:solidFill>
              <a:schemeClr val="bg2">
                <a:lumMod val="50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9" name="Rounded Rectangle 21">
            <a:extLst>
              <a:ext uri="{FF2B5EF4-FFF2-40B4-BE49-F238E27FC236}">
                <a16:creationId xmlns:a16="http://schemas.microsoft.com/office/drawing/2014/main" id="{65FA8650-E6C4-F9B8-B90A-06AE11B8CAE9}"/>
              </a:ext>
            </a:extLst>
          </p:cNvPr>
          <p:cNvSpPr/>
          <p:nvPr/>
        </p:nvSpPr>
        <p:spPr>
          <a:xfrm>
            <a:off x="5131560" y="2959928"/>
            <a:ext cx="875366" cy="391978"/>
          </a:xfrm>
          <a:custGeom>
            <a:avLst/>
            <a:gdLst/>
            <a:ahLst/>
            <a:cxnLst/>
            <a:rect l="0" t="0" r="0" b="0"/>
            <a:pathLst>
              <a:path w="875366" h="391978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851270" y="0"/>
                </a:moveTo>
                <a:lnTo>
                  <a:pt x="24095" y="0"/>
                </a:lnTo>
                <a:moveTo>
                  <a:pt x="875366" y="367883"/>
                </a:moveTo>
                <a:cubicBezTo>
                  <a:pt x="875366" y="381191"/>
                  <a:pt x="864578" y="391978"/>
                  <a:pt x="851270" y="391978"/>
                </a:cubicBezTo>
                <a:moveTo>
                  <a:pt x="851270" y="0"/>
                </a:moveTo>
                <a:cubicBezTo>
                  <a:pt x="864578" y="0"/>
                  <a:pt x="875366" y="10787"/>
                  <a:pt x="875366" y="24095"/>
                </a:cubicBezTo>
                <a:moveTo>
                  <a:pt x="0" y="367883"/>
                </a:moveTo>
                <a:lnTo>
                  <a:pt x="0" y="24095"/>
                </a:lnTo>
                <a:moveTo>
                  <a:pt x="875366" y="367883"/>
                </a:moveTo>
                <a:lnTo>
                  <a:pt x="875366" y="24095"/>
                </a:lnTo>
                <a:moveTo>
                  <a:pt x="24095" y="391978"/>
                </a:moveTo>
                <a:lnTo>
                  <a:pt x="851270" y="391978"/>
                </a:lnTo>
                <a:moveTo>
                  <a:pt x="24095" y="391978"/>
                </a:moveTo>
                <a:cubicBezTo>
                  <a:pt x="10787" y="391978"/>
                  <a:pt x="0" y="381191"/>
                  <a:pt x="0" y="367883"/>
                </a:cubicBezTo>
              </a:path>
            </a:pathLst>
          </a:custGeom>
          <a:noFill/>
          <a:ln w="16063">
            <a:solidFill>
              <a:schemeClr val="tx2">
                <a:lumMod val="75000"/>
                <a:lumOff val="25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0" name="Rounded Rectangle 22">
            <a:extLst>
              <a:ext uri="{FF2B5EF4-FFF2-40B4-BE49-F238E27FC236}">
                <a16:creationId xmlns:a16="http://schemas.microsoft.com/office/drawing/2014/main" id="{514CE204-CAF2-5213-4D57-6F5554273038}"/>
              </a:ext>
            </a:extLst>
          </p:cNvPr>
          <p:cNvSpPr/>
          <p:nvPr/>
        </p:nvSpPr>
        <p:spPr>
          <a:xfrm>
            <a:off x="6296075" y="2859552"/>
            <a:ext cx="635295" cy="298763"/>
          </a:xfrm>
          <a:custGeom>
            <a:avLst/>
            <a:gdLst/>
            <a:ahLst/>
            <a:cxnLst/>
            <a:rect l="0" t="0" r="0" b="0"/>
            <a:pathLst>
              <a:path w="635295" h="298763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611200" y="0"/>
                </a:moveTo>
                <a:lnTo>
                  <a:pt x="24095" y="0"/>
                </a:lnTo>
                <a:moveTo>
                  <a:pt x="635295" y="274668"/>
                </a:moveTo>
                <a:cubicBezTo>
                  <a:pt x="635295" y="287976"/>
                  <a:pt x="624508" y="298763"/>
                  <a:pt x="611200" y="298763"/>
                </a:cubicBezTo>
                <a:moveTo>
                  <a:pt x="611200" y="0"/>
                </a:moveTo>
                <a:cubicBezTo>
                  <a:pt x="624508" y="0"/>
                  <a:pt x="635295" y="10787"/>
                  <a:pt x="635295" y="24095"/>
                </a:cubicBezTo>
                <a:moveTo>
                  <a:pt x="0" y="274668"/>
                </a:moveTo>
                <a:lnTo>
                  <a:pt x="0" y="24095"/>
                </a:lnTo>
                <a:moveTo>
                  <a:pt x="635295" y="274668"/>
                </a:moveTo>
                <a:lnTo>
                  <a:pt x="635295" y="24095"/>
                </a:lnTo>
                <a:moveTo>
                  <a:pt x="24095" y="298763"/>
                </a:moveTo>
                <a:lnTo>
                  <a:pt x="611200" y="298763"/>
                </a:lnTo>
                <a:moveTo>
                  <a:pt x="24095" y="298763"/>
                </a:moveTo>
                <a:cubicBezTo>
                  <a:pt x="10787" y="298763"/>
                  <a:pt x="0" y="287976"/>
                  <a:pt x="0" y="274668"/>
                </a:cubicBezTo>
              </a:path>
            </a:pathLst>
          </a:custGeom>
          <a:noFill/>
          <a:ln w="16063">
            <a:solidFill>
              <a:schemeClr val="tx1">
                <a:lumMod val="75000"/>
                <a:lumOff val="25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1" name="Rounded Rectangle 23">
            <a:extLst>
              <a:ext uri="{FF2B5EF4-FFF2-40B4-BE49-F238E27FC236}">
                <a16:creationId xmlns:a16="http://schemas.microsoft.com/office/drawing/2014/main" id="{A2E8FFE0-9260-3FDC-A31A-7AC5C64FB5B0}"/>
              </a:ext>
            </a:extLst>
          </p:cNvPr>
          <p:cNvSpPr/>
          <p:nvPr/>
        </p:nvSpPr>
        <p:spPr>
          <a:xfrm>
            <a:off x="6296075" y="3254699"/>
            <a:ext cx="657720" cy="197584"/>
          </a:xfrm>
          <a:custGeom>
            <a:avLst/>
            <a:gdLst/>
            <a:ahLst/>
            <a:cxnLst/>
            <a:rect l="0" t="0" r="0" b="0"/>
            <a:pathLst>
              <a:path w="657720" h="197584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633625" y="0"/>
                </a:moveTo>
                <a:lnTo>
                  <a:pt x="24095" y="0"/>
                </a:lnTo>
                <a:moveTo>
                  <a:pt x="657720" y="173488"/>
                </a:moveTo>
                <a:cubicBezTo>
                  <a:pt x="657720" y="186796"/>
                  <a:pt x="646933" y="197584"/>
                  <a:pt x="633625" y="197584"/>
                </a:cubicBezTo>
                <a:moveTo>
                  <a:pt x="633625" y="0"/>
                </a:moveTo>
                <a:cubicBezTo>
                  <a:pt x="646933" y="0"/>
                  <a:pt x="657720" y="10787"/>
                  <a:pt x="657720" y="24095"/>
                </a:cubicBezTo>
                <a:moveTo>
                  <a:pt x="0" y="173488"/>
                </a:moveTo>
                <a:lnTo>
                  <a:pt x="0" y="24095"/>
                </a:lnTo>
                <a:moveTo>
                  <a:pt x="657720" y="173488"/>
                </a:moveTo>
                <a:lnTo>
                  <a:pt x="657720" y="24095"/>
                </a:lnTo>
                <a:moveTo>
                  <a:pt x="24095" y="197584"/>
                </a:moveTo>
                <a:lnTo>
                  <a:pt x="633625" y="197584"/>
                </a:lnTo>
                <a:moveTo>
                  <a:pt x="24095" y="197584"/>
                </a:moveTo>
                <a:cubicBezTo>
                  <a:pt x="10787" y="197584"/>
                  <a:pt x="0" y="186796"/>
                  <a:pt x="0" y="173488"/>
                </a:cubicBezTo>
              </a:path>
            </a:pathLst>
          </a:custGeom>
          <a:noFill/>
          <a:ln w="16063">
            <a:solidFill>
              <a:schemeClr val="tx1">
                <a:lumMod val="75000"/>
                <a:lumOff val="25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2" name="Rounded Rectangle 24">
            <a:extLst>
              <a:ext uri="{FF2B5EF4-FFF2-40B4-BE49-F238E27FC236}">
                <a16:creationId xmlns:a16="http://schemas.microsoft.com/office/drawing/2014/main" id="{DB47656E-C3D8-C89F-6CAE-927759662CB0}"/>
              </a:ext>
            </a:extLst>
          </p:cNvPr>
          <p:cNvSpPr/>
          <p:nvPr/>
        </p:nvSpPr>
        <p:spPr>
          <a:xfrm>
            <a:off x="5131560" y="3945441"/>
            <a:ext cx="600156" cy="276297"/>
          </a:xfrm>
          <a:custGeom>
            <a:avLst/>
            <a:gdLst/>
            <a:ahLst/>
            <a:cxnLst/>
            <a:rect l="0" t="0" r="0" b="0"/>
            <a:pathLst>
              <a:path w="600156" h="276297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576060" y="0"/>
                </a:moveTo>
                <a:lnTo>
                  <a:pt x="24095" y="0"/>
                </a:lnTo>
                <a:moveTo>
                  <a:pt x="600156" y="252201"/>
                </a:moveTo>
                <a:cubicBezTo>
                  <a:pt x="600156" y="265509"/>
                  <a:pt x="589368" y="276297"/>
                  <a:pt x="576060" y="276297"/>
                </a:cubicBezTo>
                <a:moveTo>
                  <a:pt x="576060" y="0"/>
                </a:moveTo>
                <a:cubicBezTo>
                  <a:pt x="589368" y="0"/>
                  <a:pt x="600156" y="10787"/>
                  <a:pt x="600156" y="24095"/>
                </a:cubicBezTo>
                <a:moveTo>
                  <a:pt x="0" y="252201"/>
                </a:moveTo>
                <a:lnTo>
                  <a:pt x="0" y="24095"/>
                </a:lnTo>
                <a:moveTo>
                  <a:pt x="600156" y="252201"/>
                </a:moveTo>
                <a:lnTo>
                  <a:pt x="600156" y="24095"/>
                </a:lnTo>
                <a:moveTo>
                  <a:pt x="24095" y="276297"/>
                </a:moveTo>
                <a:lnTo>
                  <a:pt x="576060" y="276297"/>
                </a:lnTo>
                <a:moveTo>
                  <a:pt x="24095" y="276297"/>
                </a:moveTo>
                <a:cubicBezTo>
                  <a:pt x="10787" y="276297"/>
                  <a:pt x="0" y="265509"/>
                  <a:pt x="0" y="252201"/>
                </a:cubicBezTo>
              </a:path>
            </a:pathLst>
          </a:custGeom>
          <a:noFill/>
          <a:ln w="16063">
            <a:solidFill>
              <a:srgbClr val="4E88E7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3" name="Rounded Rectangle 25">
            <a:extLst>
              <a:ext uri="{FF2B5EF4-FFF2-40B4-BE49-F238E27FC236}">
                <a16:creationId xmlns:a16="http://schemas.microsoft.com/office/drawing/2014/main" id="{3624E002-FF73-6D6A-C650-0F52A45CF12A}"/>
              </a:ext>
            </a:extLst>
          </p:cNvPr>
          <p:cNvSpPr/>
          <p:nvPr/>
        </p:nvSpPr>
        <p:spPr>
          <a:xfrm>
            <a:off x="6020865" y="3837814"/>
            <a:ext cx="873915" cy="197584"/>
          </a:xfrm>
          <a:custGeom>
            <a:avLst/>
            <a:gdLst/>
            <a:ahLst/>
            <a:cxnLst/>
            <a:rect l="0" t="0" r="0" b="0"/>
            <a:pathLst>
              <a:path w="873915" h="197584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849819" y="0"/>
                </a:moveTo>
                <a:lnTo>
                  <a:pt x="24095" y="0"/>
                </a:lnTo>
                <a:moveTo>
                  <a:pt x="873915" y="173488"/>
                </a:moveTo>
                <a:cubicBezTo>
                  <a:pt x="873915" y="186796"/>
                  <a:pt x="863127" y="197584"/>
                  <a:pt x="849819" y="197584"/>
                </a:cubicBezTo>
                <a:moveTo>
                  <a:pt x="849819" y="0"/>
                </a:moveTo>
                <a:cubicBezTo>
                  <a:pt x="863127" y="0"/>
                  <a:pt x="873915" y="10787"/>
                  <a:pt x="873915" y="24095"/>
                </a:cubicBezTo>
                <a:moveTo>
                  <a:pt x="0" y="173488"/>
                </a:moveTo>
                <a:lnTo>
                  <a:pt x="0" y="24095"/>
                </a:lnTo>
                <a:moveTo>
                  <a:pt x="873915" y="173488"/>
                </a:moveTo>
                <a:lnTo>
                  <a:pt x="873915" y="24095"/>
                </a:lnTo>
                <a:moveTo>
                  <a:pt x="24095" y="197584"/>
                </a:moveTo>
                <a:lnTo>
                  <a:pt x="849819" y="197584"/>
                </a:lnTo>
                <a:moveTo>
                  <a:pt x="24095" y="197584"/>
                </a:moveTo>
                <a:cubicBezTo>
                  <a:pt x="10787" y="197584"/>
                  <a:pt x="0" y="186796"/>
                  <a:pt x="0" y="173488"/>
                </a:cubicBezTo>
              </a:path>
            </a:pathLst>
          </a:custGeom>
          <a:noFill/>
          <a:ln w="16063">
            <a:solidFill>
              <a:srgbClr val="4E88E7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4" name="Rounded Rectangle 26">
            <a:extLst>
              <a:ext uri="{FF2B5EF4-FFF2-40B4-BE49-F238E27FC236}">
                <a16:creationId xmlns:a16="http://schemas.microsoft.com/office/drawing/2014/main" id="{D2F0569F-0179-9B0A-C15B-6E9BE130505B}"/>
              </a:ext>
            </a:extLst>
          </p:cNvPr>
          <p:cNvSpPr/>
          <p:nvPr/>
        </p:nvSpPr>
        <p:spPr>
          <a:xfrm>
            <a:off x="6020865" y="4131781"/>
            <a:ext cx="856400" cy="197584"/>
          </a:xfrm>
          <a:custGeom>
            <a:avLst/>
            <a:gdLst/>
            <a:ahLst/>
            <a:cxnLst/>
            <a:rect l="0" t="0" r="0" b="0"/>
            <a:pathLst>
              <a:path w="856400" h="197584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832304" y="0"/>
                </a:moveTo>
                <a:lnTo>
                  <a:pt x="24095" y="0"/>
                </a:lnTo>
                <a:moveTo>
                  <a:pt x="856400" y="173488"/>
                </a:moveTo>
                <a:cubicBezTo>
                  <a:pt x="856400" y="186796"/>
                  <a:pt x="845612" y="197584"/>
                  <a:pt x="832304" y="197584"/>
                </a:cubicBezTo>
                <a:moveTo>
                  <a:pt x="832304" y="0"/>
                </a:moveTo>
                <a:cubicBezTo>
                  <a:pt x="845612" y="0"/>
                  <a:pt x="856400" y="10787"/>
                  <a:pt x="856400" y="24095"/>
                </a:cubicBezTo>
                <a:moveTo>
                  <a:pt x="0" y="173488"/>
                </a:moveTo>
                <a:lnTo>
                  <a:pt x="0" y="24095"/>
                </a:lnTo>
                <a:moveTo>
                  <a:pt x="856400" y="173488"/>
                </a:moveTo>
                <a:lnTo>
                  <a:pt x="856400" y="24095"/>
                </a:lnTo>
                <a:moveTo>
                  <a:pt x="24095" y="197584"/>
                </a:moveTo>
                <a:lnTo>
                  <a:pt x="832304" y="197584"/>
                </a:lnTo>
                <a:moveTo>
                  <a:pt x="24095" y="197584"/>
                </a:moveTo>
                <a:cubicBezTo>
                  <a:pt x="10787" y="197584"/>
                  <a:pt x="0" y="186796"/>
                  <a:pt x="0" y="173488"/>
                </a:cubicBezTo>
              </a:path>
            </a:pathLst>
          </a:custGeom>
          <a:noFill/>
          <a:ln w="16063">
            <a:solidFill>
              <a:srgbClr val="4E88E7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" name="Rounded Rectangle 27">
            <a:extLst>
              <a:ext uri="{FF2B5EF4-FFF2-40B4-BE49-F238E27FC236}">
                <a16:creationId xmlns:a16="http://schemas.microsoft.com/office/drawing/2014/main" id="{3BBC88F2-13CA-3374-558A-C6519C03A365}"/>
              </a:ext>
            </a:extLst>
          </p:cNvPr>
          <p:cNvSpPr/>
          <p:nvPr/>
        </p:nvSpPr>
        <p:spPr>
          <a:xfrm>
            <a:off x="5131560" y="4764682"/>
            <a:ext cx="772175" cy="391978"/>
          </a:xfrm>
          <a:custGeom>
            <a:avLst/>
            <a:gdLst/>
            <a:ahLst/>
            <a:cxnLst/>
            <a:rect l="0" t="0" r="0" b="0"/>
            <a:pathLst>
              <a:path w="772175" h="391978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748079" y="0"/>
                </a:moveTo>
                <a:lnTo>
                  <a:pt x="24095" y="0"/>
                </a:lnTo>
                <a:moveTo>
                  <a:pt x="772175" y="367882"/>
                </a:moveTo>
                <a:cubicBezTo>
                  <a:pt x="772175" y="381190"/>
                  <a:pt x="761387" y="391978"/>
                  <a:pt x="748079" y="391978"/>
                </a:cubicBezTo>
                <a:moveTo>
                  <a:pt x="748079" y="0"/>
                </a:moveTo>
                <a:cubicBezTo>
                  <a:pt x="761387" y="0"/>
                  <a:pt x="772175" y="10787"/>
                  <a:pt x="772175" y="24095"/>
                </a:cubicBezTo>
                <a:moveTo>
                  <a:pt x="0" y="367882"/>
                </a:moveTo>
                <a:lnTo>
                  <a:pt x="0" y="24095"/>
                </a:lnTo>
                <a:moveTo>
                  <a:pt x="772175" y="367882"/>
                </a:moveTo>
                <a:lnTo>
                  <a:pt x="772175" y="24095"/>
                </a:lnTo>
                <a:moveTo>
                  <a:pt x="24095" y="391978"/>
                </a:moveTo>
                <a:lnTo>
                  <a:pt x="748079" y="391978"/>
                </a:lnTo>
                <a:moveTo>
                  <a:pt x="24095" y="391978"/>
                </a:moveTo>
                <a:cubicBezTo>
                  <a:pt x="10787" y="391978"/>
                  <a:pt x="0" y="381190"/>
                  <a:pt x="0" y="367882"/>
                </a:cubicBezTo>
              </a:path>
            </a:pathLst>
          </a:custGeom>
          <a:noFill/>
          <a:ln w="16063">
            <a:solidFill>
              <a:srgbClr val="3CC583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6" name="Rounded Rectangle 28">
            <a:extLst>
              <a:ext uri="{FF2B5EF4-FFF2-40B4-BE49-F238E27FC236}">
                <a16:creationId xmlns:a16="http://schemas.microsoft.com/office/drawing/2014/main" id="{485977F8-232F-0370-562C-544AECF737A9}"/>
              </a:ext>
            </a:extLst>
          </p:cNvPr>
          <p:cNvSpPr/>
          <p:nvPr/>
        </p:nvSpPr>
        <p:spPr>
          <a:xfrm>
            <a:off x="6192884" y="4714897"/>
            <a:ext cx="875813" cy="197584"/>
          </a:xfrm>
          <a:custGeom>
            <a:avLst/>
            <a:gdLst/>
            <a:ahLst/>
            <a:cxnLst/>
            <a:rect l="0" t="0" r="0" b="0"/>
            <a:pathLst>
              <a:path w="875813" h="197584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851717" y="0"/>
                </a:moveTo>
                <a:lnTo>
                  <a:pt x="24095" y="0"/>
                </a:lnTo>
                <a:moveTo>
                  <a:pt x="875813" y="173488"/>
                </a:moveTo>
                <a:cubicBezTo>
                  <a:pt x="875813" y="186796"/>
                  <a:pt x="865025" y="197584"/>
                  <a:pt x="851717" y="197584"/>
                </a:cubicBezTo>
                <a:moveTo>
                  <a:pt x="851717" y="0"/>
                </a:moveTo>
                <a:cubicBezTo>
                  <a:pt x="865025" y="0"/>
                  <a:pt x="875813" y="10787"/>
                  <a:pt x="875813" y="24095"/>
                </a:cubicBezTo>
                <a:moveTo>
                  <a:pt x="0" y="173488"/>
                </a:moveTo>
                <a:lnTo>
                  <a:pt x="0" y="24095"/>
                </a:lnTo>
                <a:moveTo>
                  <a:pt x="875813" y="173488"/>
                </a:moveTo>
                <a:lnTo>
                  <a:pt x="875813" y="24095"/>
                </a:lnTo>
                <a:moveTo>
                  <a:pt x="24095" y="197584"/>
                </a:moveTo>
                <a:lnTo>
                  <a:pt x="851717" y="197584"/>
                </a:lnTo>
                <a:moveTo>
                  <a:pt x="24095" y="197584"/>
                </a:moveTo>
                <a:cubicBezTo>
                  <a:pt x="10787" y="197584"/>
                  <a:pt x="0" y="186796"/>
                  <a:pt x="0" y="173488"/>
                </a:cubicBezTo>
              </a:path>
            </a:pathLst>
          </a:custGeom>
          <a:noFill/>
          <a:ln w="16063">
            <a:solidFill>
              <a:srgbClr val="3CC583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7" name="Rounded Rectangle 29">
            <a:extLst>
              <a:ext uri="{FF2B5EF4-FFF2-40B4-BE49-F238E27FC236}">
                <a16:creationId xmlns:a16="http://schemas.microsoft.com/office/drawing/2014/main" id="{4912334E-D21C-1B4F-DEA4-98B8133D5200}"/>
              </a:ext>
            </a:extLst>
          </p:cNvPr>
          <p:cNvSpPr/>
          <p:nvPr/>
        </p:nvSpPr>
        <p:spPr>
          <a:xfrm>
            <a:off x="6192884" y="5008863"/>
            <a:ext cx="756895" cy="197584"/>
          </a:xfrm>
          <a:custGeom>
            <a:avLst/>
            <a:gdLst/>
            <a:ahLst/>
            <a:cxnLst/>
            <a:rect l="0" t="0" r="0" b="0"/>
            <a:pathLst>
              <a:path w="756895" h="197584">
                <a:moveTo>
                  <a:pt x="24095" y="0"/>
                </a:moveTo>
                <a:cubicBezTo>
                  <a:pt x="10787" y="0"/>
                  <a:pt x="0" y="10787"/>
                  <a:pt x="0" y="24095"/>
                </a:cubicBezTo>
                <a:moveTo>
                  <a:pt x="732800" y="0"/>
                </a:moveTo>
                <a:lnTo>
                  <a:pt x="24095" y="0"/>
                </a:lnTo>
                <a:moveTo>
                  <a:pt x="756895" y="173488"/>
                </a:moveTo>
                <a:cubicBezTo>
                  <a:pt x="756895" y="186796"/>
                  <a:pt x="746108" y="197584"/>
                  <a:pt x="732800" y="197584"/>
                </a:cubicBezTo>
                <a:moveTo>
                  <a:pt x="732800" y="0"/>
                </a:moveTo>
                <a:cubicBezTo>
                  <a:pt x="746108" y="0"/>
                  <a:pt x="756895" y="10787"/>
                  <a:pt x="756895" y="24095"/>
                </a:cubicBezTo>
                <a:moveTo>
                  <a:pt x="0" y="173488"/>
                </a:moveTo>
                <a:lnTo>
                  <a:pt x="0" y="24095"/>
                </a:lnTo>
                <a:moveTo>
                  <a:pt x="756895" y="173488"/>
                </a:moveTo>
                <a:lnTo>
                  <a:pt x="756895" y="24095"/>
                </a:lnTo>
                <a:moveTo>
                  <a:pt x="24095" y="197584"/>
                </a:moveTo>
                <a:lnTo>
                  <a:pt x="732800" y="197584"/>
                </a:lnTo>
                <a:moveTo>
                  <a:pt x="24095" y="197584"/>
                </a:moveTo>
                <a:cubicBezTo>
                  <a:pt x="10787" y="197584"/>
                  <a:pt x="0" y="186796"/>
                  <a:pt x="0" y="173488"/>
                </a:cubicBezTo>
              </a:path>
            </a:pathLst>
          </a:custGeom>
          <a:noFill/>
          <a:ln w="16063">
            <a:solidFill>
              <a:srgbClr val="3CC583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8" name="Rounded Rectangle 30">
            <a:extLst>
              <a:ext uri="{FF2B5EF4-FFF2-40B4-BE49-F238E27FC236}">
                <a16:creationId xmlns:a16="http://schemas.microsoft.com/office/drawing/2014/main" id="{43111A16-413C-D97C-DFC5-8F3F587D958F}"/>
              </a:ext>
            </a:extLst>
          </p:cNvPr>
          <p:cNvSpPr/>
          <p:nvPr/>
        </p:nvSpPr>
        <p:spPr>
          <a:xfrm>
            <a:off x="2708047" y="1789704"/>
            <a:ext cx="674678" cy="3609508"/>
          </a:xfrm>
          <a:custGeom>
            <a:avLst/>
            <a:gdLst/>
            <a:ahLst/>
            <a:cxnLst/>
            <a:rect l="0" t="0" r="0" b="0"/>
            <a:pathLst>
              <a:path w="674678" h="3609508">
                <a:moveTo>
                  <a:pt x="674678" y="1804754"/>
                </a:moveTo>
                <a:lnTo>
                  <a:pt x="337339" y="1804754"/>
                </a:lnTo>
                <a:moveTo>
                  <a:pt x="0" y="3609508"/>
                </a:moveTo>
                <a:lnTo>
                  <a:pt x="337339" y="3609508"/>
                </a:lnTo>
                <a:lnTo>
                  <a:pt x="337339" y="0"/>
                </a:lnTo>
                <a:lnTo>
                  <a:pt x="0" y="0"/>
                </a:lnTo>
                <a:moveTo>
                  <a:pt x="337339" y="927672"/>
                </a:moveTo>
                <a:lnTo>
                  <a:pt x="0" y="927672"/>
                </a:lnTo>
                <a:moveTo>
                  <a:pt x="337339" y="1804754"/>
                </a:moveTo>
                <a:lnTo>
                  <a:pt x="0" y="1804754"/>
                </a:lnTo>
                <a:moveTo>
                  <a:pt x="337339" y="2681836"/>
                </a:moveTo>
                <a:lnTo>
                  <a:pt x="0" y="2681836"/>
                </a:lnTo>
              </a:path>
            </a:pathLst>
          </a:custGeom>
          <a:noFill/>
          <a:ln w="16063">
            <a:solidFill>
              <a:srgbClr val="484848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9" name="Rounded Rectangle 31">
            <a:extLst>
              <a:ext uri="{FF2B5EF4-FFF2-40B4-BE49-F238E27FC236}">
                <a16:creationId xmlns:a16="http://schemas.microsoft.com/office/drawing/2014/main" id="{E1E3F25F-80AE-6F26-FD4F-83B283570717}"/>
              </a:ext>
            </a:extLst>
          </p:cNvPr>
          <p:cNvSpPr/>
          <p:nvPr/>
        </p:nvSpPr>
        <p:spPr>
          <a:xfrm>
            <a:off x="4408690" y="2228246"/>
            <a:ext cx="674678" cy="2732426"/>
          </a:xfrm>
          <a:custGeom>
            <a:avLst/>
            <a:gdLst/>
            <a:ahLst/>
            <a:cxnLst/>
            <a:rect l="0" t="0" r="0" b="0"/>
            <a:pathLst>
              <a:path w="674678" h="2732426">
                <a:moveTo>
                  <a:pt x="0" y="1366213"/>
                </a:moveTo>
                <a:lnTo>
                  <a:pt x="337339" y="1366213"/>
                </a:lnTo>
                <a:moveTo>
                  <a:pt x="674678" y="0"/>
                </a:moveTo>
                <a:lnTo>
                  <a:pt x="337339" y="0"/>
                </a:lnTo>
                <a:lnTo>
                  <a:pt x="337339" y="2732426"/>
                </a:lnTo>
                <a:lnTo>
                  <a:pt x="674678" y="2732426"/>
                </a:lnTo>
                <a:moveTo>
                  <a:pt x="674678" y="927672"/>
                </a:moveTo>
                <a:lnTo>
                  <a:pt x="337339" y="927672"/>
                </a:lnTo>
                <a:moveTo>
                  <a:pt x="674678" y="1855344"/>
                </a:moveTo>
                <a:lnTo>
                  <a:pt x="337339" y="1855344"/>
                </a:lnTo>
              </a:path>
            </a:pathLst>
          </a:custGeom>
          <a:noFill/>
          <a:ln w="16063">
            <a:solidFill>
              <a:srgbClr val="484848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0" name="Rounded Rectangle 32">
            <a:extLst>
              <a:ext uri="{FF2B5EF4-FFF2-40B4-BE49-F238E27FC236}">
                <a16:creationId xmlns:a16="http://schemas.microsoft.com/office/drawing/2014/main" id="{BF3B1E43-12F8-A53A-D2DB-1FB73A3BA8C3}"/>
              </a:ext>
            </a:extLst>
          </p:cNvPr>
          <p:cNvSpPr/>
          <p:nvPr/>
        </p:nvSpPr>
        <p:spPr>
          <a:xfrm>
            <a:off x="1406880" y="1592130"/>
            <a:ext cx="192765" cy="344557"/>
          </a:xfrm>
          <a:custGeom>
            <a:avLst/>
            <a:gdLst/>
            <a:ahLst/>
            <a:cxnLst/>
            <a:rect l="0" t="0" r="0" b="0"/>
            <a:pathLst>
              <a:path w="192765" h="344557">
                <a:moveTo>
                  <a:pt x="192765" y="197573"/>
                </a:moveTo>
                <a:lnTo>
                  <a:pt x="96382" y="197573"/>
                </a:lnTo>
                <a:moveTo>
                  <a:pt x="0" y="344557"/>
                </a:moveTo>
                <a:lnTo>
                  <a:pt x="96382" y="344557"/>
                </a:lnTo>
                <a:lnTo>
                  <a:pt x="96382" y="0"/>
                </a:lnTo>
                <a:lnTo>
                  <a:pt x="0" y="0"/>
                </a:lnTo>
              </a:path>
            </a:pathLst>
          </a:custGeom>
          <a:noFill/>
          <a:ln w="16063">
            <a:solidFill>
              <a:schemeClr val="accent4">
                <a:lumMod val="75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1" name="Rounded Rectangle 33">
            <a:extLst>
              <a:ext uri="{FF2B5EF4-FFF2-40B4-BE49-F238E27FC236}">
                <a16:creationId xmlns:a16="http://schemas.microsoft.com/office/drawing/2014/main" id="{253572E8-B453-9C89-DC37-CBD0AD094357}"/>
              </a:ext>
            </a:extLst>
          </p:cNvPr>
          <p:cNvSpPr/>
          <p:nvPr/>
        </p:nvSpPr>
        <p:spPr>
          <a:xfrm>
            <a:off x="6055118" y="2081262"/>
            <a:ext cx="192765" cy="293967"/>
          </a:xfrm>
          <a:custGeom>
            <a:avLst/>
            <a:gdLst/>
            <a:ahLst/>
            <a:cxnLst/>
            <a:rect l="0" t="0" r="0" b="0"/>
            <a:pathLst>
              <a:path w="192765" h="293967">
                <a:moveTo>
                  <a:pt x="0" y="146983"/>
                </a:moveTo>
                <a:lnTo>
                  <a:pt x="96382" y="146983"/>
                </a:lnTo>
                <a:moveTo>
                  <a:pt x="192765" y="0"/>
                </a:moveTo>
                <a:lnTo>
                  <a:pt x="96382" y="0"/>
                </a:lnTo>
                <a:lnTo>
                  <a:pt x="96382" y="293967"/>
                </a:lnTo>
                <a:lnTo>
                  <a:pt x="192765" y="293967"/>
                </a:lnTo>
              </a:path>
            </a:pathLst>
          </a:custGeom>
          <a:noFill/>
          <a:ln w="16063">
            <a:solidFill>
              <a:schemeClr val="bg2">
                <a:lumMod val="50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2" name="Rounded Rectangle 34">
            <a:extLst>
              <a:ext uri="{FF2B5EF4-FFF2-40B4-BE49-F238E27FC236}">
                <a16:creationId xmlns:a16="http://schemas.microsoft.com/office/drawing/2014/main" id="{29A603FE-3519-F692-8D2A-5239475D8083}"/>
              </a:ext>
            </a:extLst>
          </p:cNvPr>
          <p:cNvSpPr/>
          <p:nvPr/>
        </p:nvSpPr>
        <p:spPr>
          <a:xfrm>
            <a:off x="1543532" y="2570393"/>
            <a:ext cx="192765" cy="293967"/>
          </a:xfrm>
          <a:custGeom>
            <a:avLst/>
            <a:gdLst/>
            <a:ahLst/>
            <a:cxnLst/>
            <a:rect l="0" t="0" r="0" b="0"/>
            <a:pathLst>
              <a:path w="192765" h="293967">
                <a:moveTo>
                  <a:pt x="192765" y="146983"/>
                </a:moveTo>
                <a:lnTo>
                  <a:pt x="96382" y="146983"/>
                </a:lnTo>
                <a:moveTo>
                  <a:pt x="0" y="293967"/>
                </a:moveTo>
                <a:lnTo>
                  <a:pt x="96382" y="293967"/>
                </a:lnTo>
                <a:lnTo>
                  <a:pt x="96382" y="0"/>
                </a:lnTo>
                <a:lnTo>
                  <a:pt x="0" y="0"/>
                </a:lnTo>
              </a:path>
            </a:pathLst>
          </a:custGeom>
          <a:noFill/>
          <a:ln w="16063">
            <a:solidFill>
              <a:schemeClr val="accent3">
                <a:lumMod val="75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3" name="Rounded Rectangle 35">
            <a:extLst>
              <a:ext uri="{FF2B5EF4-FFF2-40B4-BE49-F238E27FC236}">
                <a16:creationId xmlns:a16="http://schemas.microsoft.com/office/drawing/2014/main" id="{B9F21FF1-0FE6-5807-59A2-E1FBEEB44BAD}"/>
              </a:ext>
            </a:extLst>
          </p:cNvPr>
          <p:cNvSpPr/>
          <p:nvPr/>
        </p:nvSpPr>
        <p:spPr>
          <a:xfrm>
            <a:off x="6055118" y="3008934"/>
            <a:ext cx="192765" cy="344556"/>
          </a:xfrm>
          <a:custGeom>
            <a:avLst/>
            <a:gdLst/>
            <a:ahLst/>
            <a:cxnLst/>
            <a:rect l="0" t="0" r="0" b="0"/>
            <a:pathLst>
              <a:path w="192765" h="344556">
                <a:moveTo>
                  <a:pt x="0" y="146983"/>
                </a:moveTo>
                <a:lnTo>
                  <a:pt x="96382" y="146983"/>
                </a:lnTo>
                <a:moveTo>
                  <a:pt x="192765" y="0"/>
                </a:moveTo>
                <a:lnTo>
                  <a:pt x="96382" y="0"/>
                </a:lnTo>
                <a:lnTo>
                  <a:pt x="96382" y="344556"/>
                </a:lnTo>
                <a:lnTo>
                  <a:pt x="192765" y="344556"/>
                </a:lnTo>
              </a:path>
            </a:pathLst>
          </a:custGeom>
          <a:noFill/>
          <a:ln w="16063">
            <a:solidFill>
              <a:schemeClr val="tx1">
                <a:lumMod val="75000"/>
                <a:lumOff val="25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4" name="Rounded Rectangle 36">
            <a:extLst>
              <a:ext uri="{FF2B5EF4-FFF2-40B4-BE49-F238E27FC236}">
                <a16:creationId xmlns:a16="http://schemas.microsoft.com/office/drawing/2014/main" id="{9AB28CAB-CE34-5257-7DD6-5E2DDB5C1DA0}"/>
              </a:ext>
            </a:extLst>
          </p:cNvPr>
          <p:cNvSpPr/>
          <p:nvPr/>
        </p:nvSpPr>
        <p:spPr>
          <a:xfrm>
            <a:off x="1411234" y="3447475"/>
            <a:ext cx="192765" cy="293967"/>
          </a:xfrm>
          <a:custGeom>
            <a:avLst/>
            <a:gdLst/>
            <a:ahLst/>
            <a:cxnLst/>
            <a:rect l="0" t="0" r="0" b="0"/>
            <a:pathLst>
              <a:path w="192765" h="293967">
                <a:moveTo>
                  <a:pt x="192765" y="146983"/>
                </a:moveTo>
                <a:lnTo>
                  <a:pt x="96382" y="146983"/>
                </a:lnTo>
                <a:moveTo>
                  <a:pt x="0" y="293967"/>
                </a:moveTo>
                <a:lnTo>
                  <a:pt x="96382" y="293967"/>
                </a:lnTo>
                <a:lnTo>
                  <a:pt x="96382" y="0"/>
                </a:lnTo>
                <a:lnTo>
                  <a:pt x="0" y="0"/>
                </a:lnTo>
              </a:path>
            </a:pathLst>
          </a:custGeom>
          <a:noFill/>
          <a:ln w="16063">
            <a:solidFill>
              <a:schemeClr val="accent4">
                <a:lumMod val="50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5" name="Rounded Rectangle 37">
            <a:extLst>
              <a:ext uri="{FF2B5EF4-FFF2-40B4-BE49-F238E27FC236}">
                <a16:creationId xmlns:a16="http://schemas.microsoft.com/office/drawing/2014/main" id="{09F7254E-680D-AF26-1C5C-BB6E1DE0E52F}"/>
              </a:ext>
            </a:extLst>
          </p:cNvPr>
          <p:cNvSpPr/>
          <p:nvPr/>
        </p:nvSpPr>
        <p:spPr>
          <a:xfrm>
            <a:off x="5779908" y="3936606"/>
            <a:ext cx="192765" cy="293967"/>
          </a:xfrm>
          <a:custGeom>
            <a:avLst/>
            <a:gdLst/>
            <a:ahLst/>
            <a:cxnLst/>
            <a:rect l="0" t="0" r="0" b="0"/>
            <a:pathLst>
              <a:path w="192765" h="293967">
                <a:moveTo>
                  <a:pt x="0" y="146983"/>
                </a:moveTo>
                <a:lnTo>
                  <a:pt x="96382" y="146983"/>
                </a:lnTo>
                <a:moveTo>
                  <a:pt x="192765" y="0"/>
                </a:moveTo>
                <a:lnTo>
                  <a:pt x="96382" y="0"/>
                </a:lnTo>
                <a:lnTo>
                  <a:pt x="96382" y="293967"/>
                </a:lnTo>
                <a:lnTo>
                  <a:pt x="192765" y="293967"/>
                </a:lnTo>
              </a:path>
            </a:pathLst>
          </a:custGeom>
          <a:noFill/>
          <a:ln w="16063">
            <a:solidFill>
              <a:srgbClr val="4E88E7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6" name="Rounded Rectangle 38">
            <a:extLst>
              <a:ext uri="{FF2B5EF4-FFF2-40B4-BE49-F238E27FC236}">
                <a16:creationId xmlns:a16="http://schemas.microsoft.com/office/drawing/2014/main" id="{547BA34E-2E64-FCBE-0074-641175E02A86}"/>
              </a:ext>
            </a:extLst>
          </p:cNvPr>
          <p:cNvSpPr/>
          <p:nvPr/>
        </p:nvSpPr>
        <p:spPr>
          <a:xfrm>
            <a:off x="1435439" y="4324557"/>
            <a:ext cx="192765" cy="293967"/>
          </a:xfrm>
          <a:custGeom>
            <a:avLst/>
            <a:gdLst/>
            <a:ahLst/>
            <a:cxnLst/>
            <a:rect l="0" t="0" r="0" b="0"/>
            <a:pathLst>
              <a:path w="192765" h="293967">
                <a:moveTo>
                  <a:pt x="192765" y="146983"/>
                </a:moveTo>
                <a:lnTo>
                  <a:pt x="96382" y="146983"/>
                </a:lnTo>
                <a:moveTo>
                  <a:pt x="0" y="293967"/>
                </a:moveTo>
                <a:lnTo>
                  <a:pt x="96382" y="293967"/>
                </a:lnTo>
                <a:lnTo>
                  <a:pt x="96382" y="0"/>
                </a:lnTo>
                <a:lnTo>
                  <a:pt x="0" y="0"/>
                </a:lnTo>
              </a:path>
            </a:pathLst>
          </a:custGeom>
          <a:noFill/>
          <a:ln w="16063">
            <a:solidFill>
              <a:schemeClr val="accent2">
                <a:lumMod val="75000"/>
                <a:lumOff val="25000"/>
              </a:schemeClr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7" name="Rounded Rectangle 39">
            <a:extLst>
              <a:ext uri="{FF2B5EF4-FFF2-40B4-BE49-F238E27FC236}">
                <a16:creationId xmlns:a16="http://schemas.microsoft.com/office/drawing/2014/main" id="{A8934B9A-6273-53EB-0477-0BC7D7E6118C}"/>
              </a:ext>
            </a:extLst>
          </p:cNvPr>
          <p:cNvSpPr/>
          <p:nvPr/>
        </p:nvSpPr>
        <p:spPr>
          <a:xfrm>
            <a:off x="5951927" y="4813688"/>
            <a:ext cx="192765" cy="293967"/>
          </a:xfrm>
          <a:custGeom>
            <a:avLst/>
            <a:gdLst/>
            <a:ahLst/>
            <a:cxnLst/>
            <a:rect l="0" t="0" r="0" b="0"/>
            <a:pathLst>
              <a:path w="192765" h="293967">
                <a:moveTo>
                  <a:pt x="0" y="146983"/>
                </a:moveTo>
                <a:lnTo>
                  <a:pt x="96382" y="146983"/>
                </a:lnTo>
                <a:moveTo>
                  <a:pt x="192765" y="0"/>
                </a:moveTo>
                <a:lnTo>
                  <a:pt x="96382" y="0"/>
                </a:lnTo>
                <a:lnTo>
                  <a:pt x="96382" y="293967"/>
                </a:lnTo>
                <a:lnTo>
                  <a:pt x="192765" y="293967"/>
                </a:lnTo>
              </a:path>
            </a:pathLst>
          </a:custGeom>
          <a:noFill/>
          <a:ln w="16063">
            <a:solidFill>
              <a:srgbClr val="3CC583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8" name="Rounded Rectangle 40">
            <a:extLst>
              <a:ext uri="{FF2B5EF4-FFF2-40B4-BE49-F238E27FC236}">
                <a16:creationId xmlns:a16="http://schemas.microsoft.com/office/drawing/2014/main" id="{3D97C042-C6D0-BBC5-8717-443C17789574}"/>
              </a:ext>
            </a:extLst>
          </p:cNvPr>
          <p:cNvSpPr/>
          <p:nvPr/>
        </p:nvSpPr>
        <p:spPr>
          <a:xfrm>
            <a:off x="1540630" y="5252229"/>
            <a:ext cx="192765" cy="344557"/>
          </a:xfrm>
          <a:custGeom>
            <a:avLst/>
            <a:gdLst/>
            <a:ahLst/>
            <a:cxnLst/>
            <a:rect l="0" t="0" r="0" b="0"/>
            <a:pathLst>
              <a:path w="192765" h="344557">
                <a:moveTo>
                  <a:pt x="192765" y="146983"/>
                </a:moveTo>
                <a:lnTo>
                  <a:pt x="96382" y="146983"/>
                </a:lnTo>
                <a:moveTo>
                  <a:pt x="0" y="344557"/>
                </a:moveTo>
                <a:lnTo>
                  <a:pt x="96382" y="344557"/>
                </a:lnTo>
                <a:lnTo>
                  <a:pt x="96382" y="0"/>
                </a:lnTo>
                <a:lnTo>
                  <a:pt x="0" y="0"/>
                </a:lnTo>
              </a:path>
            </a:pathLst>
          </a:custGeom>
          <a:noFill/>
          <a:ln w="16063">
            <a:solidFill>
              <a:srgbClr val="92BD39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9" name="TextBox 41">
            <a:extLst>
              <a:ext uri="{FF2B5EF4-FFF2-40B4-BE49-F238E27FC236}">
                <a16:creationId xmlns:a16="http://schemas.microsoft.com/office/drawing/2014/main" id="{705A3BF7-C4A1-C7A6-280F-371084A441C4}"/>
              </a:ext>
            </a:extLst>
          </p:cNvPr>
          <p:cNvSpPr txBox="1"/>
          <p:nvPr/>
        </p:nvSpPr>
        <p:spPr>
          <a:xfrm>
            <a:off x="507131" y="3690841"/>
            <a:ext cx="791656" cy="1012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600" b="0" dirty="0">
                <a:solidFill>
                  <a:schemeClr val="accent4">
                    <a:lumMod val="50000"/>
                  </a:schemeClr>
                </a:solidFill>
                <a:latin typeface="Roboto"/>
              </a:rPr>
              <a:t>Network Coverage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0A4BC31-EE31-BFAB-5F5C-BC416B44B000}"/>
              </a:ext>
            </a:extLst>
          </p:cNvPr>
          <p:cNvGrpSpPr/>
          <p:nvPr/>
        </p:nvGrpSpPr>
        <p:grpSpPr>
          <a:xfrm>
            <a:off x="3490514" y="3420945"/>
            <a:ext cx="810388" cy="347024"/>
            <a:chOff x="3577565" y="2987816"/>
            <a:chExt cx="810388" cy="347024"/>
          </a:xfrm>
        </p:grpSpPr>
        <p:sp>
          <p:nvSpPr>
            <p:cNvPr id="51" name="TextBox 42">
              <a:extLst>
                <a:ext uri="{FF2B5EF4-FFF2-40B4-BE49-F238E27FC236}">
                  <a16:creationId xmlns:a16="http://schemas.microsoft.com/office/drawing/2014/main" id="{47CB1297-82A3-B906-FE19-E7A3595E5CD8}"/>
                </a:ext>
              </a:extLst>
            </p:cNvPr>
            <p:cNvSpPr txBox="1"/>
            <p:nvPr/>
          </p:nvSpPr>
          <p:spPr>
            <a:xfrm>
              <a:off x="3577565" y="2987816"/>
              <a:ext cx="810388" cy="115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700" b="0">
                  <a:solidFill>
                    <a:srgbClr val="484848"/>
                  </a:solidFill>
                  <a:latin typeface="Roboto"/>
                </a:rPr>
                <a:t>Space</a:t>
              </a:r>
            </a:p>
          </p:txBody>
        </p:sp>
        <p:sp>
          <p:nvSpPr>
            <p:cNvPr id="52" name="TextBox 43">
              <a:extLst>
                <a:ext uri="{FF2B5EF4-FFF2-40B4-BE49-F238E27FC236}">
                  <a16:creationId xmlns:a16="http://schemas.microsoft.com/office/drawing/2014/main" id="{EEE343B3-2EB7-545C-C916-709483CD54D6}"/>
                </a:ext>
              </a:extLst>
            </p:cNvPr>
            <p:cNvSpPr txBox="1"/>
            <p:nvPr/>
          </p:nvSpPr>
          <p:spPr>
            <a:xfrm>
              <a:off x="3577565" y="3103475"/>
              <a:ext cx="810388" cy="115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700" b="0" dirty="0">
                  <a:solidFill>
                    <a:srgbClr val="484848"/>
                  </a:solidFill>
                  <a:latin typeface="Roboto"/>
                </a:rPr>
                <a:t>Communication</a:t>
              </a:r>
            </a:p>
          </p:txBody>
        </p:sp>
        <p:sp>
          <p:nvSpPr>
            <p:cNvPr id="53" name="TextBox 44">
              <a:extLst>
                <a:ext uri="{FF2B5EF4-FFF2-40B4-BE49-F238E27FC236}">
                  <a16:creationId xmlns:a16="http://schemas.microsoft.com/office/drawing/2014/main" id="{AA816C92-23ED-4811-0480-5D2112123DDF}"/>
                </a:ext>
              </a:extLst>
            </p:cNvPr>
            <p:cNvSpPr txBox="1"/>
            <p:nvPr/>
          </p:nvSpPr>
          <p:spPr>
            <a:xfrm>
              <a:off x="3577565" y="3219214"/>
              <a:ext cx="810388" cy="115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700" b="0">
                  <a:solidFill>
                    <a:srgbClr val="484848"/>
                  </a:solidFill>
                  <a:latin typeface="Roboto"/>
                </a:rPr>
                <a:t>Technologies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9F83F4C-D783-0189-61F2-4BA15AC0B19D}"/>
              </a:ext>
            </a:extLst>
          </p:cNvPr>
          <p:cNvGrpSpPr/>
          <p:nvPr/>
        </p:nvGrpSpPr>
        <p:grpSpPr>
          <a:xfrm>
            <a:off x="1626339" y="3478791"/>
            <a:ext cx="937133" cy="231341"/>
            <a:chOff x="1713390" y="3045662"/>
            <a:chExt cx="937133" cy="231341"/>
          </a:xfrm>
        </p:grpSpPr>
        <p:sp>
          <p:nvSpPr>
            <p:cNvPr id="55" name="TextBox 46">
              <a:extLst>
                <a:ext uri="{FF2B5EF4-FFF2-40B4-BE49-F238E27FC236}">
                  <a16:creationId xmlns:a16="http://schemas.microsoft.com/office/drawing/2014/main" id="{FEFFEAA3-1F86-7E2B-C175-8421F93BDC9A}"/>
                </a:ext>
              </a:extLst>
            </p:cNvPr>
            <p:cNvSpPr txBox="1"/>
            <p:nvPr/>
          </p:nvSpPr>
          <p:spPr>
            <a:xfrm>
              <a:off x="1713390" y="3045662"/>
              <a:ext cx="937133" cy="115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sz="700" b="0" dirty="0">
                  <a:solidFill>
                    <a:schemeClr val="accent4">
                      <a:lumMod val="50000"/>
                    </a:schemeClr>
                  </a:solidFill>
                  <a:latin typeface="Roboto"/>
                </a:rPr>
                <a:t>Space-Based Relay</a:t>
              </a:r>
            </a:p>
          </p:txBody>
        </p:sp>
        <p:sp>
          <p:nvSpPr>
            <p:cNvPr id="56" name="TextBox 47">
              <a:extLst>
                <a:ext uri="{FF2B5EF4-FFF2-40B4-BE49-F238E27FC236}">
                  <a16:creationId xmlns:a16="http://schemas.microsoft.com/office/drawing/2014/main" id="{3AC31D06-606E-DFB8-13D5-11F2774F0DFA}"/>
                </a:ext>
              </a:extLst>
            </p:cNvPr>
            <p:cNvSpPr txBox="1"/>
            <p:nvPr/>
          </p:nvSpPr>
          <p:spPr>
            <a:xfrm>
              <a:off x="1713390" y="3161321"/>
              <a:ext cx="937133" cy="115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sz="700" b="0" dirty="0">
                  <a:solidFill>
                    <a:schemeClr val="accent4">
                      <a:lumMod val="50000"/>
                    </a:schemeClr>
                  </a:solidFill>
                  <a:latin typeface="Roboto"/>
                </a:rPr>
                <a:t>Networks</a:t>
              </a:r>
            </a:p>
          </p:txBody>
        </p:sp>
      </p:grpSp>
      <p:sp>
        <p:nvSpPr>
          <p:cNvPr id="57" name="TextBox 49">
            <a:extLst>
              <a:ext uri="{FF2B5EF4-FFF2-40B4-BE49-F238E27FC236}">
                <a16:creationId xmlns:a16="http://schemas.microsoft.com/office/drawing/2014/main" id="{C3BAEF33-3FA7-03BA-C400-97105672A931}"/>
              </a:ext>
            </a:extLst>
          </p:cNvPr>
          <p:cNvSpPr txBox="1"/>
          <p:nvPr/>
        </p:nvSpPr>
        <p:spPr>
          <a:xfrm>
            <a:off x="6360330" y="3302890"/>
            <a:ext cx="608594" cy="1012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</a:rPr>
              <a:t>Earth Stations</a:t>
            </a:r>
          </a:p>
        </p:txBody>
      </p:sp>
      <p:sp>
        <p:nvSpPr>
          <p:cNvPr id="58" name="TextBox 50">
            <a:extLst>
              <a:ext uri="{FF2B5EF4-FFF2-40B4-BE49-F238E27FC236}">
                <a16:creationId xmlns:a16="http://schemas.microsoft.com/office/drawing/2014/main" id="{529B63C0-DDA6-BC91-5FA7-2CAB8CFA8404}"/>
              </a:ext>
            </a:extLst>
          </p:cNvPr>
          <p:cNvSpPr txBox="1"/>
          <p:nvPr/>
        </p:nvSpPr>
        <p:spPr>
          <a:xfrm>
            <a:off x="6085120" y="3886005"/>
            <a:ext cx="857218" cy="1012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600" b="0">
                <a:solidFill>
                  <a:srgbClr val="4E88E7"/>
                </a:solidFill>
                <a:latin typeface="Roboto"/>
              </a:rPr>
              <a:t>High-Gain Antennas</a:t>
            </a:r>
          </a:p>
        </p:txBody>
      </p:sp>
      <p:sp>
        <p:nvSpPr>
          <p:cNvPr id="59" name="TextBox 51">
            <a:extLst>
              <a:ext uri="{FF2B5EF4-FFF2-40B4-BE49-F238E27FC236}">
                <a16:creationId xmlns:a16="http://schemas.microsoft.com/office/drawing/2014/main" id="{5A4A4DEB-B87C-16BD-B579-15259503EF5F}"/>
              </a:ext>
            </a:extLst>
          </p:cNvPr>
          <p:cNvSpPr txBox="1"/>
          <p:nvPr/>
        </p:nvSpPr>
        <p:spPr>
          <a:xfrm>
            <a:off x="5227943" y="4025760"/>
            <a:ext cx="468501" cy="1156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0" b="0">
                <a:solidFill>
                  <a:srgbClr val="4E88E7"/>
                </a:solidFill>
                <a:latin typeface="Roboto"/>
              </a:rPr>
              <a:t>Antennas</a:t>
            </a:r>
          </a:p>
        </p:txBody>
      </p:sp>
      <p:sp>
        <p:nvSpPr>
          <p:cNvPr id="60" name="TextBox 52">
            <a:extLst>
              <a:ext uri="{FF2B5EF4-FFF2-40B4-BE49-F238E27FC236}">
                <a16:creationId xmlns:a16="http://schemas.microsoft.com/office/drawing/2014/main" id="{18EF56F2-226D-B339-9F39-E5F89A365763}"/>
              </a:ext>
            </a:extLst>
          </p:cNvPr>
          <p:cNvSpPr txBox="1"/>
          <p:nvPr/>
        </p:nvSpPr>
        <p:spPr>
          <a:xfrm>
            <a:off x="644656" y="3396874"/>
            <a:ext cx="654131" cy="1012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600" b="0" dirty="0">
                <a:solidFill>
                  <a:schemeClr val="accent4">
                    <a:lumMod val="50000"/>
                  </a:schemeClr>
                </a:solidFill>
                <a:latin typeface="Roboto"/>
              </a:rPr>
              <a:t>Relay Satellites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85E728C-B9F5-B39D-68EE-C5BEC90D0545}"/>
              </a:ext>
            </a:extLst>
          </p:cNvPr>
          <p:cNvGrpSpPr/>
          <p:nvPr/>
        </p:nvGrpSpPr>
        <p:grpSpPr>
          <a:xfrm>
            <a:off x="5227943" y="3040250"/>
            <a:ext cx="784987" cy="231341"/>
            <a:chOff x="5314994" y="2607121"/>
            <a:chExt cx="784987" cy="231341"/>
          </a:xfrm>
        </p:grpSpPr>
        <p:sp>
          <p:nvSpPr>
            <p:cNvPr id="62" name="TextBox 53">
              <a:extLst>
                <a:ext uri="{FF2B5EF4-FFF2-40B4-BE49-F238E27FC236}">
                  <a16:creationId xmlns:a16="http://schemas.microsoft.com/office/drawing/2014/main" id="{2D4D7C53-66EB-CE27-CEF9-C947E1BD3779}"/>
                </a:ext>
              </a:extLst>
            </p:cNvPr>
            <p:cNvSpPr txBox="1"/>
            <p:nvPr/>
          </p:nvSpPr>
          <p:spPr>
            <a:xfrm>
              <a:off x="5314994" y="2607121"/>
              <a:ext cx="784987" cy="115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7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/>
                </a:rPr>
                <a:t>Direct-to-Earth</a:t>
              </a:r>
            </a:p>
          </p:txBody>
        </p:sp>
        <p:sp>
          <p:nvSpPr>
            <p:cNvPr id="63" name="TextBox 54">
              <a:extLst>
                <a:ext uri="{FF2B5EF4-FFF2-40B4-BE49-F238E27FC236}">
                  <a16:creationId xmlns:a16="http://schemas.microsoft.com/office/drawing/2014/main" id="{02781AFD-39D5-9AD7-AEA2-E73ED5F06F35}"/>
                </a:ext>
              </a:extLst>
            </p:cNvPr>
            <p:cNvSpPr txBox="1"/>
            <p:nvPr/>
          </p:nvSpPr>
          <p:spPr>
            <a:xfrm>
              <a:off x="5314994" y="2722780"/>
              <a:ext cx="784987" cy="115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7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/>
                </a:rPr>
                <a:t>Communication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75BE2C2-A31F-EA53-7129-BB55907538C4}"/>
              </a:ext>
            </a:extLst>
          </p:cNvPr>
          <p:cNvGrpSpPr/>
          <p:nvPr/>
        </p:nvGrpSpPr>
        <p:grpSpPr>
          <a:xfrm>
            <a:off x="6360330" y="2907740"/>
            <a:ext cx="582806" cy="202378"/>
            <a:chOff x="6447381" y="2474611"/>
            <a:chExt cx="582806" cy="202378"/>
          </a:xfrm>
        </p:grpSpPr>
        <p:sp>
          <p:nvSpPr>
            <p:cNvPr id="65" name="TextBox 56">
              <a:extLst>
                <a:ext uri="{FF2B5EF4-FFF2-40B4-BE49-F238E27FC236}">
                  <a16:creationId xmlns:a16="http://schemas.microsoft.com/office/drawing/2014/main" id="{6EE68365-47C0-07BE-CB4F-BC87E63B625A}"/>
                </a:ext>
              </a:extLst>
            </p:cNvPr>
            <p:cNvSpPr txBox="1"/>
            <p:nvPr/>
          </p:nvSpPr>
          <p:spPr>
            <a:xfrm>
              <a:off x="6447381" y="2474611"/>
              <a:ext cx="582806" cy="1011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6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/>
                </a:rPr>
                <a:t>Direct Signal</a:t>
              </a:r>
            </a:p>
          </p:txBody>
        </p:sp>
        <p:sp>
          <p:nvSpPr>
            <p:cNvPr id="66" name="TextBox 57">
              <a:extLst>
                <a:ext uri="{FF2B5EF4-FFF2-40B4-BE49-F238E27FC236}">
                  <a16:creationId xmlns:a16="http://schemas.microsoft.com/office/drawing/2014/main" id="{21BE5533-37F5-4DE5-2351-8FF82837E81F}"/>
                </a:ext>
              </a:extLst>
            </p:cNvPr>
            <p:cNvSpPr txBox="1"/>
            <p:nvPr/>
          </p:nvSpPr>
          <p:spPr>
            <a:xfrm>
              <a:off x="6447381" y="2575732"/>
              <a:ext cx="582806" cy="101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6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/>
                </a:rPr>
                <a:t>Transmission</a:t>
              </a:r>
            </a:p>
          </p:txBody>
        </p:sp>
      </p:grpSp>
      <p:sp>
        <p:nvSpPr>
          <p:cNvPr id="67" name="TextBox 59">
            <a:extLst>
              <a:ext uri="{FF2B5EF4-FFF2-40B4-BE49-F238E27FC236}">
                <a16:creationId xmlns:a16="http://schemas.microsoft.com/office/drawing/2014/main" id="{17DFDBB5-C2A5-C410-0F48-A910D712B359}"/>
              </a:ext>
            </a:extLst>
          </p:cNvPr>
          <p:cNvSpPr txBox="1"/>
          <p:nvPr/>
        </p:nvSpPr>
        <p:spPr>
          <a:xfrm>
            <a:off x="764811" y="4273956"/>
            <a:ext cx="558181" cy="1012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6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Roboto"/>
              </a:rPr>
              <a:t>Data Storage</a:t>
            </a:r>
          </a:p>
        </p:txBody>
      </p:sp>
      <p:sp>
        <p:nvSpPr>
          <p:cNvPr id="68" name="TextBox 60">
            <a:extLst>
              <a:ext uri="{FF2B5EF4-FFF2-40B4-BE49-F238E27FC236}">
                <a16:creationId xmlns:a16="http://schemas.microsoft.com/office/drawing/2014/main" id="{188671CB-DE3C-3774-3613-EF14AC0C8549}"/>
              </a:ext>
            </a:extLst>
          </p:cNvPr>
          <p:cNvSpPr txBox="1"/>
          <p:nvPr/>
        </p:nvSpPr>
        <p:spPr>
          <a:xfrm>
            <a:off x="487661" y="2813759"/>
            <a:ext cx="943424" cy="1012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600" b="0" dirty="0">
                <a:solidFill>
                  <a:schemeClr val="accent3">
                    <a:lumMod val="75000"/>
                  </a:schemeClr>
                </a:solidFill>
                <a:latin typeface="Roboto"/>
              </a:rPr>
              <a:t>Communication Relay</a:t>
            </a:r>
          </a:p>
        </p:txBody>
      </p:sp>
      <p:sp>
        <p:nvSpPr>
          <p:cNvPr id="69" name="TextBox 61">
            <a:extLst>
              <a:ext uri="{FF2B5EF4-FFF2-40B4-BE49-F238E27FC236}">
                <a16:creationId xmlns:a16="http://schemas.microsoft.com/office/drawing/2014/main" id="{B4572E6C-5554-2C8F-EBD8-091A36877BE4}"/>
              </a:ext>
            </a:extLst>
          </p:cNvPr>
          <p:cNvSpPr txBox="1"/>
          <p:nvPr/>
        </p:nvSpPr>
        <p:spPr>
          <a:xfrm>
            <a:off x="6085120" y="4179972"/>
            <a:ext cx="837073" cy="1012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600" b="0">
                <a:solidFill>
                  <a:srgbClr val="4E88E7"/>
                </a:solidFill>
                <a:latin typeface="Roboto"/>
              </a:rPr>
              <a:t>Low-Gain Antennas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BF78951-91C2-F126-D971-7B3CA7386CDD}"/>
              </a:ext>
            </a:extLst>
          </p:cNvPr>
          <p:cNvGrpSpPr/>
          <p:nvPr/>
        </p:nvGrpSpPr>
        <p:grpSpPr>
          <a:xfrm>
            <a:off x="1778485" y="2601709"/>
            <a:ext cx="784987" cy="231341"/>
            <a:chOff x="1865536" y="2168580"/>
            <a:chExt cx="784987" cy="231341"/>
          </a:xfrm>
        </p:grpSpPr>
        <p:sp>
          <p:nvSpPr>
            <p:cNvPr id="71" name="TextBox 62">
              <a:extLst>
                <a:ext uri="{FF2B5EF4-FFF2-40B4-BE49-F238E27FC236}">
                  <a16:creationId xmlns:a16="http://schemas.microsoft.com/office/drawing/2014/main" id="{E62C4ACE-0337-420E-424F-4D445B5DBF5E}"/>
                </a:ext>
              </a:extLst>
            </p:cNvPr>
            <p:cNvSpPr txBox="1"/>
            <p:nvPr/>
          </p:nvSpPr>
          <p:spPr>
            <a:xfrm>
              <a:off x="1865536" y="2168580"/>
              <a:ext cx="784987" cy="115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sz="700" b="0" dirty="0">
                  <a:solidFill>
                    <a:schemeClr val="accent3">
                      <a:lumMod val="75000"/>
                    </a:schemeClr>
                  </a:solidFill>
                  <a:latin typeface="Roboto"/>
                </a:rPr>
                <a:t>Relay</a:t>
              </a:r>
            </a:p>
          </p:txBody>
        </p:sp>
        <p:sp>
          <p:nvSpPr>
            <p:cNvPr id="72" name="TextBox 63">
              <a:extLst>
                <a:ext uri="{FF2B5EF4-FFF2-40B4-BE49-F238E27FC236}">
                  <a16:creationId xmlns:a16="http://schemas.microsoft.com/office/drawing/2014/main" id="{170E8E43-BCC2-D170-4283-425C75C3DD36}"/>
                </a:ext>
              </a:extLst>
            </p:cNvPr>
            <p:cNvSpPr txBox="1"/>
            <p:nvPr/>
          </p:nvSpPr>
          <p:spPr>
            <a:xfrm>
              <a:off x="1865536" y="2284239"/>
              <a:ext cx="784987" cy="115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sz="700" b="0" dirty="0">
                  <a:solidFill>
                    <a:schemeClr val="accent3">
                      <a:lumMod val="75000"/>
                    </a:schemeClr>
                  </a:solidFill>
                  <a:latin typeface="Roboto"/>
                </a:rPr>
                <a:t>Communication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F618245-1D97-B6B0-5057-460AA1FF851D}"/>
              </a:ext>
            </a:extLst>
          </p:cNvPr>
          <p:cNvGrpSpPr/>
          <p:nvPr/>
        </p:nvGrpSpPr>
        <p:grpSpPr>
          <a:xfrm>
            <a:off x="1654178" y="4355873"/>
            <a:ext cx="909294" cy="231341"/>
            <a:chOff x="1741229" y="3922744"/>
            <a:chExt cx="909294" cy="231341"/>
          </a:xfrm>
        </p:grpSpPr>
        <p:sp>
          <p:nvSpPr>
            <p:cNvPr id="74" name="TextBox 65">
              <a:extLst>
                <a:ext uri="{FF2B5EF4-FFF2-40B4-BE49-F238E27FC236}">
                  <a16:creationId xmlns:a16="http://schemas.microsoft.com/office/drawing/2014/main" id="{0844F8CD-754C-526F-83CF-9FE11866578F}"/>
                </a:ext>
              </a:extLst>
            </p:cNvPr>
            <p:cNvSpPr txBox="1"/>
            <p:nvPr/>
          </p:nvSpPr>
          <p:spPr>
            <a:xfrm>
              <a:off x="1741229" y="3922744"/>
              <a:ext cx="909294" cy="115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sz="700" b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/>
                </a:rPr>
                <a:t>Store-and-Forward</a:t>
              </a:r>
            </a:p>
          </p:txBody>
        </p:sp>
        <p:sp>
          <p:nvSpPr>
            <p:cNvPr id="75" name="TextBox 66">
              <a:extLst>
                <a:ext uri="{FF2B5EF4-FFF2-40B4-BE49-F238E27FC236}">
                  <a16:creationId xmlns:a16="http://schemas.microsoft.com/office/drawing/2014/main" id="{94226F40-8ED6-D16E-7DA9-82F4B5CF5A42}"/>
                </a:ext>
              </a:extLst>
            </p:cNvPr>
            <p:cNvSpPr txBox="1"/>
            <p:nvPr/>
          </p:nvSpPr>
          <p:spPr>
            <a:xfrm>
              <a:off x="1741229" y="4038403"/>
              <a:ext cx="909294" cy="115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sz="700" b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Roboto"/>
                </a:rPr>
                <a:t>Communication</a:t>
              </a:r>
            </a:p>
          </p:txBody>
        </p:sp>
      </p:grpSp>
      <p:sp>
        <p:nvSpPr>
          <p:cNvPr id="76" name="TextBox 68">
            <a:extLst>
              <a:ext uri="{FF2B5EF4-FFF2-40B4-BE49-F238E27FC236}">
                <a16:creationId xmlns:a16="http://schemas.microsoft.com/office/drawing/2014/main" id="{2C0F9998-D008-A4A4-70E2-E6DD8CD02A4B}"/>
              </a:ext>
            </a:extLst>
          </p:cNvPr>
          <p:cNvSpPr txBox="1"/>
          <p:nvPr/>
        </p:nvSpPr>
        <p:spPr>
          <a:xfrm>
            <a:off x="375976" y="4567923"/>
            <a:ext cx="947016" cy="1012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6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Roboto"/>
              </a:rPr>
              <a:t>Delayed Transmission</a:t>
            </a:r>
          </a:p>
        </p:txBody>
      </p:sp>
      <p:sp>
        <p:nvSpPr>
          <p:cNvPr id="77" name="TextBox 69">
            <a:extLst>
              <a:ext uri="{FF2B5EF4-FFF2-40B4-BE49-F238E27FC236}">
                <a16:creationId xmlns:a16="http://schemas.microsoft.com/office/drawing/2014/main" id="{FD215739-2A86-8535-3D18-E9FB4089537E}"/>
              </a:ext>
            </a:extLst>
          </p:cNvPr>
          <p:cNvSpPr txBox="1"/>
          <p:nvPr/>
        </p:nvSpPr>
        <p:spPr>
          <a:xfrm>
            <a:off x="1087408" y="2519792"/>
            <a:ext cx="343677" cy="1012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600" b="0" dirty="0">
                <a:solidFill>
                  <a:schemeClr val="accent3">
                    <a:lumMod val="75000"/>
                  </a:schemeClr>
                </a:solidFill>
                <a:latin typeface="Roboto"/>
              </a:rPr>
              <a:t>Orbiters</a:t>
            </a:r>
          </a:p>
        </p:txBody>
      </p:sp>
      <p:sp>
        <p:nvSpPr>
          <p:cNvPr id="78" name="TextBox 70">
            <a:extLst>
              <a:ext uri="{FF2B5EF4-FFF2-40B4-BE49-F238E27FC236}">
                <a16:creationId xmlns:a16="http://schemas.microsoft.com/office/drawing/2014/main" id="{E4A98ECA-CF5D-D947-EAEB-A723745D4A47}"/>
              </a:ext>
            </a:extLst>
          </p:cNvPr>
          <p:cNvSpPr txBox="1"/>
          <p:nvPr/>
        </p:nvSpPr>
        <p:spPr>
          <a:xfrm>
            <a:off x="6360330" y="2324628"/>
            <a:ext cx="682359" cy="1012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600" b="0" dirty="0">
                <a:solidFill>
                  <a:schemeClr val="bg2">
                    <a:lumMod val="50000"/>
                  </a:schemeClr>
                </a:solidFill>
                <a:latin typeface="Roboto"/>
              </a:rPr>
              <a:t>High Bandwidth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EF4D3D8-A299-96B2-7D3F-C2D32F897579}"/>
              </a:ext>
            </a:extLst>
          </p:cNvPr>
          <p:cNvGrpSpPr/>
          <p:nvPr/>
        </p:nvGrpSpPr>
        <p:grpSpPr>
          <a:xfrm>
            <a:off x="5227943" y="2112578"/>
            <a:ext cx="784987" cy="231340"/>
            <a:chOff x="5314994" y="1679449"/>
            <a:chExt cx="784987" cy="231340"/>
          </a:xfrm>
        </p:grpSpPr>
        <p:sp>
          <p:nvSpPr>
            <p:cNvPr id="80" name="TextBox 71">
              <a:extLst>
                <a:ext uri="{FF2B5EF4-FFF2-40B4-BE49-F238E27FC236}">
                  <a16:creationId xmlns:a16="http://schemas.microsoft.com/office/drawing/2014/main" id="{E24180B2-A763-D3F4-03E9-23F9F1766A92}"/>
                </a:ext>
              </a:extLst>
            </p:cNvPr>
            <p:cNvSpPr txBox="1"/>
            <p:nvPr/>
          </p:nvSpPr>
          <p:spPr>
            <a:xfrm>
              <a:off x="5314994" y="1679449"/>
              <a:ext cx="784987" cy="115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700" b="0" dirty="0">
                  <a:solidFill>
                    <a:schemeClr val="bg2">
                      <a:lumMod val="50000"/>
                    </a:schemeClr>
                  </a:solidFill>
                  <a:latin typeface="Roboto"/>
                </a:rPr>
                <a:t>Optical</a:t>
              </a:r>
            </a:p>
          </p:txBody>
        </p:sp>
        <p:sp>
          <p:nvSpPr>
            <p:cNvPr id="81" name="TextBox 72">
              <a:extLst>
                <a:ext uri="{FF2B5EF4-FFF2-40B4-BE49-F238E27FC236}">
                  <a16:creationId xmlns:a16="http://schemas.microsoft.com/office/drawing/2014/main" id="{C14CD704-57FA-C55A-7462-24327DE85D1C}"/>
                </a:ext>
              </a:extLst>
            </p:cNvPr>
            <p:cNvSpPr txBox="1"/>
            <p:nvPr/>
          </p:nvSpPr>
          <p:spPr>
            <a:xfrm>
              <a:off x="5314994" y="1795116"/>
              <a:ext cx="777956" cy="1156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700" b="0" dirty="0">
                  <a:solidFill>
                    <a:schemeClr val="bg2">
                      <a:lumMod val="50000"/>
                    </a:schemeClr>
                  </a:solidFill>
                  <a:latin typeface="Roboto"/>
                </a:rPr>
                <a:t>Communication</a:t>
              </a:r>
            </a:p>
          </p:txBody>
        </p:sp>
      </p:grpSp>
      <p:sp>
        <p:nvSpPr>
          <p:cNvPr id="82" name="TextBox 74">
            <a:extLst>
              <a:ext uri="{FF2B5EF4-FFF2-40B4-BE49-F238E27FC236}">
                <a16:creationId xmlns:a16="http://schemas.microsoft.com/office/drawing/2014/main" id="{131AFDB3-3F13-A4E9-BA1A-5FB9F3DC6473}"/>
              </a:ext>
            </a:extLst>
          </p:cNvPr>
          <p:cNvSpPr txBox="1"/>
          <p:nvPr/>
        </p:nvSpPr>
        <p:spPr>
          <a:xfrm>
            <a:off x="6257139" y="4763087"/>
            <a:ext cx="859398" cy="1012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600" b="0">
                <a:solidFill>
                  <a:srgbClr val="3CC583"/>
                </a:solidFill>
                <a:latin typeface="Roboto"/>
              </a:rPr>
              <a:t>Signal Regeneration</a:t>
            </a:r>
          </a:p>
        </p:txBody>
      </p:sp>
      <p:sp>
        <p:nvSpPr>
          <p:cNvPr id="83" name="TextBox 75">
            <a:extLst>
              <a:ext uri="{FF2B5EF4-FFF2-40B4-BE49-F238E27FC236}">
                <a16:creationId xmlns:a16="http://schemas.microsoft.com/office/drawing/2014/main" id="{5C450EEC-1F58-9F04-C7B8-60359487F913}"/>
              </a:ext>
            </a:extLst>
          </p:cNvPr>
          <p:cNvSpPr txBox="1"/>
          <p:nvPr/>
        </p:nvSpPr>
        <p:spPr>
          <a:xfrm>
            <a:off x="510419" y="5546185"/>
            <a:ext cx="917764" cy="1012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600" b="0">
                <a:solidFill>
                  <a:srgbClr val="91BC39"/>
                </a:solidFill>
                <a:latin typeface="Roboto"/>
              </a:rPr>
              <a:t>Network Connectivity</a:t>
            </a:r>
          </a:p>
        </p:txBody>
      </p:sp>
      <p:sp>
        <p:nvSpPr>
          <p:cNvPr id="84" name="TextBox 76">
            <a:extLst>
              <a:ext uri="{FF2B5EF4-FFF2-40B4-BE49-F238E27FC236}">
                <a16:creationId xmlns:a16="http://schemas.microsoft.com/office/drawing/2014/main" id="{2B68EF40-F77E-D2B6-AFB8-9F9A7B209420}"/>
              </a:ext>
            </a:extLst>
          </p:cNvPr>
          <p:cNvSpPr txBox="1"/>
          <p:nvPr/>
        </p:nvSpPr>
        <p:spPr>
          <a:xfrm>
            <a:off x="6360330" y="2030661"/>
            <a:ext cx="563049" cy="1012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600" b="0" dirty="0">
                <a:solidFill>
                  <a:schemeClr val="bg2">
                    <a:lumMod val="50000"/>
                  </a:schemeClr>
                </a:solidFill>
                <a:latin typeface="Roboto"/>
              </a:rPr>
              <a:t>Laser Beams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379C5C3-5A67-2E5D-0195-9D32247B6117}"/>
              </a:ext>
            </a:extLst>
          </p:cNvPr>
          <p:cNvGrpSpPr/>
          <p:nvPr/>
        </p:nvGrpSpPr>
        <p:grpSpPr>
          <a:xfrm>
            <a:off x="607706" y="1835494"/>
            <a:ext cx="686728" cy="202378"/>
            <a:chOff x="694757" y="1402365"/>
            <a:chExt cx="686728" cy="202378"/>
          </a:xfrm>
        </p:grpSpPr>
        <p:sp>
          <p:nvSpPr>
            <p:cNvPr id="86" name="TextBox 77">
              <a:extLst>
                <a:ext uri="{FF2B5EF4-FFF2-40B4-BE49-F238E27FC236}">
                  <a16:creationId xmlns:a16="http://schemas.microsoft.com/office/drawing/2014/main" id="{269F792B-33B5-684A-D223-1F56804AAD1C}"/>
                </a:ext>
              </a:extLst>
            </p:cNvPr>
            <p:cNvSpPr txBox="1"/>
            <p:nvPr/>
          </p:nvSpPr>
          <p:spPr>
            <a:xfrm>
              <a:off x="694757" y="1402365"/>
              <a:ext cx="686728" cy="1011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sz="600" b="0" dirty="0">
                  <a:solidFill>
                    <a:schemeClr val="accent4">
                      <a:lumMod val="75000"/>
                    </a:schemeClr>
                  </a:solidFill>
                  <a:latin typeface="Roboto"/>
                </a:rPr>
                <a:t>Long-Distance</a:t>
              </a:r>
            </a:p>
          </p:txBody>
        </p:sp>
        <p:sp>
          <p:nvSpPr>
            <p:cNvPr id="87" name="TextBox 78">
              <a:extLst>
                <a:ext uri="{FF2B5EF4-FFF2-40B4-BE49-F238E27FC236}">
                  <a16:creationId xmlns:a16="http://schemas.microsoft.com/office/drawing/2014/main" id="{1FFDEF6E-1A01-1FC4-3C9A-1C1FFC5D0709}"/>
                </a:ext>
              </a:extLst>
            </p:cNvPr>
            <p:cNvSpPr txBox="1"/>
            <p:nvPr/>
          </p:nvSpPr>
          <p:spPr>
            <a:xfrm>
              <a:off x="694757" y="1503486"/>
              <a:ext cx="686728" cy="101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sz="600" b="0" dirty="0">
                  <a:solidFill>
                    <a:schemeClr val="accent4">
                      <a:lumMod val="75000"/>
                    </a:schemeClr>
                  </a:solidFill>
                  <a:latin typeface="Roboto"/>
                </a:rPr>
                <a:t>Communication</a:t>
              </a:r>
            </a:p>
          </p:txBody>
        </p:sp>
      </p:grpSp>
      <p:sp>
        <p:nvSpPr>
          <p:cNvPr id="88" name="TextBox 80">
            <a:extLst>
              <a:ext uri="{FF2B5EF4-FFF2-40B4-BE49-F238E27FC236}">
                <a16:creationId xmlns:a16="http://schemas.microsoft.com/office/drawing/2014/main" id="{D456A38D-A759-7BEB-9DFD-A190CD028281}"/>
              </a:ext>
            </a:extLst>
          </p:cNvPr>
          <p:cNvSpPr txBox="1"/>
          <p:nvPr/>
        </p:nvSpPr>
        <p:spPr>
          <a:xfrm>
            <a:off x="1621333" y="1731874"/>
            <a:ext cx="942139" cy="1156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700" b="0" dirty="0">
                <a:solidFill>
                  <a:schemeClr val="accent4">
                    <a:lumMod val="75000"/>
                  </a:schemeClr>
                </a:solidFill>
                <a:latin typeface="Roboto"/>
              </a:rPr>
              <a:t>RF Communication</a:t>
            </a:r>
          </a:p>
        </p:txBody>
      </p:sp>
      <p:sp>
        <p:nvSpPr>
          <p:cNvPr id="89" name="TextBox 81">
            <a:extLst>
              <a:ext uri="{FF2B5EF4-FFF2-40B4-BE49-F238E27FC236}">
                <a16:creationId xmlns:a16="http://schemas.microsoft.com/office/drawing/2014/main" id="{B4F75218-2A0B-01FE-882B-FAD054A42920}"/>
              </a:ext>
            </a:extLst>
          </p:cNvPr>
          <p:cNvSpPr txBox="1"/>
          <p:nvPr/>
        </p:nvSpPr>
        <p:spPr>
          <a:xfrm>
            <a:off x="6257139" y="5057054"/>
            <a:ext cx="722640" cy="1012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600" b="0">
                <a:solidFill>
                  <a:srgbClr val="3CC583"/>
                </a:solidFill>
                <a:latin typeface="Roboto"/>
              </a:rPr>
              <a:t>Signal Repeating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0F0A263-5CB2-9CBB-DD6B-2D39401F8B67}"/>
              </a:ext>
            </a:extLst>
          </p:cNvPr>
          <p:cNvGrpSpPr/>
          <p:nvPr/>
        </p:nvGrpSpPr>
        <p:grpSpPr>
          <a:xfrm>
            <a:off x="741456" y="5151036"/>
            <a:ext cx="686728" cy="202378"/>
            <a:chOff x="828507" y="4717907"/>
            <a:chExt cx="686728" cy="202378"/>
          </a:xfrm>
        </p:grpSpPr>
        <p:sp>
          <p:nvSpPr>
            <p:cNvPr id="91" name="TextBox 82">
              <a:extLst>
                <a:ext uri="{FF2B5EF4-FFF2-40B4-BE49-F238E27FC236}">
                  <a16:creationId xmlns:a16="http://schemas.microsoft.com/office/drawing/2014/main" id="{B0AFE283-9FD9-E9A0-BE1B-C611B83E64A3}"/>
                </a:ext>
              </a:extLst>
            </p:cNvPr>
            <p:cNvSpPr txBox="1"/>
            <p:nvPr/>
          </p:nvSpPr>
          <p:spPr>
            <a:xfrm>
              <a:off x="828507" y="4717907"/>
              <a:ext cx="686728" cy="1011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sz="600" b="0">
                  <a:solidFill>
                    <a:srgbClr val="91BC39"/>
                  </a:solidFill>
                  <a:latin typeface="Roboto"/>
                </a:rPr>
                <a:t>Spacecraft</a:t>
              </a:r>
            </a:p>
          </p:txBody>
        </p:sp>
        <p:sp>
          <p:nvSpPr>
            <p:cNvPr id="92" name="TextBox 83">
              <a:extLst>
                <a:ext uri="{FF2B5EF4-FFF2-40B4-BE49-F238E27FC236}">
                  <a16:creationId xmlns:a16="http://schemas.microsoft.com/office/drawing/2014/main" id="{34865823-D107-11FE-7A0A-2EF47BDE5DC0}"/>
                </a:ext>
              </a:extLst>
            </p:cNvPr>
            <p:cNvSpPr txBox="1"/>
            <p:nvPr/>
          </p:nvSpPr>
          <p:spPr>
            <a:xfrm>
              <a:off x="828507" y="4819028"/>
              <a:ext cx="686728" cy="101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sz="600" b="0">
                  <a:solidFill>
                    <a:srgbClr val="91BC39"/>
                  </a:solidFill>
                  <a:latin typeface="Roboto"/>
                </a:rPr>
                <a:t>Communication</a:t>
              </a:r>
            </a:p>
          </p:txBody>
        </p:sp>
      </p:grpSp>
      <p:sp>
        <p:nvSpPr>
          <p:cNvPr id="93" name="TextBox 85">
            <a:extLst>
              <a:ext uri="{FF2B5EF4-FFF2-40B4-BE49-F238E27FC236}">
                <a16:creationId xmlns:a16="http://schemas.microsoft.com/office/drawing/2014/main" id="{EC24BD3B-5CBF-E088-2832-A5650555BCE7}"/>
              </a:ext>
            </a:extLst>
          </p:cNvPr>
          <p:cNvSpPr txBox="1"/>
          <p:nvPr/>
        </p:nvSpPr>
        <p:spPr>
          <a:xfrm>
            <a:off x="259160" y="1541529"/>
            <a:ext cx="1035273" cy="10120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600" b="0" dirty="0">
                <a:solidFill>
                  <a:schemeClr val="accent4">
                    <a:lumMod val="75000"/>
                  </a:schemeClr>
                </a:solidFill>
                <a:latin typeface="Roboto"/>
              </a:rPr>
              <a:t>Traditional Radio Waves</a:t>
            </a:r>
          </a:p>
        </p:txBody>
      </p:sp>
      <p:sp>
        <p:nvSpPr>
          <p:cNvPr id="94" name="TextBox 86">
            <a:extLst>
              <a:ext uri="{FF2B5EF4-FFF2-40B4-BE49-F238E27FC236}">
                <a16:creationId xmlns:a16="http://schemas.microsoft.com/office/drawing/2014/main" id="{B3C12AFB-D52B-BCE7-C745-C3564D6B6F29}"/>
              </a:ext>
            </a:extLst>
          </p:cNvPr>
          <p:cNvSpPr txBox="1"/>
          <p:nvPr/>
        </p:nvSpPr>
        <p:spPr>
          <a:xfrm>
            <a:off x="1775142" y="5206448"/>
            <a:ext cx="788330" cy="390338"/>
          </a:xfrm>
          <a:prstGeom prst="rect">
            <a:avLst/>
          </a:prstGeom>
          <a:solidFill>
            <a:srgbClr val="F3F8F5"/>
          </a:solidFill>
          <a:ln>
            <a:solidFill>
              <a:srgbClr val="92BD39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700" b="0" dirty="0">
              <a:solidFill>
                <a:srgbClr val="91BC39"/>
              </a:solidFill>
              <a:latin typeface="Roboto"/>
            </a:endParaRPr>
          </a:p>
          <a:p>
            <a:pPr algn="ctr"/>
            <a:r>
              <a:rPr sz="700" b="0" dirty="0">
                <a:solidFill>
                  <a:srgbClr val="91BC39"/>
                </a:solidFill>
                <a:latin typeface="Roboto"/>
              </a:rPr>
              <a:t>Inter-Spacecraft</a:t>
            </a:r>
            <a:endParaRPr lang="en-US" sz="700" b="0" dirty="0">
              <a:solidFill>
                <a:srgbClr val="91BC39"/>
              </a:solidFill>
              <a:latin typeface="Roboto"/>
            </a:endParaRPr>
          </a:p>
          <a:p>
            <a:pPr algn="ctr"/>
            <a:r>
              <a:rPr lang="en-IN" sz="700" dirty="0">
                <a:solidFill>
                  <a:srgbClr val="91BC39"/>
                </a:solidFill>
                <a:latin typeface="Roboto"/>
              </a:rPr>
              <a:t>Networking</a:t>
            </a:r>
          </a:p>
          <a:p>
            <a:pPr algn="ctr"/>
            <a:endParaRPr sz="700" b="0" dirty="0">
              <a:solidFill>
                <a:srgbClr val="91BC39"/>
              </a:solidFill>
              <a:latin typeface="Roboto"/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E750AE7-6041-57B6-F352-34ACDE2543AE}"/>
              </a:ext>
            </a:extLst>
          </p:cNvPr>
          <p:cNvGrpSpPr/>
          <p:nvPr/>
        </p:nvGrpSpPr>
        <p:grpSpPr>
          <a:xfrm>
            <a:off x="5227943" y="4845004"/>
            <a:ext cx="666323" cy="231341"/>
            <a:chOff x="5314994" y="4411875"/>
            <a:chExt cx="666323" cy="231341"/>
          </a:xfrm>
        </p:grpSpPr>
        <p:sp>
          <p:nvSpPr>
            <p:cNvPr id="96" name="TextBox 90">
              <a:extLst>
                <a:ext uri="{FF2B5EF4-FFF2-40B4-BE49-F238E27FC236}">
                  <a16:creationId xmlns:a16="http://schemas.microsoft.com/office/drawing/2014/main" id="{C50A4535-94BC-B749-1684-133DB0C41B9B}"/>
                </a:ext>
              </a:extLst>
            </p:cNvPr>
            <p:cNvSpPr txBox="1"/>
            <p:nvPr/>
          </p:nvSpPr>
          <p:spPr>
            <a:xfrm>
              <a:off x="5314994" y="4411875"/>
              <a:ext cx="666323" cy="115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700" b="0">
                  <a:solidFill>
                    <a:srgbClr val="3CC583"/>
                  </a:solidFill>
                  <a:latin typeface="Roboto"/>
                </a:rPr>
                <a:t>Regenerative</a:t>
              </a:r>
            </a:p>
          </p:txBody>
        </p:sp>
        <p:sp>
          <p:nvSpPr>
            <p:cNvPr id="97" name="TextBox 91">
              <a:extLst>
                <a:ext uri="{FF2B5EF4-FFF2-40B4-BE49-F238E27FC236}">
                  <a16:creationId xmlns:a16="http://schemas.microsoft.com/office/drawing/2014/main" id="{21FDB75C-8DBA-71A5-E4E3-1005A40E8D8B}"/>
                </a:ext>
              </a:extLst>
            </p:cNvPr>
            <p:cNvSpPr txBox="1"/>
            <p:nvPr/>
          </p:nvSpPr>
          <p:spPr>
            <a:xfrm>
              <a:off x="5314994" y="4527534"/>
              <a:ext cx="666323" cy="115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700" b="0">
                  <a:solidFill>
                    <a:srgbClr val="3CC583"/>
                  </a:solidFill>
                  <a:latin typeface="Roboto"/>
                </a:rPr>
                <a:t>Relaying</a:t>
              </a:r>
            </a:p>
          </p:txBody>
        </p:sp>
      </p:grp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B0BDC236-98F2-96FD-FD9A-EAF76B0B20CF}"/>
              </a:ext>
            </a:extLst>
          </p:cNvPr>
          <p:cNvSpPr/>
          <p:nvPr/>
        </p:nvSpPr>
        <p:spPr>
          <a:xfrm>
            <a:off x="8775628" y="1567793"/>
            <a:ext cx="7204" cy="475488"/>
          </a:xfrm>
          <a:custGeom>
            <a:avLst/>
            <a:gdLst/>
            <a:ahLst/>
            <a:cxnLst/>
            <a:rect l="0" t="0" r="0" b="0"/>
            <a:pathLst>
              <a:path w="7204" h="475488">
                <a:moveTo>
                  <a:pt x="0" y="475488"/>
                </a:moveTo>
                <a:lnTo>
                  <a:pt x="0" y="0"/>
                </a:lnTo>
              </a:path>
            </a:pathLst>
          </a:custGeom>
          <a:noFill/>
          <a:ln w="1440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3">
            <a:extLst>
              <a:ext uri="{FF2B5EF4-FFF2-40B4-BE49-F238E27FC236}">
                <a16:creationId xmlns:a16="http://schemas.microsoft.com/office/drawing/2014/main" id="{E23A8C66-4C47-B596-0891-A1B4112B8A2C}"/>
              </a:ext>
            </a:extLst>
          </p:cNvPr>
          <p:cNvSpPr/>
          <p:nvPr/>
        </p:nvSpPr>
        <p:spPr>
          <a:xfrm>
            <a:off x="8775627" y="1546180"/>
            <a:ext cx="172904" cy="7204"/>
          </a:xfrm>
          <a:custGeom>
            <a:avLst/>
            <a:gdLst/>
            <a:ahLst/>
            <a:cxnLst/>
            <a:rect l="0" t="0" r="0" b="0"/>
            <a:pathLst>
              <a:path w="172904" h="7204">
                <a:moveTo>
                  <a:pt x="172904" y="0"/>
                </a:moveTo>
                <a:lnTo>
                  <a:pt x="86452" y="0"/>
                </a:lnTo>
                <a:lnTo>
                  <a:pt x="0" y="0"/>
                </a:lnTo>
              </a:path>
            </a:pathLst>
          </a:custGeom>
          <a:noFill/>
          <a:ln w="14408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4">
            <a:extLst>
              <a:ext uri="{FF2B5EF4-FFF2-40B4-BE49-F238E27FC236}">
                <a16:creationId xmlns:a16="http://schemas.microsoft.com/office/drawing/2014/main" id="{39B426AB-3565-8407-43F0-BBA609128863}"/>
              </a:ext>
            </a:extLst>
          </p:cNvPr>
          <p:cNvSpPr/>
          <p:nvPr/>
        </p:nvSpPr>
        <p:spPr>
          <a:xfrm>
            <a:off x="8775628" y="2086507"/>
            <a:ext cx="7204" cy="475488"/>
          </a:xfrm>
          <a:custGeom>
            <a:avLst/>
            <a:gdLst/>
            <a:ahLst/>
            <a:cxnLst/>
            <a:rect l="0" t="0" r="0" b="0"/>
            <a:pathLst>
              <a:path w="7204" h="475488">
                <a:moveTo>
                  <a:pt x="0" y="475488"/>
                </a:moveTo>
                <a:lnTo>
                  <a:pt x="0" y="0"/>
                </a:lnTo>
              </a:path>
            </a:pathLst>
          </a:custGeom>
          <a:noFill/>
          <a:ln w="1440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5">
            <a:extLst>
              <a:ext uri="{FF2B5EF4-FFF2-40B4-BE49-F238E27FC236}">
                <a16:creationId xmlns:a16="http://schemas.microsoft.com/office/drawing/2014/main" id="{C41AB242-15CC-F246-23C8-A53BEEDF33BF}"/>
              </a:ext>
            </a:extLst>
          </p:cNvPr>
          <p:cNvSpPr/>
          <p:nvPr/>
        </p:nvSpPr>
        <p:spPr>
          <a:xfrm>
            <a:off x="8775627" y="2064894"/>
            <a:ext cx="172904" cy="7204"/>
          </a:xfrm>
          <a:custGeom>
            <a:avLst/>
            <a:gdLst/>
            <a:ahLst/>
            <a:cxnLst/>
            <a:rect l="0" t="0" r="0" b="0"/>
            <a:pathLst>
              <a:path w="172904" h="7204">
                <a:moveTo>
                  <a:pt x="172904" y="0"/>
                </a:moveTo>
                <a:lnTo>
                  <a:pt x="86452" y="0"/>
                </a:lnTo>
                <a:lnTo>
                  <a:pt x="0" y="0"/>
                </a:lnTo>
              </a:path>
            </a:pathLst>
          </a:custGeom>
          <a:noFill/>
          <a:ln w="14408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6">
            <a:extLst>
              <a:ext uri="{FF2B5EF4-FFF2-40B4-BE49-F238E27FC236}">
                <a16:creationId xmlns:a16="http://schemas.microsoft.com/office/drawing/2014/main" id="{42A26EFF-0DF1-3229-82B9-075D1F848965}"/>
              </a:ext>
            </a:extLst>
          </p:cNvPr>
          <p:cNvSpPr/>
          <p:nvPr/>
        </p:nvSpPr>
        <p:spPr>
          <a:xfrm>
            <a:off x="8775628" y="2605221"/>
            <a:ext cx="7204" cy="475488"/>
          </a:xfrm>
          <a:custGeom>
            <a:avLst/>
            <a:gdLst/>
            <a:ahLst/>
            <a:cxnLst/>
            <a:rect l="0" t="0" r="0" b="0"/>
            <a:pathLst>
              <a:path w="7204" h="475488">
                <a:moveTo>
                  <a:pt x="0" y="475488"/>
                </a:moveTo>
                <a:lnTo>
                  <a:pt x="0" y="0"/>
                </a:lnTo>
              </a:path>
            </a:pathLst>
          </a:custGeom>
          <a:noFill/>
          <a:ln w="1440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7">
            <a:extLst>
              <a:ext uri="{FF2B5EF4-FFF2-40B4-BE49-F238E27FC236}">
                <a16:creationId xmlns:a16="http://schemas.microsoft.com/office/drawing/2014/main" id="{8A34A8CD-D7C3-A8C8-3312-E8B2BB9730B7}"/>
              </a:ext>
            </a:extLst>
          </p:cNvPr>
          <p:cNvSpPr/>
          <p:nvPr/>
        </p:nvSpPr>
        <p:spPr>
          <a:xfrm>
            <a:off x="8775627" y="2583608"/>
            <a:ext cx="172904" cy="7204"/>
          </a:xfrm>
          <a:custGeom>
            <a:avLst/>
            <a:gdLst/>
            <a:ahLst/>
            <a:cxnLst/>
            <a:rect l="0" t="0" r="0" b="0"/>
            <a:pathLst>
              <a:path w="172904" h="7204">
                <a:moveTo>
                  <a:pt x="172904" y="0"/>
                </a:moveTo>
                <a:lnTo>
                  <a:pt x="86452" y="0"/>
                </a:lnTo>
                <a:lnTo>
                  <a:pt x="0" y="0"/>
                </a:lnTo>
              </a:path>
            </a:pathLst>
          </a:custGeom>
          <a:noFill/>
          <a:ln w="14408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8">
            <a:extLst>
              <a:ext uri="{FF2B5EF4-FFF2-40B4-BE49-F238E27FC236}">
                <a16:creationId xmlns:a16="http://schemas.microsoft.com/office/drawing/2014/main" id="{84C73E6E-A971-F3E7-D584-0EDBD1936B04}"/>
              </a:ext>
            </a:extLst>
          </p:cNvPr>
          <p:cNvSpPr/>
          <p:nvPr/>
        </p:nvSpPr>
        <p:spPr>
          <a:xfrm>
            <a:off x="8775628" y="3123935"/>
            <a:ext cx="7204" cy="475488"/>
          </a:xfrm>
          <a:custGeom>
            <a:avLst/>
            <a:gdLst/>
            <a:ahLst/>
            <a:cxnLst/>
            <a:rect l="0" t="0" r="0" b="0"/>
            <a:pathLst>
              <a:path w="7204" h="475488">
                <a:moveTo>
                  <a:pt x="0" y="475488"/>
                </a:moveTo>
                <a:lnTo>
                  <a:pt x="0" y="0"/>
                </a:lnTo>
              </a:path>
            </a:pathLst>
          </a:custGeom>
          <a:noFill/>
          <a:ln w="1440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9">
            <a:extLst>
              <a:ext uri="{FF2B5EF4-FFF2-40B4-BE49-F238E27FC236}">
                <a16:creationId xmlns:a16="http://schemas.microsoft.com/office/drawing/2014/main" id="{A126D45B-406F-7D74-4E6A-B0FBB14C926E}"/>
              </a:ext>
            </a:extLst>
          </p:cNvPr>
          <p:cNvSpPr/>
          <p:nvPr/>
        </p:nvSpPr>
        <p:spPr>
          <a:xfrm>
            <a:off x="8775627" y="3102322"/>
            <a:ext cx="172904" cy="7204"/>
          </a:xfrm>
          <a:custGeom>
            <a:avLst/>
            <a:gdLst/>
            <a:ahLst/>
            <a:cxnLst/>
            <a:rect l="0" t="0" r="0" b="0"/>
            <a:pathLst>
              <a:path w="172904" h="7204">
                <a:moveTo>
                  <a:pt x="172904" y="0"/>
                </a:moveTo>
                <a:lnTo>
                  <a:pt x="86452" y="0"/>
                </a:lnTo>
                <a:lnTo>
                  <a:pt x="0" y="0"/>
                </a:lnTo>
              </a:path>
            </a:pathLst>
          </a:custGeom>
          <a:noFill/>
          <a:ln w="14408">
            <a:solidFill>
              <a:schemeClr val="accent2">
                <a:lumMod val="75000"/>
                <a:lumOff val="25000"/>
              </a:scheme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">
            <a:extLst>
              <a:ext uri="{FF2B5EF4-FFF2-40B4-BE49-F238E27FC236}">
                <a16:creationId xmlns:a16="http://schemas.microsoft.com/office/drawing/2014/main" id="{23C54718-1702-396A-4CC2-25393A920EC9}"/>
              </a:ext>
            </a:extLst>
          </p:cNvPr>
          <p:cNvSpPr/>
          <p:nvPr/>
        </p:nvSpPr>
        <p:spPr>
          <a:xfrm>
            <a:off x="8775628" y="3642650"/>
            <a:ext cx="7204" cy="475488"/>
          </a:xfrm>
          <a:custGeom>
            <a:avLst/>
            <a:gdLst/>
            <a:ahLst/>
            <a:cxnLst/>
            <a:rect l="0" t="0" r="0" b="0"/>
            <a:pathLst>
              <a:path w="7204" h="475488">
                <a:moveTo>
                  <a:pt x="0" y="475488"/>
                </a:moveTo>
                <a:lnTo>
                  <a:pt x="0" y="0"/>
                </a:lnTo>
              </a:path>
            </a:pathLst>
          </a:custGeom>
          <a:noFill/>
          <a:ln w="1440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1">
            <a:extLst>
              <a:ext uri="{FF2B5EF4-FFF2-40B4-BE49-F238E27FC236}">
                <a16:creationId xmlns:a16="http://schemas.microsoft.com/office/drawing/2014/main" id="{3C96D8A4-9307-E7FA-8D70-78403E92B6A9}"/>
              </a:ext>
            </a:extLst>
          </p:cNvPr>
          <p:cNvSpPr/>
          <p:nvPr/>
        </p:nvSpPr>
        <p:spPr>
          <a:xfrm>
            <a:off x="8775627" y="3621036"/>
            <a:ext cx="172904" cy="7204"/>
          </a:xfrm>
          <a:custGeom>
            <a:avLst/>
            <a:gdLst/>
            <a:ahLst/>
            <a:cxnLst/>
            <a:rect l="0" t="0" r="0" b="0"/>
            <a:pathLst>
              <a:path w="172904" h="7204">
                <a:moveTo>
                  <a:pt x="172904" y="0"/>
                </a:moveTo>
                <a:lnTo>
                  <a:pt x="86452" y="0"/>
                </a:lnTo>
                <a:lnTo>
                  <a:pt x="0" y="0"/>
                </a:lnTo>
              </a:path>
            </a:pathLst>
          </a:custGeom>
          <a:noFill/>
          <a:ln w="14408">
            <a:solidFill>
              <a:srgbClr val="7F64E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2">
            <a:extLst>
              <a:ext uri="{FF2B5EF4-FFF2-40B4-BE49-F238E27FC236}">
                <a16:creationId xmlns:a16="http://schemas.microsoft.com/office/drawing/2014/main" id="{EADAB315-30E8-9C61-7299-2A05AD7C342F}"/>
              </a:ext>
            </a:extLst>
          </p:cNvPr>
          <p:cNvSpPr/>
          <p:nvPr/>
        </p:nvSpPr>
        <p:spPr>
          <a:xfrm>
            <a:off x="8775628" y="4161364"/>
            <a:ext cx="7204" cy="475488"/>
          </a:xfrm>
          <a:custGeom>
            <a:avLst/>
            <a:gdLst/>
            <a:ahLst/>
            <a:cxnLst/>
            <a:rect l="0" t="0" r="0" b="0"/>
            <a:pathLst>
              <a:path w="7204" h="475488">
                <a:moveTo>
                  <a:pt x="0" y="475488"/>
                </a:moveTo>
                <a:lnTo>
                  <a:pt x="0" y="0"/>
                </a:lnTo>
              </a:path>
            </a:pathLst>
          </a:custGeom>
          <a:noFill/>
          <a:ln w="1440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3">
            <a:extLst>
              <a:ext uri="{FF2B5EF4-FFF2-40B4-BE49-F238E27FC236}">
                <a16:creationId xmlns:a16="http://schemas.microsoft.com/office/drawing/2014/main" id="{ADCBF33C-52AF-8279-3710-C8C19BF65907}"/>
              </a:ext>
            </a:extLst>
          </p:cNvPr>
          <p:cNvSpPr/>
          <p:nvPr/>
        </p:nvSpPr>
        <p:spPr>
          <a:xfrm>
            <a:off x="8775627" y="4139751"/>
            <a:ext cx="172904" cy="7204"/>
          </a:xfrm>
          <a:custGeom>
            <a:avLst/>
            <a:gdLst/>
            <a:ahLst/>
            <a:cxnLst/>
            <a:rect l="0" t="0" r="0" b="0"/>
            <a:pathLst>
              <a:path w="172904" h="7204">
                <a:moveTo>
                  <a:pt x="172904" y="0"/>
                </a:moveTo>
                <a:lnTo>
                  <a:pt x="86452" y="0"/>
                </a:lnTo>
                <a:lnTo>
                  <a:pt x="0" y="0"/>
                </a:lnTo>
              </a:path>
            </a:pathLst>
          </a:custGeom>
          <a:noFill/>
          <a:ln w="14408">
            <a:solidFill>
              <a:schemeClr val="tx2">
                <a:lumMod val="90000"/>
                <a:lumOff val="10000"/>
              </a:scheme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4">
            <a:extLst>
              <a:ext uri="{FF2B5EF4-FFF2-40B4-BE49-F238E27FC236}">
                <a16:creationId xmlns:a16="http://schemas.microsoft.com/office/drawing/2014/main" id="{640D84BF-636A-E88A-EE61-27D9A5280D0F}"/>
              </a:ext>
            </a:extLst>
          </p:cNvPr>
          <p:cNvSpPr/>
          <p:nvPr/>
        </p:nvSpPr>
        <p:spPr>
          <a:xfrm>
            <a:off x="8775628" y="4680078"/>
            <a:ext cx="7204" cy="475488"/>
          </a:xfrm>
          <a:custGeom>
            <a:avLst/>
            <a:gdLst/>
            <a:ahLst/>
            <a:cxnLst/>
            <a:rect l="0" t="0" r="0" b="0"/>
            <a:pathLst>
              <a:path w="7204" h="475488">
                <a:moveTo>
                  <a:pt x="0" y="475488"/>
                </a:moveTo>
                <a:lnTo>
                  <a:pt x="0" y="0"/>
                </a:lnTo>
              </a:path>
            </a:pathLst>
          </a:custGeom>
          <a:noFill/>
          <a:ln w="1440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5">
            <a:extLst>
              <a:ext uri="{FF2B5EF4-FFF2-40B4-BE49-F238E27FC236}">
                <a16:creationId xmlns:a16="http://schemas.microsoft.com/office/drawing/2014/main" id="{332DA4CC-6992-12C9-25FF-5B1D362D53BF}"/>
              </a:ext>
            </a:extLst>
          </p:cNvPr>
          <p:cNvSpPr/>
          <p:nvPr/>
        </p:nvSpPr>
        <p:spPr>
          <a:xfrm>
            <a:off x="8775627" y="4658465"/>
            <a:ext cx="172904" cy="7204"/>
          </a:xfrm>
          <a:custGeom>
            <a:avLst/>
            <a:gdLst/>
            <a:ahLst/>
            <a:cxnLst/>
            <a:rect l="0" t="0" r="0" b="0"/>
            <a:pathLst>
              <a:path w="172904" h="7204">
                <a:moveTo>
                  <a:pt x="172904" y="0"/>
                </a:moveTo>
                <a:lnTo>
                  <a:pt x="86452" y="0"/>
                </a:lnTo>
                <a:lnTo>
                  <a:pt x="0" y="0"/>
                </a:lnTo>
              </a:path>
            </a:pathLst>
          </a:custGeom>
          <a:noFill/>
          <a:ln w="14408">
            <a:solidFill>
              <a:schemeClr val="accent4">
                <a:lumMod val="75000"/>
              </a:scheme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6">
            <a:extLst>
              <a:ext uri="{FF2B5EF4-FFF2-40B4-BE49-F238E27FC236}">
                <a16:creationId xmlns:a16="http://schemas.microsoft.com/office/drawing/2014/main" id="{B4EE0E27-6527-70E3-808F-4FEA0AA73D43}"/>
              </a:ext>
            </a:extLst>
          </p:cNvPr>
          <p:cNvSpPr/>
          <p:nvPr/>
        </p:nvSpPr>
        <p:spPr>
          <a:xfrm>
            <a:off x="8775628" y="5198792"/>
            <a:ext cx="7204" cy="475488"/>
          </a:xfrm>
          <a:custGeom>
            <a:avLst/>
            <a:gdLst/>
            <a:ahLst/>
            <a:cxnLst/>
            <a:rect l="0" t="0" r="0" b="0"/>
            <a:pathLst>
              <a:path w="7204" h="475488">
                <a:moveTo>
                  <a:pt x="0" y="475488"/>
                </a:moveTo>
                <a:lnTo>
                  <a:pt x="0" y="0"/>
                </a:lnTo>
              </a:path>
            </a:pathLst>
          </a:custGeom>
          <a:noFill/>
          <a:ln w="1440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7">
            <a:extLst>
              <a:ext uri="{FF2B5EF4-FFF2-40B4-BE49-F238E27FC236}">
                <a16:creationId xmlns:a16="http://schemas.microsoft.com/office/drawing/2014/main" id="{3F97BF50-E7FA-BF3F-EF32-14A83FC80E56}"/>
              </a:ext>
            </a:extLst>
          </p:cNvPr>
          <p:cNvSpPr/>
          <p:nvPr/>
        </p:nvSpPr>
        <p:spPr>
          <a:xfrm>
            <a:off x="8775627" y="5177179"/>
            <a:ext cx="172904" cy="7204"/>
          </a:xfrm>
          <a:custGeom>
            <a:avLst/>
            <a:gdLst/>
            <a:ahLst/>
            <a:cxnLst/>
            <a:rect l="0" t="0" r="0" b="0"/>
            <a:pathLst>
              <a:path w="172904" h="7204">
                <a:moveTo>
                  <a:pt x="172904" y="0"/>
                </a:moveTo>
                <a:lnTo>
                  <a:pt x="86452" y="0"/>
                </a:lnTo>
                <a:lnTo>
                  <a:pt x="0" y="0"/>
                </a:lnTo>
              </a:path>
            </a:pathLst>
          </a:custGeom>
          <a:noFill/>
          <a:ln w="14408">
            <a:solidFill>
              <a:schemeClr val="accent2">
                <a:lumMod val="90000"/>
                <a:lumOff val="10000"/>
              </a:scheme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unded Rectangle 21">
            <a:extLst>
              <a:ext uri="{FF2B5EF4-FFF2-40B4-BE49-F238E27FC236}">
                <a16:creationId xmlns:a16="http://schemas.microsoft.com/office/drawing/2014/main" id="{E08AF103-D147-4562-7DD3-21FFFC4CCD6B}"/>
              </a:ext>
            </a:extLst>
          </p:cNvPr>
          <p:cNvSpPr/>
          <p:nvPr/>
        </p:nvSpPr>
        <p:spPr>
          <a:xfrm>
            <a:off x="8775627" y="5695893"/>
            <a:ext cx="172904" cy="7204"/>
          </a:xfrm>
          <a:custGeom>
            <a:avLst/>
            <a:gdLst/>
            <a:ahLst/>
            <a:cxnLst/>
            <a:rect l="0" t="0" r="0" b="0"/>
            <a:pathLst>
              <a:path w="172904" h="7204">
                <a:moveTo>
                  <a:pt x="172904" y="0"/>
                </a:moveTo>
                <a:lnTo>
                  <a:pt x="86452" y="0"/>
                </a:lnTo>
                <a:lnTo>
                  <a:pt x="0" y="0"/>
                </a:lnTo>
              </a:path>
            </a:pathLst>
          </a:custGeom>
          <a:noFill/>
          <a:ln w="14408">
            <a:solidFill>
              <a:srgbClr val="00206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2844989-2A66-1C83-D449-71D96D0934E5}"/>
              </a:ext>
            </a:extLst>
          </p:cNvPr>
          <p:cNvGrpSpPr/>
          <p:nvPr/>
        </p:nvGrpSpPr>
        <p:grpSpPr>
          <a:xfrm>
            <a:off x="7333855" y="3534584"/>
            <a:ext cx="1168007" cy="345808"/>
            <a:chOff x="546631" y="2982606"/>
            <a:chExt cx="1168007" cy="345808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195041BA-E6F2-E91A-BE1A-413912F40DCC}"/>
                </a:ext>
              </a:extLst>
            </p:cNvPr>
            <p:cNvSpPr txBox="1"/>
            <p:nvPr/>
          </p:nvSpPr>
          <p:spPr>
            <a:xfrm>
              <a:off x="371430" y="2982606"/>
              <a:ext cx="1343208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>
                  <a:solidFill>
                    <a:srgbClr val="7F64EA"/>
                  </a:solidFill>
                  <a:latin typeface="Roboto"/>
                </a:rPr>
                <a:t>Space-based relay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129BB3D-5530-F603-6F01-CECAB4A50011}"/>
                </a:ext>
              </a:extLst>
            </p:cNvPr>
            <p:cNvSpPr txBox="1"/>
            <p:nvPr/>
          </p:nvSpPr>
          <p:spPr>
            <a:xfrm>
              <a:off x="371430" y="3155510"/>
              <a:ext cx="1343208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>
                  <a:solidFill>
                    <a:srgbClr val="7F64EA"/>
                  </a:solidFill>
                  <a:latin typeface="Roboto"/>
                </a:rPr>
                <a:t>networks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C534748-6293-680E-72FC-06742D51DDB6}"/>
              </a:ext>
            </a:extLst>
          </p:cNvPr>
          <p:cNvGrpSpPr/>
          <p:nvPr/>
        </p:nvGrpSpPr>
        <p:grpSpPr>
          <a:xfrm>
            <a:off x="9135846" y="3534584"/>
            <a:ext cx="2539639" cy="345808"/>
            <a:chOff x="2348622" y="2982606"/>
            <a:chExt cx="2539639" cy="345808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2A6B4CC2-2FF5-FEF2-943D-2606E12D31E8}"/>
                </a:ext>
              </a:extLst>
            </p:cNvPr>
            <p:cNvSpPr txBox="1"/>
            <p:nvPr/>
          </p:nvSpPr>
          <p:spPr>
            <a:xfrm>
              <a:off x="2348622" y="2982606"/>
              <a:ext cx="2920584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484848"/>
                  </a:solidFill>
                  <a:latin typeface="Roboto"/>
                </a:rPr>
                <a:t>Require relay satellites and deployment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9027F25C-3127-0AE4-AD8E-731CA057CFE2}"/>
                </a:ext>
              </a:extLst>
            </p:cNvPr>
            <p:cNvSpPr txBox="1"/>
            <p:nvPr/>
          </p:nvSpPr>
          <p:spPr>
            <a:xfrm>
              <a:off x="2348622" y="3155510"/>
              <a:ext cx="2920584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484848"/>
                  </a:solidFill>
                  <a:latin typeface="Roboto"/>
                </a:rPr>
                <a:t>planning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39BDC8F-C7E1-0304-B6ED-3BA094FC6104}"/>
              </a:ext>
            </a:extLst>
          </p:cNvPr>
          <p:cNvGrpSpPr/>
          <p:nvPr/>
        </p:nvGrpSpPr>
        <p:grpSpPr>
          <a:xfrm>
            <a:off x="9135846" y="3015870"/>
            <a:ext cx="2676615" cy="345808"/>
            <a:chOff x="2348622" y="2463892"/>
            <a:chExt cx="2676615" cy="345808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120E14CC-D116-7E47-B6D2-BEB457FD6B5C}"/>
                </a:ext>
              </a:extLst>
            </p:cNvPr>
            <p:cNvSpPr txBox="1"/>
            <p:nvPr/>
          </p:nvSpPr>
          <p:spPr>
            <a:xfrm>
              <a:off x="2348622" y="2463892"/>
              <a:ext cx="3078107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 dirty="0">
                  <a:solidFill>
                    <a:srgbClr val="484848"/>
                  </a:solidFill>
                  <a:latin typeface="Roboto"/>
                </a:rPr>
                <a:t>Requires usable path between spacecraft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6E8EBEC-2BDC-6FBB-51CE-D78A53DE8E68}"/>
                </a:ext>
              </a:extLst>
            </p:cNvPr>
            <p:cNvSpPr txBox="1"/>
            <p:nvPr/>
          </p:nvSpPr>
          <p:spPr>
            <a:xfrm>
              <a:off x="2348622" y="2636796"/>
              <a:ext cx="3078107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 dirty="0">
                  <a:solidFill>
                    <a:srgbClr val="484848"/>
                  </a:solidFill>
                  <a:latin typeface="Roboto"/>
                </a:rPr>
                <a:t>and ground station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7D90E7E-B401-E9D0-8422-CD9BA3F9B711}"/>
              </a:ext>
            </a:extLst>
          </p:cNvPr>
          <p:cNvGrpSpPr/>
          <p:nvPr/>
        </p:nvGrpSpPr>
        <p:grpSpPr>
          <a:xfrm>
            <a:off x="7314043" y="4053297"/>
            <a:ext cx="1187819" cy="345809"/>
            <a:chOff x="526819" y="3501319"/>
            <a:chExt cx="1187819" cy="345809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92233CF9-7F2B-E76F-892A-6F38F34B8571}"/>
                </a:ext>
              </a:extLst>
            </p:cNvPr>
            <p:cNvSpPr txBox="1"/>
            <p:nvPr/>
          </p:nvSpPr>
          <p:spPr>
            <a:xfrm>
              <a:off x="348647" y="3501319"/>
              <a:ext cx="1365991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Roboto"/>
                </a:rPr>
                <a:t>High-gain and low-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45EB9F9-CE3F-41A6-BE71-CA3C06B02DD5}"/>
                </a:ext>
              </a:extLst>
            </p:cNvPr>
            <p:cNvSpPr txBox="1"/>
            <p:nvPr/>
          </p:nvSpPr>
          <p:spPr>
            <a:xfrm>
              <a:off x="348647" y="3674224"/>
              <a:ext cx="1365991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Roboto"/>
                </a:rPr>
                <a:t>gain antennas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F3340C6B-2E62-306B-A4CC-B5C3ACACA510}"/>
              </a:ext>
            </a:extLst>
          </p:cNvPr>
          <p:cNvGrpSpPr/>
          <p:nvPr/>
        </p:nvGrpSpPr>
        <p:grpSpPr>
          <a:xfrm>
            <a:off x="7499749" y="3015870"/>
            <a:ext cx="1002112" cy="345808"/>
            <a:chOff x="712525" y="2463892"/>
            <a:chExt cx="1002112" cy="345808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E496C1A-574B-D6F1-6BBE-B8F0EFA84FA5}"/>
                </a:ext>
              </a:extLst>
            </p:cNvPr>
            <p:cNvSpPr txBox="1"/>
            <p:nvPr/>
          </p:nvSpPr>
          <p:spPr>
            <a:xfrm>
              <a:off x="562209" y="2463892"/>
              <a:ext cx="1152428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 dirty="0">
                  <a:solidFill>
                    <a:schemeClr val="accent2">
                      <a:lumMod val="75000"/>
                      <a:lumOff val="25000"/>
                    </a:schemeClr>
                  </a:solidFill>
                  <a:latin typeface="Roboto"/>
                </a:rPr>
                <a:t>Direct-to-Earth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60AD43D-BB02-CA16-43BF-DA81BE3D6A9E}"/>
                </a:ext>
              </a:extLst>
            </p:cNvPr>
            <p:cNvSpPr txBox="1"/>
            <p:nvPr/>
          </p:nvSpPr>
          <p:spPr>
            <a:xfrm>
              <a:off x="562209" y="2636796"/>
              <a:ext cx="1152428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 dirty="0">
                  <a:solidFill>
                    <a:schemeClr val="accent2">
                      <a:lumMod val="75000"/>
                      <a:lumOff val="25000"/>
                    </a:schemeClr>
                  </a:solidFill>
                  <a:latin typeface="Roboto"/>
                </a:rPr>
                <a:t>communication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07122146-71DB-20E3-4319-9AA43CC8E863}"/>
              </a:ext>
            </a:extLst>
          </p:cNvPr>
          <p:cNvGrpSpPr/>
          <p:nvPr/>
        </p:nvGrpSpPr>
        <p:grpSpPr>
          <a:xfrm>
            <a:off x="9135846" y="4053297"/>
            <a:ext cx="2645096" cy="345809"/>
            <a:chOff x="2348622" y="3501319"/>
            <a:chExt cx="2645096" cy="345809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798375B-0FB7-69A0-F731-D9D4C85A8B0B}"/>
                </a:ext>
              </a:extLst>
            </p:cNvPr>
            <p:cNvSpPr txBox="1"/>
            <p:nvPr/>
          </p:nvSpPr>
          <p:spPr>
            <a:xfrm>
              <a:off x="2348622" y="3501319"/>
              <a:ext cx="3041860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484848"/>
                  </a:solidFill>
                  <a:latin typeface="Roboto"/>
                </a:rPr>
                <a:t>Trade-off between pointing accuracy and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4649C4A8-BA84-A55A-C9A0-F1C2D5EDA919}"/>
                </a:ext>
              </a:extLst>
            </p:cNvPr>
            <p:cNvSpPr txBox="1"/>
            <p:nvPr/>
          </p:nvSpPr>
          <p:spPr>
            <a:xfrm>
              <a:off x="2348622" y="3674224"/>
              <a:ext cx="3041860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484848"/>
                  </a:solidFill>
                  <a:latin typeface="Roboto"/>
                </a:rPr>
                <a:t>coverage</a:t>
              </a: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EA0857F0-EA55-77EF-A83E-9419E0644DB5}"/>
              </a:ext>
            </a:extLst>
          </p:cNvPr>
          <p:cNvGrpSpPr/>
          <p:nvPr/>
        </p:nvGrpSpPr>
        <p:grpSpPr>
          <a:xfrm>
            <a:off x="7174875" y="4572012"/>
            <a:ext cx="1326987" cy="340469"/>
            <a:chOff x="387651" y="4020034"/>
            <a:chExt cx="1326987" cy="340469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B1CA2C9-A819-1899-543B-6BD1E4A84ABF}"/>
                </a:ext>
              </a:extLst>
            </p:cNvPr>
            <p:cNvSpPr txBox="1"/>
            <p:nvPr/>
          </p:nvSpPr>
          <p:spPr>
            <a:xfrm>
              <a:off x="387652" y="4020034"/>
              <a:ext cx="1326986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 dirty="0">
                  <a:solidFill>
                    <a:schemeClr val="accent4">
                      <a:lumMod val="75000"/>
                    </a:schemeClr>
                  </a:solidFill>
                  <a:latin typeface="Roboto"/>
                </a:rPr>
                <a:t>Store-and-forward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BA74A173-E5CF-D3D1-BE6F-88F2ECCD735E}"/>
                </a:ext>
              </a:extLst>
            </p:cNvPr>
            <p:cNvSpPr txBox="1"/>
            <p:nvPr/>
          </p:nvSpPr>
          <p:spPr>
            <a:xfrm>
              <a:off x="387651" y="4187599"/>
              <a:ext cx="1326986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 dirty="0">
                  <a:solidFill>
                    <a:schemeClr val="accent4">
                      <a:lumMod val="75000"/>
                    </a:schemeClr>
                  </a:solidFill>
                  <a:latin typeface="Roboto"/>
                </a:rPr>
                <a:t>communication</a:t>
              </a: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A9FC5EC-5FA1-7534-1B19-66C4662ABAFF}"/>
              </a:ext>
            </a:extLst>
          </p:cNvPr>
          <p:cNvGrpSpPr/>
          <p:nvPr/>
        </p:nvGrpSpPr>
        <p:grpSpPr>
          <a:xfrm>
            <a:off x="7118322" y="2497155"/>
            <a:ext cx="1383540" cy="345809"/>
            <a:chOff x="331098" y="1945177"/>
            <a:chExt cx="1383540" cy="345809"/>
          </a:xfrm>
        </p:grpSpPr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7AF4DD71-AD8C-141A-8608-467DD7A19D45}"/>
                </a:ext>
              </a:extLst>
            </p:cNvPr>
            <p:cNvSpPr txBox="1"/>
            <p:nvPr/>
          </p:nvSpPr>
          <p:spPr>
            <a:xfrm>
              <a:off x="123567" y="1945177"/>
              <a:ext cx="1591071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>
                  <a:solidFill>
                    <a:srgbClr val="92BD39"/>
                  </a:solidFill>
                  <a:latin typeface="Roboto"/>
                </a:rPr>
                <a:t>Relay communication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68A2AA3-896C-7DC7-737B-050B3A07CCDF}"/>
                </a:ext>
              </a:extLst>
            </p:cNvPr>
            <p:cNvSpPr txBox="1"/>
            <p:nvPr/>
          </p:nvSpPr>
          <p:spPr>
            <a:xfrm>
              <a:off x="123567" y="2118082"/>
              <a:ext cx="1591071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>
                  <a:solidFill>
                    <a:srgbClr val="92BD39"/>
                  </a:solidFill>
                  <a:latin typeface="Roboto"/>
                </a:rPr>
                <a:t>through orbiters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C57A4248-65AB-0968-6498-2E69737688C6}"/>
              </a:ext>
            </a:extLst>
          </p:cNvPr>
          <p:cNvGrpSpPr/>
          <p:nvPr/>
        </p:nvGrpSpPr>
        <p:grpSpPr>
          <a:xfrm>
            <a:off x="9135846" y="4572012"/>
            <a:ext cx="2127282" cy="345808"/>
            <a:chOff x="2348622" y="4020034"/>
            <a:chExt cx="2127282" cy="345808"/>
          </a:xfrm>
        </p:grpSpPr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5ADC44C1-70B0-85A3-5986-CB8CD7751B42}"/>
                </a:ext>
              </a:extLst>
            </p:cNvPr>
            <p:cNvSpPr txBox="1"/>
            <p:nvPr/>
          </p:nvSpPr>
          <p:spPr>
            <a:xfrm>
              <a:off x="2348622" y="4020034"/>
              <a:ext cx="2446374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484848"/>
                  </a:solidFill>
                  <a:latin typeface="Roboto"/>
                </a:rPr>
                <a:t>Data stored until communication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4AD42D67-06F9-94FF-37EF-BFC12342688B}"/>
                </a:ext>
              </a:extLst>
            </p:cNvPr>
            <p:cNvSpPr txBox="1"/>
            <p:nvPr/>
          </p:nvSpPr>
          <p:spPr>
            <a:xfrm>
              <a:off x="2348622" y="4192938"/>
              <a:ext cx="2446374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484848"/>
                  </a:solidFill>
                  <a:latin typeface="Roboto"/>
                </a:rPr>
                <a:t>opportunity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98BCBAA2-9390-ED11-C1E2-7F06A35EA469}"/>
              </a:ext>
            </a:extLst>
          </p:cNvPr>
          <p:cNvGrpSpPr/>
          <p:nvPr/>
        </p:nvGrpSpPr>
        <p:grpSpPr>
          <a:xfrm>
            <a:off x="9135846" y="1978442"/>
            <a:ext cx="2708134" cy="345808"/>
            <a:chOff x="2348622" y="1426464"/>
            <a:chExt cx="2708134" cy="345808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D635F82-407F-F94A-CBA8-200B345F419F}"/>
                </a:ext>
              </a:extLst>
            </p:cNvPr>
            <p:cNvSpPr txBox="1"/>
            <p:nvPr/>
          </p:nvSpPr>
          <p:spPr>
            <a:xfrm>
              <a:off x="2348622" y="1426464"/>
              <a:ext cx="3114354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484848"/>
                  </a:solidFill>
                  <a:latin typeface="Roboto"/>
                </a:rPr>
                <a:t>Requires precise pointing and clear line of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5E0D2D71-6071-DFBE-5F44-1FC5D2311C69}"/>
                </a:ext>
              </a:extLst>
            </p:cNvPr>
            <p:cNvSpPr txBox="1"/>
            <p:nvPr/>
          </p:nvSpPr>
          <p:spPr>
            <a:xfrm>
              <a:off x="2348622" y="1599368"/>
              <a:ext cx="3114354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484848"/>
                  </a:solidFill>
                  <a:latin typeface="Roboto"/>
                </a:rPr>
                <a:t>sight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EA6C45E-0994-52BF-BFA7-F4A065E656C8}"/>
              </a:ext>
            </a:extLst>
          </p:cNvPr>
          <p:cNvGrpSpPr/>
          <p:nvPr/>
        </p:nvGrpSpPr>
        <p:grpSpPr>
          <a:xfrm>
            <a:off x="7135835" y="5090727"/>
            <a:ext cx="1366026" cy="345808"/>
            <a:chOff x="348611" y="4538749"/>
            <a:chExt cx="1366026" cy="345808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5963C6D-9B5C-F2E9-8DBD-A9F0DAA18B01}"/>
                </a:ext>
              </a:extLst>
            </p:cNvPr>
            <p:cNvSpPr txBox="1"/>
            <p:nvPr/>
          </p:nvSpPr>
          <p:spPr>
            <a:xfrm>
              <a:off x="143708" y="4538749"/>
              <a:ext cx="1570929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 dirty="0">
                  <a:solidFill>
                    <a:schemeClr val="accent2">
                      <a:lumMod val="90000"/>
                      <a:lumOff val="10000"/>
                    </a:schemeClr>
                  </a:solidFill>
                  <a:latin typeface="Roboto"/>
                </a:rPr>
                <a:t>Regenerative relaying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D1FD1519-552F-E650-9EEA-B4A15044C380}"/>
                </a:ext>
              </a:extLst>
            </p:cNvPr>
            <p:cNvSpPr txBox="1"/>
            <p:nvPr/>
          </p:nvSpPr>
          <p:spPr>
            <a:xfrm>
              <a:off x="143708" y="4711653"/>
              <a:ext cx="1570929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 dirty="0">
                  <a:solidFill>
                    <a:schemeClr val="accent2">
                      <a:lumMod val="90000"/>
                      <a:lumOff val="10000"/>
                    </a:schemeClr>
                  </a:solidFill>
                  <a:latin typeface="Roboto"/>
                </a:rPr>
                <a:t>and signal repeating</a:t>
              </a: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BC9EB781-3124-42D7-DC3F-89D0E559A7C7}"/>
              </a:ext>
            </a:extLst>
          </p:cNvPr>
          <p:cNvGrpSpPr/>
          <p:nvPr/>
        </p:nvGrpSpPr>
        <p:grpSpPr>
          <a:xfrm>
            <a:off x="7499749" y="1978442"/>
            <a:ext cx="1002112" cy="345808"/>
            <a:chOff x="712525" y="1426464"/>
            <a:chExt cx="1002112" cy="345808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111E30E1-F5A3-175C-574C-260E6647444C}"/>
                </a:ext>
              </a:extLst>
            </p:cNvPr>
            <p:cNvSpPr txBox="1"/>
            <p:nvPr/>
          </p:nvSpPr>
          <p:spPr>
            <a:xfrm>
              <a:off x="562209" y="1426464"/>
              <a:ext cx="1152428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>
                  <a:solidFill>
                    <a:srgbClr val="3CC583"/>
                  </a:solidFill>
                  <a:latin typeface="Roboto"/>
                </a:rPr>
                <a:t>Optical or laser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E1AA5F29-1D68-F5E4-4107-ED0384D47987}"/>
                </a:ext>
              </a:extLst>
            </p:cNvPr>
            <p:cNvSpPr txBox="1"/>
            <p:nvPr/>
          </p:nvSpPr>
          <p:spPr>
            <a:xfrm>
              <a:off x="562209" y="1599368"/>
              <a:ext cx="1152428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>
                  <a:solidFill>
                    <a:srgbClr val="3CC583"/>
                  </a:solidFill>
                  <a:latin typeface="Roboto"/>
                </a:rPr>
                <a:t>communication</a:t>
              </a:r>
            </a:p>
          </p:txBody>
        </p: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E15B7FB0-3B81-9789-C529-40304516BA1B}"/>
              </a:ext>
            </a:extLst>
          </p:cNvPr>
          <p:cNvSpPr txBox="1"/>
          <p:nvPr/>
        </p:nvSpPr>
        <p:spPr>
          <a:xfrm>
            <a:off x="9135846" y="5090727"/>
            <a:ext cx="2416921" cy="1729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484848"/>
                </a:solidFill>
                <a:latin typeface="Roboto"/>
              </a:rPr>
              <a:t>Amplifies noise along with signal</a:t>
            </a: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15C50ED9-B9C3-1F67-7A99-437431BB0E71}"/>
              </a:ext>
            </a:extLst>
          </p:cNvPr>
          <p:cNvGrpSpPr/>
          <p:nvPr/>
        </p:nvGrpSpPr>
        <p:grpSpPr>
          <a:xfrm>
            <a:off x="7157845" y="1459727"/>
            <a:ext cx="1344017" cy="345808"/>
            <a:chOff x="370621" y="907749"/>
            <a:chExt cx="1344017" cy="345808"/>
          </a:xfrm>
        </p:grpSpPr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7C130520-36FA-F84D-AD3A-67586696AE12}"/>
                </a:ext>
              </a:extLst>
            </p:cNvPr>
            <p:cNvSpPr txBox="1"/>
            <p:nvPr/>
          </p:nvSpPr>
          <p:spPr>
            <a:xfrm>
              <a:off x="169019" y="907749"/>
              <a:ext cx="1545619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 dirty="0">
                  <a:solidFill>
                    <a:srgbClr val="4E88E7"/>
                  </a:solidFill>
                  <a:latin typeface="Roboto"/>
                </a:rPr>
                <a:t>Radio-frequency (RF)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D681FC4D-8144-4998-1852-F76755941E23}"/>
                </a:ext>
              </a:extLst>
            </p:cNvPr>
            <p:cNvSpPr txBox="1"/>
            <p:nvPr/>
          </p:nvSpPr>
          <p:spPr>
            <a:xfrm>
              <a:off x="169019" y="1080653"/>
              <a:ext cx="1545619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>
                  <a:solidFill>
                    <a:srgbClr val="4E88E7"/>
                  </a:solidFill>
                  <a:latin typeface="Roboto"/>
                </a:rPr>
                <a:t>communication</a:t>
              </a:r>
            </a:p>
          </p:txBody>
        </p:sp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id="{5BE8B357-D72F-CE50-DEF6-0ACE2003630E}"/>
              </a:ext>
            </a:extLst>
          </p:cNvPr>
          <p:cNvSpPr txBox="1"/>
          <p:nvPr/>
        </p:nvSpPr>
        <p:spPr>
          <a:xfrm>
            <a:off x="7294521" y="1142999"/>
            <a:ext cx="4431912" cy="2264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1300" b="1" dirty="0">
                <a:solidFill>
                  <a:srgbClr val="484848"/>
                </a:solidFill>
                <a:latin typeface="Roboto"/>
              </a:rPr>
              <a:t>LIMITATIONS</a:t>
            </a:r>
            <a:endParaRPr sz="1300" b="1" dirty="0">
              <a:solidFill>
                <a:srgbClr val="484848"/>
              </a:solidFill>
              <a:latin typeface="Roboto"/>
            </a:endParaRP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E96851AD-44FC-AA15-C3B4-DE945C1A9C48}"/>
              </a:ext>
            </a:extLst>
          </p:cNvPr>
          <p:cNvGrpSpPr/>
          <p:nvPr/>
        </p:nvGrpSpPr>
        <p:grpSpPr>
          <a:xfrm>
            <a:off x="7488345" y="5609441"/>
            <a:ext cx="1013517" cy="345808"/>
            <a:chOff x="701121" y="5057463"/>
            <a:chExt cx="1013517" cy="345808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2CD97CEB-82E6-1B21-4DC9-9E2DD8680438}"/>
                </a:ext>
              </a:extLst>
            </p:cNvPr>
            <p:cNvSpPr txBox="1"/>
            <p:nvPr/>
          </p:nvSpPr>
          <p:spPr>
            <a:xfrm>
              <a:off x="549094" y="5057463"/>
              <a:ext cx="1165544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 dirty="0">
                  <a:solidFill>
                    <a:srgbClr val="002060"/>
                  </a:solidFill>
                  <a:latin typeface="Roboto"/>
                </a:rPr>
                <a:t>Inter-spacecraft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3270B6B-2177-435B-EBB5-344BDC9E0326}"/>
                </a:ext>
              </a:extLst>
            </p:cNvPr>
            <p:cNvSpPr txBox="1"/>
            <p:nvPr/>
          </p:nvSpPr>
          <p:spPr>
            <a:xfrm>
              <a:off x="549094" y="5230367"/>
              <a:ext cx="1165544" cy="1729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100" b="0" dirty="0">
                  <a:solidFill>
                    <a:srgbClr val="002060"/>
                  </a:solidFill>
                  <a:latin typeface="Roboto"/>
                </a:rPr>
                <a:t>networking</a:t>
              </a:r>
            </a:p>
          </p:txBody>
        </p:sp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E82B34BC-B297-F6B0-8D07-B98D510D466D}"/>
              </a:ext>
            </a:extLst>
          </p:cNvPr>
          <p:cNvSpPr txBox="1"/>
          <p:nvPr/>
        </p:nvSpPr>
        <p:spPr>
          <a:xfrm>
            <a:off x="9135846" y="1459727"/>
            <a:ext cx="2929904" cy="1729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 dirty="0">
                <a:solidFill>
                  <a:srgbClr val="484848"/>
                </a:solidFill>
                <a:latin typeface="Roboto"/>
              </a:rPr>
              <a:t>Signal strength decreases with distance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E66F655-3DFA-3954-7312-712AEA72B6B3}"/>
              </a:ext>
            </a:extLst>
          </p:cNvPr>
          <p:cNvSpPr txBox="1"/>
          <p:nvPr/>
        </p:nvSpPr>
        <p:spPr>
          <a:xfrm>
            <a:off x="9135846" y="2497156"/>
            <a:ext cx="3061777" cy="1729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 dirty="0">
                <a:solidFill>
                  <a:srgbClr val="484848"/>
                </a:solidFill>
                <a:latin typeface="Roboto"/>
              </a:rPr>
              <a:t>Depends on orbiter position and coverage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8565B859-5DA0-1F0B-3D58-131348E12A79}"/>
              </a:ext>
            </a:extLst>
          </p:cNvPr>
          <p:cNvSpPr txBox="1"/>
          <p:nvPr/>
        </p:nvSpPr>
        <p:spPr>
          <a:xfrm>
            <a:off x="9135846" y="5609441"/>
            <a:ext cx="3026450" cy="1729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 dirty="0">
                <a:solidFill>
                  <a:srgbClr val="484848"/>
                </a:solidFill>
                <a:latin typeface="Roboto"/>
              </a:rPr>
              <a:t>Spacecraft communicate with each other</a:t>
            </a:r>
          </a:p>
        </p:txBody>
      </p:sp>
      <p:sp>
        <p:nvSpPr>
          <p:cNvPr id="168" name="Team Badge">
            <a:extLst>
              <a:ext uri="{FF2B5EF4-FFF2-40B4-BE49-F238E27FC236}">
                <a16:creationId xmlns:a16="http://schemas.microsoft.com/office/drawing/2014/main" id="{86FC19F9-0704-7FA7-9BFA-73A8EEECE806}"/>
              </a:ext>
            </a:extLst>
          </p:cNvPr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0" name="Team Name">
            <a:extLst>
              <a:ext uri="{FF2B5EF4-FFF2-40B4-BE49-F238E27FC236}">
                <a16:creationId xmlns:a16="http://schemas.microsoft.com/office/drawing/2014/main" id="{F2979677-1BC4-C989-A705-45A289BE675F}"/>
              </a:ext>
            </a:extLst>
          </p:cNvPr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BRAIN BYTES </a:t>
            </a:r>
            <a:endParaRPr lang="en-US" sz="2000" dirty="0"/>
          </a:p>
        </p:txBody>
      </p:sp>
      <p:pic>
        <p:nvPicPr>
          <p:cNvPr id="172" name="Picture 171">
            <a:extLst>
              <a:ext uri="{FF2B5EF4-FFF2-40B4-BE49-F238E27FC236}">
                <a16:creationId xmlns:a16="http://schemas.microsoft.com/office/drawing/2014/main" id="{D52A2198-53AA-606D-0E14-41BB312E6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32" y="357518"/>
            <a:ext cx="748004" cy="7480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  <p:sp>
        <p:nvSpPr>
          <p:cNvPr id="411" name="Rounded Rectangle 2">
            <a:extLst>
              <a:ext uri="{FF2B5EF4-FFF2-40B4-BE49-F238E27FC236}">
                <a16:creationId xmlns:a16="http://schemas.microsoft.com/office/drawing/2014/main" id="{7FF33F73-DEA7-9D9D-9CEE-6B15E08676F1}"/>
              </a:ext>
            </a:extLst>
          </p:cNvPr>
          <p:cNvSpPr/>
          <p:nvPr/>
        </p:nvSpPr>
        <p:spPr>
          <a:xfrm flipV="1">
            <a:off x="2213237" y="3577909"/>
            <a:ext cx="7385632" cy="45719"/>
          </a:xfrm>
          <a:custGeom>
            <a:avLst/>
            <a:gdLst/>
            <a:ahLst/>
            <a:cxnLst/>
            <a:rect l="0" t="0" r="0" b="0"/>
            <a:pathLst>
              <a:path w="7130616" h="8519">
                <a:moveTo>
                  <a:pt x="485597" y="0"/>
                </a:moveTo>
                <a:lnTo>
                  <a:pt x="0" y="0"/>
                </a:lnTo>
                <a:moveTo>
                  <a:pt x="1005533" y="0"/>
                </a:moveTo>
                <a:lnTo>
                  <a:pt x="536462" y="0"/>
                </a:lnTo>
                <a:moveTo>
                  <a:pt x="1507908" y="0"/>
                </a:moveTo>
                <a:lnTo>
                  <a:pt x="1056387" y="0"/>
                </a:lnTo>
                <a:moveTo>
                  <a:pt x="2019063" y="0"/>
                </a:moveTo>
                <a:lnTo>
                  <a:pt x="1558768" y="0"/>
                </a:lnTo>
                <a:moveTo>
                  <a:pt x="2530218" y="0"/>
                </a:moveTo>
                <a:lnTo>
                  <a:pt x="2069925" y="0"/>
                </a:lnTo>
                <a:moveTo>
                  <a:pt x="3041634" y="0"/>
                </a:moveTo>
                <a:lnTo>
                  <a:pt x="2581079" y="0"/>
                </a:lnTo>
                <a:moveTo>
                  <a:pt x="3552783" y="0"/>
                </a:moveTo>
                <a:lnTo>
                  <a:pt x="3092489" y="0"/>
                </a:lnTo>
                <a:moveTo>
                  <a:pt x="4063684" y="0"/>
                </a:moveTo>
                <a:lnTo>
                  <a:pt x="3603644" y="0"/>
                </a:lnTo>
                <a:moveTo>
                  <a:pt x="4575092" y="0"/>
                </a:moveTo>
                <a:lnTo>
                  <a:pt x="4114630" y="0"/>
                </a:lnTo>
                <a:moveTo>
                  <a:pt x="5086249" y="0"/>
                </a:moveTo>
                <a:lnTo>
                  <a:pt x="4625955" y="0"/>
                </a:lnTo>
                <a:moveTo>
                  <a:pt x="5597410" y="0"/>
                </a:moveTo>
                <a:lnTo>
                  <a:pt x="5137110" y="0"/>
                </a:lnTo>
                <a:moveTo>
                  <a:pt x="5648265" y="0"/>
                </a:moveTo>
                <a:lnTo>
                  <a:pt x="6108305" y="0"/>
                </a:lnTo>
                <a:moveTo>
                  <a:pt x="6159421" y="0"/>
                </a:moveTo>
                <a:lnTo>
                  <a:pt x="6619460" y="0"/>
                </a:lnTo>
                <a:moveTo>
                  <a:pt x="6670576" y="0"/>
                </a:moveTo>
                <a:lnTo>
                  <a:pt x="7130616" y="0"/>
                </a:lnTo>
              </a:path>
            </a:pathLst>
          </a:custGeom>
          <a:noFill/>
          <a:ln w="851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B4DABCA7-1EF6-0EF3-64D7-5F54DEDE9AB4}"/>
              </a:ext>
            </a:extLst>
          </p:cNvPr>
          <p:cNvGrpSpPr/>
          <p:nvPr/>
        </p:nvGrpSpPr>
        <p:grpSpPr>
          <a:xfrm>
            <a:off x="9653736" y="3600768"/>
            <a:ext cx="473670" cy="47707"/>
            <a:chOff x="7428790" y="2582717"/>
            <a:chExt cx="473670" cy="47707"/>
          </a:xfrm>
        </p:grpSpPr>
        <p:sp>
          <p:nvSpPr>
            <p:cNvPr id="413" name="Rounded Rectangle 3">
              <a:extLst>
                <a:ext uri="{FF2B5EF4-FFF2-40B4-BE49-F238E27FC236}">
                  <a16:creationId xmlns:a16="http://schemas.microsoft.com/office/drawing/2014/main" id="{16CA20F6-31F9-B349-FAFD-205F58E2B8C3}"/>
                </a:ext>
              </a:extLst>
            </p:cNvPr>
            <p:cNvSpPr/>
            <p:nvPr/>
          </p:nvSpPr>
          <p:spPr>
            <a:xfrm>
              <a:off x="7428790" y="2606571"/>
              <a:ext cx="461488" cy="8519"/>
            </a:xfrm>
            <a:custGeom>
              <a:avLst/>
              <a:gdLst/>
              <a:ahLst/>
              <a:cxnLst/>
              <a:rect l="0" t="0" r="0" b="0"/>
              <a:pathLst>
                <a:path w="461488" h="8519">
                  <a:moveTo>
                    <a:pt x="461488" y="0"/>
                  </a:moveTo>
                  <a:lnTo>
                    <a:pt x="0" y="0"/>
                  </a:lnTo>
                </a:path>
              </a:pathLst>
            </a:custGeom>
            <a:noFill/>
            <a:ln w="8519">
              <a:solidFill>
                <a:srgbClr val="22403B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4" name="Rounded Rectangle 4">
              <a:extLst>
                <a:ext uri="{FF2B5EF4-FFF2-40B4-BE49-F238E27FC236}">
                  <a16:creationId xmlns:a16="http://schemas.microsoft.com/office/drawing/2014/main" id="{6D91FF2A-ADB5-E24D-A630-69389B8F6F68}"/>
                </a:ext>
              </a:extLst>
            </p:cNvPr>
            <p:cNvSpPr/>
            <p:nvPr/>
          </p:nvSpPr>
          <p:spPr>
            <a:xfrm>
              <a:off x="7859864" y="2582717"/>
              <a:ext cx="42596" cy="47707"/>
            </a:xfrm>
            <a:custGeom>
              <a:avLst/>
              <a:gdLst/>
              <a:ahLst/>
              <a:cxnLst/>
              <a:rect l="0" t="0" r="0" b="0"/>
              <a:pathLst>
                <a:path w="42596" h="47707">
                  <a:moveTo>
                    <a:pt x="42596" y="23853"/>
                  </a:moveTo>
                  <a:lnTo>
                    <a:pt x="0" y="477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403B"/>
            </a:solidFill>
            <a:ln w="8519">
              <a:solidFill>
                <a:srgbClr val="22403B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15" name="Rounded Rectangle 6">
            <a:extLst>
              <a:ext uri="{FF2B5EF4-FFF2-40B4-BE49-F238E27FC236}">
                <a16:creationId xmlns:a16="http://schemas.microsoft.com/office/drawing/2014/main" id="{F0F7BF3D-C7FB-BECB-2C6C-9A3FC20882FF}"/>
              </a:ext>
            </a:extLst>
          </p:cNvPr>
          <p:cNvSpPr/>
          <p:nvPr/>
        </p:nvSpPr>
        <p:spPr>
          <a:xfrm>
            <a:off x="2341275" y="3049574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6"/>
                </a:moveTo>
                <a:cubicBezTo>
                  <a:pt x="0" y="26154"/>
                  <a:pt x="22882" y="0"/>
                  <a:pt x="51115" y="0"/>
                </a:cubicBezTo>
                <a:lnTo>
                  <a:pt x="766732" y="0"/>
                </a:lnTo>
                <a:cubicBezTo>
                  <a:pt x="794965" y="0"/>
                  <a:pt x="817848" y="26154"/>
                  <a:pt x="817848" y="58416"/>
                </a:cubicBezTo>
                <a:lnTo>
                  <a:pt x="817848" y="350507"/>
                </a:lnTo>
                <a:cubicBezTo>
                  <a:pt x="817848" y="382770"/>
                  <a:pt x="794965" y="408924"/>
                  <a:pt x="766732" y="408924"/>
                </a:cubicBezTo>
                <a:lnTo>
                  <a:pt x="51115" y="408924"/>
                </a:lnTo>
                <a:cubicBezTo>
                  <a:pt x="22882" y="408924"/>
                  <a:pt x="0" y="382770"/>
                  <a:pt x="0" y="350507"/>
                </a:cubicBezTo>
                <a:lnTo>
                  <a:pt x="0" y="58416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Rounded Rectangle 7">
            <a:extLst>
              <a:ext uri="{FF2B5EF4-FFF2-40B4-BE49-F238E27FC236}">
                <a16:creationId xmlns:a16="http://schemas.microsoft.com/office/drawing/2014/main" id="{493C9D6C-2BE4-1DA3-8778-9E36740EAFD5}"/>
              </a:ext>
            </a:extLst>
          </p:cNvPr>
          <p:cNvSpPr/>
          <p:nvPr/>
        </p:nvSpPr>
        <p:spPr>
          <a:xfrm>
            <a:off x="2341275" y="3049574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7"/>
                </a:moveTo>
                <a:cubicBezTo>
                  <a:pt x="0" y="26154"/>
                  <a:pt x="22885" y="0"/>
                  <a:pt x="51115" y="0"/>
                </a:cubicBezTo>
                <a:lnTo>
                  <a:pt x="766732" y="0"/>
                </a:lnTo>
                <a:cubicBezTo>
                  <a:pt x="794963" y="0"/>
                  <a:pt x="817848" y="26154"/>
                  <a:pt x="817848" y="58417"/>
                </a:cubicBezTo>
                <a:lnTo>
                  <a:pt x="817848" y="350506"/>
                </a:lnTo>
                <a:cubicBezTo>
                  <a:pt x="817848" y="382770"/>
                  <a:pt x="794963" y="408924"/>
                  <a:pt x="766732" y="408924"/>
                </a:cubicBezTo>
                <a:lnTo>
                  <a:pt x="51115" y="408924"/>
                </a:lnTo>
                <a:cubicBezTo>
                  <a:pt x="22885" y="408924"/>
                  <a:pt x="0" y="382770"/>
                  <a:pt x="0" y="350506"/>
                </a:cubicBezTo>
                <a:lnTo>
                  <a:pt x="0" y="58417"/>
                </a:lnTo>
                <a:close/>
              </a:path>
            </a:pathLst>
          </a:custGeom>
          <a:noFill/>
          <a:ln w="851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Rounded Rectangle 8">
            <a:extLst>
              <a:ext uri="{FF2B5EF4-FFF2-40B4-BE49-F238E27FC236}">
                <a16:creationId xmlns:a16="http://schemas.microsoft.com/office/drawing/2014/main" id="{582F2975-F786-9822-82B3-BC2EE5ACDA0B}"/>
              </a:ext>
            </a:extLst>
          </p:cNvPr>
          <p:cNvSpPr/>
          <p:nvPr/>
        </p:nvSpPr>
        <p:spPr>
          <a:xfrm>
            <a:off x="2724641" y="3463541"/>
            <a:ext cx="51115" cy="178904"/>
          </a:xfrm>
          <a:custGeom>
            <a:avLst/>
            <a:gdLst/>
            <a:ahLst/>
            <a:cxnLst/>
            <a:rect l="0" t="0" r="0" b="0"/>
            <a:pathLst>
              <a:path w="51115" h="178904">
                <a:moveTo>
                  <a:pt x="25557" y="0"/>
                </a:moveTo>
                <a:lnTo>
                  <a:pt x="25557" y="127788"/>
                </a:lnTo>
                <a:moveTo>
                  <a:pt x="51115" y="153346"/>
                </a:moveTo>
                <a:cubicBezTo>
                  <a:pt x="51115" y="167462"/>
                  <a:pt x="39673" y="178904"/>
                  <a:pt x="25557" y="178904"/>
                </a:cubicBezTo>
                <a:cubicBezTo>
                  <a:pt x="11443" y="178904"/>
                  <a:pt x="0" y="167462"/>
                  <a:pt x="0" y="153346"/>
                </a:cubicBezTo>
                <a:cubicBezTo>
                  <a:pt x="0" y="139231"/>
                  <a:pt x="11443" y="127788"/>
                  <a:pt x="25557" y="127788"/>
                </a:cubicBezTo>
                <a:cubicBezTo>
                  <a:pt x="39673" y="127788"/>
                  <a:pt x="51115" y="139231"/>
                  <a:pt x="51115" y="153346"/>
                </a:cubicBezTo>
                <a:close/>
              </a:path>
            </a:pathLst>
          </a:custGeom>
          <a:noFill/>
          <a:ln w="851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Rounded Rectangle 9">
            <a:extLst>
              <a:ext uri="{FF2B5EF4-FFF2-40B4-BE49-F238E27FC236}">
                <a16:creationId xmlns:a16="http://schemas.microsoft.com/office/drawing/2014/main" id="{7BB673D7-7058-2864-1774-8EA74A90061A}"/>
              </a:ext>
            </a:extLst>
          </p:cNvPr>
          <p:cNvSpPr/>
          <p:nvPr/>
        </p:nvSpPr>
        <p:spPr>
          <a:xfrm>
            <a:off x="2861603" y="3792878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6"/>
                </a:moveTo>
                <a:cubicBezTo>
                  <a:pt x="0" y="26154"/>
                  <a:pt x="22882" y="0"/>
                  <a:pt x="51115" y="0"/>
                </a:cubicBezTo>
                <a:lnTo>
                  <a:pt x="766732" y="0"/>
                </a:lnTo>
                <a:cubicBezTo>
                  <a:pt x="794965" y="0"/>
                  <a:pt x="817848" y="26154"/>
                  <a:pt x="817848" y="58416"/>
                </a:cubicBezTo>
                <a:lnTo>
                  <a:pt x="817848" y="350507"/>
                </a:lnTo>
                <a:cubicBezTo>
                  <a:pt x="817848" y="382770"/>
                  <a:pt x="794965" y="408924"/>
                  <a:pt x="766732" y="408924"/>
                </a:cubicBezTo>
                <a:lnTo>
                  <a:pt x="51115" y="408924"/>
                </a:lnTo>
                <a:cubicBezTo>
                  <a:pt x="22882" y="408924"/>
                  <a:pt x="0" y="382770"/>
                  <a:pt x="0" y="350507"/>
                </a:cubicBezTo>
                <a:lnTo>
                  <a:pt x="0" y="58416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Rounded Rectangle 10">
            <a:extLst>
              <a:ext uri="{FF2B5EF4-FFF2-40B4-BE49-F238E27FC236}">
                <a16:creationId xmlns:a16="http://schemas.microsoft.com/office/drawing/2014/main" id="{A550BA87-348B-481C-C139-C785B8FB3330}"/>
              </a:ext>
            </a:extLst>
          </p:cNvPr>
          <p:cNvSpPr/>
          <p:nvPr/>
        </p:nvSpPr>
        <p:spPr>
          <a:xfrm>
            <a:off x="2864649" y="3792878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7"/>
                </a:moveTo>
                <a:cubicBezTo>
                  <a:pt x="0" y="26154"/>
                  <a:pt x="22885" y="0"/>
                  <a:pt x="51115" y="0"/>
                </a:cubicBezTo>
                <a:lnTo>
                  <a:pt x="766732" y="0"/>
                </a:lnTo>
                <a:cubicBezTo>
                  <a:pt x="794963" y="0"/>
                  <a:pt x="817848" y="26154"/>
                  <a:pt x="817848" y="58417"/>
                </a:cubicBezTo>
                <a:lnTo>
                  <a:pt x="817848" y="350506"/>
                </a:lnTo>
                <a:cubicBezTo>
                  <a:pt x="817848" y="382770"/>
                  <a:pt x="794963" y="408924"/>
                  <a:pt x="766732" y="408924"/>
                </a:cubicBezTo>
                <a:lnTo>
                  <a:pt x="51115" y="408924"/>
                </a:lnTo>
                <a:cubicBezTo>
                  <a:pt x="22885" y="408924"/>
                  <a:pt x="0" y="382770"/>
                  <a:pt x="0" y="350506"/>
                </a:cubicBezTo>
                <a:lnTo>
                  <a:pt x="0" y="58417"/>
                </a:lnTo>
                <a:close/>
              </a:path>
            </a:pathLst>
          </a:custGeom>
          <a:noFill/>
          <a:ln w="851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Rounded Rectangle 11">
            <a:extLst>
              <a:ext uri="{FF2B5EF4-FFF2-40B4-BE49-F238E27FC236}">
                <a16:creationId xmlns:a16="http://schemas.microsoft.com/office/drawing/2014/main" id="{8F6C96DA-8F51-C7E1-5674-696900995FBA}"/>
              </a:ext>
            </a:extLst>
          </p:cNvPr>
          <p:cNvSpPr/>
          <p:nvPr/>
        </p:nvSpPr>
        <p:spPr>
          <a:xfrm>
            <a:off x="3260744" y="3603316"/>
            <a:ext cx="51115" cy="178904"/>
          </a:xfrm>
          <a:custGeom>
            <a:avLst/>
            <a:gdLst/>
            <a:ahLst/>
            <a:cxnLst/>
            <a:rect l="0" t="0" r="0" b="0"/>
            <a:pathLst>
              <a:path w="51115" h="178904">
                <a:moveTo>
                  <a:pt x="25557" y="178904"/>
                </a:moveTo>
                <a:lnTo>
                  <a:pt x="25557" y="51115"/>
                </a:lnTo>
                <a:moveTo>
                  <a:pt x="51115" y="25557"/>
                </a:moveTo>
                <a:cubicBezTo>
                  <a:pt x="51115" y="39673"/>
                  <a:pt x="39672" y="51115"/>
                  <a:pt x="25557" y="51115"/>
                </a:cubicBezTo>
                <a:cubicBezTo>
                  <a:pt x="11442" y="51115"/>
                  <a:pt x="0" y="39673"/>
                  <a:pt x="0" y="25557"/>
                </a:cubicBezTo>
                <a:cubicBezTo>
                  <a:pt x="0" y="11442"/>
                  <a:pt x="11442" y="0"/>
                  <a:pt x="25557" y="0"/>
                </a:cubicBezTo>
                <a:cubicBezTo>
                  <a:pt x="39672" y="0"/>
                  <a:pt x="51115" y="11442"/>
                  <a:pt x="51115" y="25557"/>
                </a:cubicBezTo>
                <a:close/>
              </a:path>
            </a:pathLst>
          </a:custGeom>
          <a:noFill/>
          <a:ln w="851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Rounded Rectangle 12">
            <a:extLst>
              <a:ext uri="{FF2B5EF4-FFF2-40B4-BE49-F238E27FC236}">
                <a16:creationId xmlns:a16="http://schemas.microsoft.com/office/drawing/2014/main" id="{DDA28575-58A8-44B6-827D-23A9FCFE10C8}"/>
              </a:ext>
            </a:extLst>
          </p:cNvPr>
          <p:cNvSpPr/>
          <p:nvPr/>
        </p:nvSpPr>
        <p:spPr>
          <a:xfrm>
            <a:off x="3396734" y="3062352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6"/>
                </a:moveTo>
                <a:cubicBezTo>
                  <a:pt x="0" y="26154"/>
                  <a:pt x="22882" y="0"/>
                  <a:pt x="51115" y="0"/>
                </a:cubicBezTo>
                <a:lnTo>
                  <a:pt x="766732" y="0"/>
                </a:lnTo>
                <a:cubicBezTo>
                  <a:pt x="794965" y="0"/>
                  <a:pt x="817848" y="26154"/>
                  <a:pt x="817848" y="58416"/>
                </a:cubicBezTo>
                <a:lnTo>
                  <a:pt x="817848" y="350507"/>
                </a:lnTo>
                <a:cubicBezTo>
                  <a:pt x="817848" y="382770"/>
                  <a:pt x="794965" y="408924"/>
                  <a:pt x="766732" y="408924"/>
                </a:cubicBezTo>
                <a:lnTo>
                  <a:pt x="51115" y="408924"/>
                </a:lnTo>
                <a:cubicBezTo>
                  <a:pt x="22882" y="408924"/>
                  <a:pt x="0" y="382770"/>
                  <a:pt x="0" y="350507"/>
                </a:cubicBezTo>
                <a:lnTo>
                  <a:pt x="0" y="58416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Rounded Rectangle 13">
            <a:extLst>
              <a:ext uri="{FF2B5EF4-FFF2-40B4-BE49-F238E27FC236}">
                <a16:creationId xmlns:a16="http://schemas.microsoft.com/office/drawing/2014/main" id="{9AF206C3-548B-E834-92BD-068B5B1D6663}"/>
              </a:ext>
            </a:extLst>
          </p:cNvPr>
          <p:cNvSpPr/>
          <p:nvPr/>
        </p:nvSpPr>
        <p:spPr>
          <a:xfrm>
            <a:off x="3396734" y="3062352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7"/>
                </a:moveTo>
                <a:cubicBezTo>
                  <a:pt x="0" y="26154"/>
                  <a:pt x="22885" y="0"/>
                  <a:pt x="51115" y="0"/>
                </a:cubicBezTo>
                <a:lnTo>
                  <a:pt x="766732" y="0"/>
                </a:lnTo>
                <a:cubicBezTo>
                  <a:pt x="794963" y="0"/>
                  <a:pt x="817848" y="26154"/>
                  <a:pt x="817848" y="58417"/>
                </a:cubicBezTo>
                <a:lnTo>
                  <a:pt x="817848" y="350506"/>
                </a:lnTo>
                <a:cubicBezTo>
                  <a:pt x="817848" y="382770"/>
                  <a:pt x="794963" y="408924"/>
                  <a:pt x="766732" y="408924"/>
                </a:cubicBezTo>
                <a:lnTo>
                  <a:pt x="51115" y="408924"/>
                </a:lnTo>
                <a:cubicBezTo>
                  <a:pt x="22885" y="408924"/>
                  <a:pt x="0" y="382770"/>
                  <a:pt x="0" y="350506"/>
                </a:cubicBezTo>
                <a:lnTo>
                  <a:pt x="0" y="58417"/>
                </a:lnTo>
                <a:close/>
              </a:path>
            </a:pathLst>
          </a:custGeom>
          <a:noFill/>
          <a:ln w="851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Rounded Rectangle 14">
            <a:extLst>
              <a:ext uri="{FF2B5EF4-FFF2-40B4-BE49-F238E27FC236}">
                <a16:creationId xmlns:a16="http://schemas.microsoft.com/office/drawing/2014/main" id="{1966E59B-171C-D64B-AD29-C54BE9BE7D71}"/>
              </a:ext>
            </a:extLst>
          </p:cNvPr>
          <p:cNvSpPr/>
          <p:nvPr/>
        </p:nvSpPr>
        <p:spPr>
          <a:xfrm>
            <a:off x="3773302" y="3460923"/>
            <a:ext cx="51115" cy="178904"/>
          </a:xfrm>
          <a:custGeom>
            <a:avLst/>
            <a:gdLst/>
            <a:ahLst/>
            <a:cxnLst/>
            <a:rect l="0" t="0" r="0" b="0"/>
            <a:pathLst>
              <a:path w="51115" h="178904">
                <a:moveTo>
                  <a:pt x="25557" y="0"/>
                </a:moveTo>
                <a:lnTo>
                  <a:pt x="25557" y="127788"/>
                </a:lnTo>
                <a:moveTo>
                  <a:pt x="51115" y="153346"/>
                </a:moveTo>
                <a:cubicBezTo>
                  <a:pt x="51115" y="167462"/>
                  <a:pt x="39672" y="178904"/>
                  <a:pt x="25557" y="178904"/>
                </a:cubicBezTo>
                <a:cubicBezTo>
                  <a:pt x="11442" y="178904"/>
                  <a:pt x="0" y="167462"/>
                  <a:pt x="0" y="153346"/>
                </a:cubicBezTo>
                <a:cubicBezTo>
                  <a:pt x="0" y="139231"/>
                  <a:pt x="11442" y="127788"/>
                  <a:pt x="25557" y="127788"/>
                </a:cubicBezTo>
                <a:cubicBezTo>
                  <a:pt x="39672" y="127788"/>
                  <a:pt x="51115" y="139231"/>
                  <a:pt x="51115" y="153346"/>
                </a:cubicBezTo>
                <a:close/>
              </a:path>
            </a:pathLst>
          </a:custGeom>
          <a:noFill/>
          <a:ln w="851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Rounded Rectangle 15">
            <a:extLst>
              <a:ext uri="{FF2B5EF4-FFF2-40B4-BE49-F238E27FC236}">
                <a16:creationId xmlns:a16="http://schemas.microsoft.com/office/drawing/2014/main" id="{E1643D7E-A353-DB9E-1AB4-59A06399F8E3}"/>
              </a:ext>
            </a:extLst>
          </p:cNvPr>
          <p:cNvSpPr/>
          <p:nvPr/>
        </p:nvSpPr>
        <p:spPr>
          <a:xfrm>
            <a:off x="3935029" y="3793852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6"/>
                </a:moveTo>
                <a:cubicBezTo>
                  <a:pt x="0" y="26154"/>
                  <a:pt x="22882" y="0"/>
                  <a:pt x="51115" y="0"/>
                </a:cubicBezTo>
                <a:lnTo>
                  <a:pt x="766732" y="0"/>
                </a:lnTo>
                <a:cubicBezTo>
                  <a:pt x="794965" y="0"/>
                  <a:pt x="817848" y="26154"/>
                  <a:pt x="817848" y="58416"/>
                </a:cubicBezTo>
                <a:lnTo>
                  <a:pt x="817848" y="350507"/>
                </a:lnTo>
                <a:cubicBezTo>
                  <a:pt x="817848" y="382770"/>
                  <a:pt x="794965" y="408924"/>
                  <a:pt x="766732" y="408924"/>
                </a:cubicBezTo>
                <a:lnTo>
                  <a:pt x="51115" y="408924"/>
                </a:lnTo>
                <a:cubicBezTo>
                  <a:pt x="22882" y="408924"/>
                  <a:pt x="0" y="382770"/>
                  <a:pt x="0" y="350507"/>
                </a:cubicBezTo>
                <a:lnTo>
                  <a:pt x="0" y="58416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Rounded Rectangle 17">
            <a:extLst>
              <a:ext uri="{FF2B5EF4-FFF2-40B4-BE49-F238E27FC236}">
                <a16:creationId xmlns:a16="http://schemas.microsoft.com/office/drawing/2014/main" id="{5E0BBA12-DBD9-82A1-A52F-24EEE5F7AF02}"/>
              </a:ext>
            </a:extLst>
          </p:cNvPr>
          <p:cNvSpPr/>
          <p:nvPr/>
        </p:nvSpPr>
        <p:spPr>
          <a:xfrm>
            <a:off x="4307868" y="3603401"/>
            <a:ext cx="51115" cy="178904"/>
          </a:xfrm>
          <a:custGeom>
            <a:avLst/>
            <a:gdLst/>
            <a:ahLst/>
            <a:cxnLst/>
            <a:rect l="0" t="0" r="0" b="0"/>
            <a:pathLst>
              <a:path w="51115" h="178904">
                <a:moveTo>
                  <a:pt x="25557" y="178904"/>
                </a:moveTo>
                <a:lnTo>
                  <a:pt x="25557" y="51115"/>
                </a:lnTo>
                <a:moveTo>
                  <a:pt x="51115" y="25557"/>
                </a:moveTo>
                <a:cubicBezTo>
                  <a:pt x="51115" y="39673"/>
                  <a:pt x="39672" y="51115"/>
                  <a:pt x="25557" y="51115"/>
                </a:cubicBezTo>
                <a:cubicBezTo>
                  <a:pt x="11442" y="51115"/>
                  <a:pt x="0" y="39673"/>
                  <a:pt x="0" y="25557"/>
                </a:cubicBezTo>
                <a:cubicBezTo>
                  <a:pt x="0" y="11442"/>
                  <a:pt x="11442" y="0"/>
                  <a:pt x="25557" y="0"/>
                </a:cubicBezTo>
                <a:cubicBezTo>
                  <a:pt x="39672" y="0"/>
                  <a:pt x="51115" y="11442"/>
                  <a:pt x="51115" y="25557"/>
                </a:cubicBezTo>
                <a:close/>
              </a:path>
            </a:pathLst>
          </a:custGeom>
          <a:noFill/>
          <a:ln w="851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7" name="Rounded Rectangle 18">
            <a:extLst>
              <a:ext uri="{FF2B5EF4-FFF2-40B4-BE49-F238E27FC236}">
                <a16:creationId xmlns:a16="http://schemas.microsoft.com/office/drawing/2014/main" id="{31D65992-9938-9ED2-660E-B0922A22D223}"/>
              </a:ext>
            </a:extLst>
          </p:cNvPr>
          <p:cNvSpPr/>
          <p:nvPr/>
        </p:nvSpPr>
        <p:spPr>
          <a:xfrm>
            <a:off x="4477597" y="3043445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6"/>
                </a:moveTo>
                <a:cubicBezTo>
                  <a:pt x="0" y="26154"/>
                  <a:pt x="22882" y="0"/>
                  <a:pt x="51115" y="0"/>
                </a:cubicBezTo>
                <a:lnTo>
                  <a:pt x="766732" y="0"/>
                </a:lnTo>
                <a:cubicBezTo>
                  <a:pt x="794965" y="0"/>
                  <a:pt x="817848" y="26154"/>
                  <a:pt x="817848" y="58416"/>
                </a:cubicBezTo>
                <a:lnTo>
                  <a:pt x="817848" y="350507"/>
                </a:lnTo>
                <a:cubicBezTo>
                  <a:pt x="817848" y="382770"/>
                  <a:pt x="794965" y="408924"/>
                  <a:pt x="766732" y="408924"/>
                </a:cubicBezTo>
                <a:lnTo>
                  <a:pt x="51115" y="408924"/>
                </a:lnTo>
                <a:cubicBezTo>
                  <a:pt x="22882" y="408924"/>
                  <a:pt x="0" y="382770"/>
                  <a:pt x="0" y="350507"/>
                </a:cubicBezTo>
                <a:lnTo>
                  <a:pt x="0" y="58416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Rounded Rectangle 19">
            <a:extLst>
              <a:ext uri="{FF2B5EF4-FFF2-40B4-BE49-F238E27FC236}">
                <a16:creationId xmlns:a16="http://schemas.microsoft.com/office/drawing/2014/main" id="{ED82C38E-4DD9-51D3-C428-9AC3477BF310}"/>
              </a:ext>
            </a:extLst>
          </p:cNvPr>
          <p:cNvSpPr/>
          <p:nvPr/>
        </p:nvSpPr>
        <p:spPr>
          <a:xfrm>
            <a:off x="4477597" y="3043445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7"/>
                </a:moveTo>
                <a:cubicBezTo>
                  <a:pt x="0" y="26154"/>
                  <a:pt x="22885" y="0"/>
                  <a:pt x="51115" y="0"/>
                </a:cubicBezTo>
                <a:lnTo>
                  <a:pt x="766732" y="0"/>
                </a:lnTo>
                <a:cubicBezTo>
                  <a:pt x="794963" y="0"/>
                  <a:pt x="817848" y="26154"/>
                  <a:pt x="817848" y="58417"/>
                </a:cubicBezTo>
                <a:lnTo>
                  <a:pt x="817848" y="350506"/>
                </a:lnTo>
                <a:cubicBezTo>
                  <a:pt x="817848" y="382770"/>
                  <a:pt x="794963" y="408924"/>
                  <a:pt x="766732" y="408924"/>
                </a:cubicBezTo>
                <a:lnTo>
                  <a:pt x="51115" y="408924"/>
                </a:lnTo>
                <a:cubicBezTo>
                  <a:pt x="22885" y="408924"/>
                  <a:pt x="0" y="382770"/>
                  <a:pt x="0" y="350506"/>
                </a:cubicBezTo>
                <a:lnTo>
                  <a:pt x="0" y="58417"/>
                </a:lnTo>
                <a:close/>
              </a:path>
            </a:pathLst>
          </a:custGeom>
          <a:noFill/>
          <a:ln w="851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Rounded Rectangle 20">
            <a:extLst>
              <a:ext uri="{FF2B5EF4-FFF2-40B4-BE49-F238E27FC236}">
                <a16:creationId xmlns:a16="http://schemas.microsoft.com/office/drawing/2014/main" id="{6D6BF712-9176-C28F-1868-293197CD0692}"/>
              </a:ext>
            </a:extLst>
          </p:cNvPr>
          <p:cNvSpPr/>
          <p:nvPr/>
        </p:nvSpPr>
        <p:spPr>
          <a:xfrm>
            <a:off x="4835406" y="3454238"/>
            <a:ext cx="51115" cy="178904"/>
          </a:xfrm>
          <a:custGeom>
            <a:avLst/>
            <a:gdLst/>
            <a:ahLst/>
            <a:cxnLst/>
            <a:rect l="0" t="0" r="0" b="0"/>
            <a:pathLst>
              <a:path w="51115" h="178904">
                <a:moveTo>
                  <a:pt x="25557" y="0"/>
                </a:moveTo>
                <a:lnTo>
                  <a:pt x="25557" y="127788"/>
                </a:lnTo>
                <a:moveTo>
                  <a:pt x="51115" y="153346"/>
                </a:moveTo>
                <a:cubicBezTo>
                  <a:pt x="51115" y="167462"/>
                  <a:pt x="39672" y="178904"/>
                  <a:pt x="25557" y="178904"/>
                </a:cubicBezTo>
                <a:cubicBezTo>
                  <a:pt x="11442" y="178904"/>
                  <a:pt x="0" y="167462"/>
                  <a:pt x="0" y="153346"/>
                </a:cubicBezTo>
                <a:cubicBezTo>
                  <a:pt x="0" y="139231"/>
                  <a:pt x="11442" y="127788"/>
                  <a:pt x="25557" y="127788"/>
                </a:cubicBezTo>
                <a:cubicBezTo>
                  <a:pt x="39672" y="127788"/>
                  <a:pt x="51115" y="139231"/>
                  <a:pt x="51115" y="153346"/>
                </a:cubicBezTo>
                <a:close/>
              </a:path>
            </a:pathLst>
          </a:custGeom>
          <a:noFill/>
          <a:ln w="851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Rounded Rectangle 21">
            <a:extLst>
              <a:ext uri="{FF2B5EF4-FFF2-40B4-BE49-F238E27FC236}">
                <a16:creationId xmlns:a16="http://schemas.microsoft.com/office/drawing/2014/main" id="{298E1C4E-FFCE-DF0A-0894-4281A1FA5070}"/>
              </a:ext>
            </a:extLst>
          </p:cNvPr>
          <p:cNvSpPr/>
          <p:nvPr/>
        </p:nvSpPr>
        <p:spPr>
          <a:xfrm>
            <a:off x="4999282" y="3787499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6"/>
                </a:moveTo>
                <a:cubicBezTo>
                  <a:pt x="0" y="26154"/>
                  <a:pt x="22882" y="0"/>
                  <a:pt x="51115" y="0"/>
                </a:cubicBezTo>
                <a:lnTo>
                  <a:pt x="766732" y="0"/>
                </a:lnTo>
                <a:cubicBezTo>
                  <a:pt x="794965" y="0"/>
                  <a:pt x="817848" y="26154"/>
                  <a:pt x="817848" y="58416"/>
                </a:cubicBezTo>
                <a:lnTo>
                  <a:pt x="817848" y="350507"/>
                </a:lnTo>
                <a:cubicBezTo>
                  <a:pt x="817848" y="382770"/>
                  <a:pt x="794965" y="408924"/>
                  <a:pt x="766732" y="408924"/>
                </a:cubicBezTo>
                <a:lnTo>
                  <a:pt x="51115" y="408924"/>
                </a:lnTo>
                <a:cubicBezTo>
                  <a:pt x="22882" y="408924"/>
                  <a:pt x="0" y="382770"/>
                  <a:pt x="0" y="350507"/>
                </a:cubicBezTo>
                <a:lnTo>
                  <a:pt x="0" y="58416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Rounded Rectangle 22">
            <a:extLst>
              <a:ext uri="{FF2B5EF4-FFF2-40B4-BE49-F238E27FC236}">
                <a16:creationId xmlns:a16="http://schemas.microsoft.com/office/drawing/2014/main" id="{D3267F77-F327-0961-1A79-FCA6A7A29C45}"/>
              </a:ext>
            </a:extLst>
          </p:cNvPr>
          <p:cNvSpPr/>
          <p:nvPr/>
        </p:nvSpPr>
        <p:spPr>
          <a:xfrm>
            <a:off x="4999282" y="3787499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7"/>
                </a:moveTo>
                <a:cubicBezTo>
                  <a:pt x="0" y="26154"/>
                  <a:pt x="22885" y="0"/>
                  <a:pt x="51115" y="0"/>
                </a:cubicBezTo>
                <a:lnTo>
                  <a:pt x="766732" y="0"/>
                </a:lnTo>
                <a:cubicBezTo>
                  <a:pt x="794963" y="0"/>
                  <a:pt x="817848" y="26154"/>
                  <a:pt x="817848" y="58417"/>
                </a:cubicBezTo>
                <a:lnTo>
                  <a:pt x="817848" y="350506"/>
                </a:lnTo>
                <a:cubicBezTo>
                  <a:pt x="817848" y="382770"/>
                  <a:pt x="794963" y="408924"/>
                  <a:pt x="766732" y="408924"/>
                </a:cubicBezTo>
                <a:lnTo>
                  <a:pt x="51115" y="408924"/>
                </a:lnTo>
                <a:cubicBezTo>
                  <a:pt x="22885" y="408924"/>
                  <a:pt x="0" y="382770"/>
                  <a:pt x="0" y="350506"/>
                </a:cubicBezTo>
                <a:lnTo>
                  <a:pt x="0" y="58417"/>
                </a:lnTo>
                <a:close/>
              </a:path>
            </a:pathLst>
          </a:custGeom>
          <a:noFill/>
          <a:ln w="851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Rounded Rectangle 23">
            <a:extLst>
              <a:ext uri="{FF2B5EF4-FFF2-40B4-BE49-F238E27FC236}">
                <a16:creationId xmlns:a16="http://schemas.microsoft.com/office/drawing/2014/main" id="{84D29623-32A7-4030-7306-8BE5CBF0E226}"/>
              </a:ext>
            </a:extLst>
          </p:cNvPr>
          <p:cNvSpPr/>
          <p:nvPr/>
        </p:nvSpPr>
        <p:spPr>
          <a:xfrm>
            <a:off x="5357091" y="3607653"/>
            <a:ext cx="51115" cy="178904"/>
          </a:xfrm>
          <a:custGeom>
            <a:avLst/>
            <a:gdLst/>
            <a:ahLst/>
            <a:cxnLst/>
            <a:rect l="0" t="0" r="0" b="0"/>
            <a:pathLst>
              <a:path w="51115" h="178904">
                <a:moveTo>
                  <a:pt x="25557" y="178904"/>
                </a:moveTo>
                <a:lnTo>
                  <a:pt x="25557" y="51115"/>
                </a:lnTo>
                <a:moveTo>
                  <a:pt x="51115" y="25557"/>
                </a:moveTo>
                <a:cubicBezTo>
                  <a:pt x="51115" y="39673"/>
                  <a:pt x="39673" y="51115"/>
                  <a:pt x="25557" y="51115"/>
                </a:cubicBezTo>
                <a:cubicBezTo>
                  <a:pt x="11442" y="51115"/>
                  <a:pt x="0" y="39673"/>
                  <a:pt x="0" y="25557"/>
                </a:cubicBezTo>
                <a:cubicBezTo>
                  <a:pt x="0" y="11442"/>
                  <a:pt x="11442" y="0"/>
                  <a:pt x="25557" y="0"/>
                </a:cubicBezTo>
                <a:cubicBezTo>
                  <a:pt x="39673" y="0"/>
                  <a:pt x="51115" y="11442"/>
                  <a:pt x="51115" y="25557"/>
                </a:cubicBezTo>
                <a:close/>
              </a:path>
            </a:pathLst>
          </a:custGeom>
          <a:noFill/>
          <a:ln w="851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Rounded Rectangle 24">
            <a:extLst>
              <a:ext uri="{FF2B5EF4-FFF2-40B4-BE49-F238E27FC236}">
                <a16:creationId xmlns:a16="http://schemas.microsoft.com/office/drawing/2014/main" id="{B0875AD3-A330-3195-5F4D-1943C96BF542}"/>
              </a:ext>
            </a:extLst>
          </p:cNvPr>
          <p:cNvSpPr/>
          <p:nvPr/>
        </p:nvSpPr>
        <p:spPr>
          <a:xfrm>
            <a:off x="5524749" y="3046950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6"/>
                </a:moveTo>
                <a:cubicBezTo>
                  <a:pt x="0" y="26154"/>
                  <a:pt x="22882" y="0"/>
                  <a:pt x="51115" y="0"/>
                </a:cubicBezTo>
                <a:lnTo>
                  <a:pt x="766732" y="0"/>
                </a:lnTo>
                <a:cubicBezTo>
                  <a:pt x="794965" y="0"/>
                  <a:pt x="817848" y="26154"/>
                  <a:pt x="817848" y="58416"/>
                </a:cubicBezTo>
                <a:lnTo>
                  <a:pt x="817848" y="350507"/>
                </a:lnTo>
                <a:cubicBezTo>
                  <a:pt x="817848" y="382770"/>
                  <a:pt x="794965" y="408924"/>
                  <a:pt x="766732" y="408924"/>
                </a:cubicBezTo>
                <a:lnTo>
                  <a:pt x="51115" y="408924"/>
                </a:lnTo>
                <a:cubicBezTo>
                  <a:pt x="22882" y="408924"/>
                  <a:pt x="0" y="382770"/>
                  <a:pt x="0" y="350507"/>
                </a:cubicBezTo>
                <a:lnTo>
                  <a:pt x="0" y="58416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Rounded Rectangle 25">
            <a:extLst>
              <a:ext uri="{FF2B5EF4-FFF2-40B4-BE49-F238E27FC236}">
                <a16:creationId xmlns:a16="http://schemas.microsoft.com/office/drawing/2014/main" id="{E1079500-E8C3-9F20-E700-BB49C7178868}"/>
              </a:ext>
            </a:extLst>
          </p:cNvPr>
          <p:cNvSpPr/>
          <p:nvPr/>
        </p:nvSpPr>
        <p:spPr>
          <a:xfrm>
            <a:off x="5524749" y="3046950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7"/>
                </a:moveTo>
                <a:cubicBezTo>
                  <a:pt x="0" y="26154"/>
                  <a:pt x="22885" y="0"/>
                  <a:pt x="51115" y="0"/>
                </a:cubicBezTo>
                <a:lnTo>
                  <a:pt x="766732" y="0"/>
                </a:lnTo>
                <a:cubicBezTo>
                  <a:pt x="794963" y="0"/>
                  <a:pt x="817848" y="26154"/>
                  <a:pt x="817848" y="58417"/>
                </a:cubicBezTo>
                <a:lnTo>
                  <a:pt x="817848" y="350506"/>
                </a:lnTo>
                <a:cubicBezTo>
                  <a:pt x="817848" y="382770"/>
                  <a:pt x="794963" y="408924"/>
                  <a:pt x="766732" y="408924"/>
                </a:cubicBezTo>
                <a:lnTo>
                  <a:pt x="51115" y="408924"/>
                </a:lnTo>
                <a:cubicBezTo>
                  <a:pt x="22885" y="408924"/>
                  <a:pt x="0" y="382770"/>
                  <a:pt x="0" y="350506"/>
                </a:cubicBezTo>
                <a:lnTo>
                  <a:pt x="0" y="58417"/>
                </a:lnTo>
                <a:close/>
              </a:path>
            </a:pathLst>
          </a:custGeom>
          <a:noFill/>
          <a:ln w="851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Rounded Rectangle 26">
            <a:extLst>
              <a:ext uri="{FF2B5EF4-FFF2-40B4-BE49-F238E27FC236}">
                <a16:creationId xmlns:a16="http://schemas.microsoft.com/office/drawing/2014/main" id="{F4A4029A-EE73-A529-572A-E0F5E72CFFF6}"/>
              </a:ext>
            </a:extLst>
          </p:cNvPr>
          <p:cNvSpPr/>
          <p:nvPr/>
        </p:nvSpPr>
        <p:spPr>
          <a:xfrm>
            <a:off x="5898266" y="3455091"/>
            <a:ext cx="51115" cy="178904"/>
          </a:xfrm>
          <a:custGeom>
            <a:avLst/>
            <a:gdLst/>
            <a:ahLst/>
            <a:cxnLst/>
            <a:rect l="0" t="0" r="0" b="0"/>
            <a:pathLst>
              <a:path w="51115" h="178904">
                <a:moveTo>
                  <a:pt x="25557" y="0"/>
                </a:moveTo>
                <a:lnTo>
                  <a:pt x="25557" y="127788"/>
                </a:lnTo>
                <a:moveTo>
                  <a:pt x="51115" y="153346"/>
                </a:moveTo>
                <a:cubicBezTo>
                  <a:pt x="51115" y="167462"/>
                  <a:pt x="39673" y="178904"/>
                  <a:pt x="25557" y="178904"/>
                </a:cubicBezTo>
                <a:cubicBezTo>
                  <a:pt x="11443" y="178904"/>
                  <a:pt x="0" y="167462"/>
                  <a:pt x="0" y="153346"/>
                </a:cubicBezTo>
                <a:cubicBezTo>
                  <a:pt x="0" y="139231"/>
                  <a:pt x="11443" y="127788"/>
                  <a:pt x="25557" y="127788"/>
                </a:cubicBezTo>
                <a:cubicBezTo>
                  <a:pt x="39673" y="127788"/>
                  <a:pt x="51115" y="139231"/>
                  <a:pt x="51115" y="153346"/>
                </a:cubicBezTo>
                <a:close/>
              </a:path>
            </a:pathLst>
          </a:custGeom>
          <a:noFill/>
          <a:ln w="851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Rounded Rectangle 27">
            <a:extLst>
              <a:ext uri="{FF2B5EF4-FFF2-40B4-BE49-F238E27FC236}">
                <a16:creationId xmlns:a16="http://schemas.microsoft.com/office/drawing/2014/main" id="{E6633D49-6C88-ABDA-BBB9-53175E20D333}"/>
              </a:ext>
            </a:extLst>
          </p:cNvPr>
          <p:cNvSpPr/>
          <p:nvPr/>
        </p:nvSpPr>
        <p:spPr>
          <a:xfrm>
            <a:off x="6067777" y="3777970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6"/>
                </a:moveTo>
                <a:cubicBezTo>
                  <a:pt x="0" y="26154"/>
                  <a:pt x="22882" y="0"/>
                  <a:pt x="51115" y="0"/>
                </a:cubicBezTo>
                <a:lnTo>
                  <a:pt x="766732" y="0"/>
                </a:lnTo>
                <a:cubicBezTo>
                  <a:pt x="794965" y="0"/>
                  <a:pt x="817848" y="26154"/>
                  <a:pt x="817848" y="58416"/>
                </a:cubicBezTo>
                <a:lnTo>
                  <a:pt x="817848" y="350507"/>
                </a:lnTo>
                <a:cubicBezTo>
                  <a:pt x="817848" y="382770"/>
                  <a:pt x="794965" y="408924"/>
                  <a:pt x="766732" y="408924"/>
                </a:cubicBezTo>
                <a:lnTo>
                  <a:pt x="51115" y="408924"/>
                </a:lnTo>
                <a:cubicBezTo>
                  <a:pt x="22882" y="408924"/>
                  <a:pt x="0" y="382770"/>
                  <a:pt x="0" y="350507"/>
                </a:cubicBezTo>
                <a:lnTo>
                  <a:pt x="0" y="58416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Rounded Rectangle 28">
            <a:extLst>
              <a:ext uri="{FF2B5EF4-FFF2-40B4-BE49-F238E27FC236}">
                <a16:creationId xmlns:a16="http://schemas.microsoft.com/office/drawing/2014/main" id="{7C690762-A275-CED2-E4D0-378627DD9FDB}"/>
              </a:ext>
            </a:extLst>
          </p:cNvPr>
          <p:cNvSpPr/>
          <p:nvPr/>
        </p:nvSpPr>
        <p:spPr>
          <a:xfrm>
            <a:off x="6067777" y="3777970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7"/>
                </a:moveTo>
                <a:cubicBezTo>
                  <a:pt x="0" y="26154"/>
                  <a:pt x="22885" y="0"/>
                  <a:pt x="51115" y="0"/>
                </a:cubicBezTo>
                <a:lnTo>
                  <a:pt x="766732" y="0"/>
                </a:lnTo>
                <a:cubicBezTo>
                  <a:pt x="794963" y="0"/>
                  <a:pt x="817848" y="26154"/>
                  <a:pt x="817848" y="58417"/>
                </a:cubicBezTo>
                <a:lnTo>
                  <a:pt x="817848" y="350506"/>
                </a:lnTo>
                <a:cubicBezTo>
                  <a:pt x="817848" y="382770"/>
                  <a:pt x="794963" y="408924"/>
                  <a:pt x="766732" y="408924"/>
                </a:cubicBezTo>
                <a:lnTo>
                  <a:pt x="51115" y="408924"/>
                </a:lnTo>
                <a:cubicBezTo>
                  <a:pt x="22885" y="408924"/>
                  <a:pt x="0" y="382770"/>
                  <a:pt x="0" y="350506"/>
                </a:cubicBezTo>
                <a:lnTo>
                  <a:pt x="0" y="58417"/>
                </a:lnTo>
                <a:close/>
              </a:path>
            </a:pathLst>
          </a:custGeom>
          <a:noFill/>
          <a:ln w="851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Rounded Rectangle 29">
            <a:extLst>
              <a:ext uri="{FF2B5EF4-FFF2-40B4-BE49-F238E27FC236}">
                <a16:creationId xmlns:a16="http://schemas.microsoft.com/office/drawing/2014/main" id="{FB51D4CD-9126-AA22-6F43-35719143A249}"/>
              </a:ext>
            </a:extLst>
          </p:cNvPr>
          <p:cNvSpPr/>
          <p:nvPr/>
        </p:nvSpPr>
        <p:spPr>
          <a:xfrm>
            <a:off x="6429708" y="3608595"/>
            <a:ext cx="51115" cy="178904"/>
          </a:xfrm>
          <a:custGeom>
            <a:avLst/>
            <a:gdLst/>
            <a:ahLst/>
            <a:cxnLst/>
            <a:rect l="0" t="0" r="0" b="0"/>
            <a:pathLst>
              <a:path w="51115" h="178904">
                <a:moveTo>
                  <a:pt x="25557" y="178904"/>
                </a:moveTo>
                <a:lnTo>
                  <a:pt x="25557" y="51115"/>
                </a:lnTo>
                <a:moveTo>
                  <a:pt x="51115" y="25557"/>
                </a:moveTo>
                <a:cubicBezTo>
                  <a:pt x="51115" y="39673"/>
                  <a:pt x="39673" y="51115"/>
                  <a:pt x="25557" y="51115"/>
                </a:cubicBezTo>
                <a:cubicBezTo>
                  <a:pt x="11442" y="51115"/>
                  <a:pt x="0" y="39673"/>
                  <a:pt x="0" y="25557"/>
                </a:cubicBezTo>
                <a:cubicBezTo>
                  <a:pt x="0" y="11442"/>
                  <a:pt x="11442" y="0"/>
                  <a:pt x="25557" y="0"/>
                </a:cubicBezTo>
                <a:cubicBezTo>
                  <a:pt x="39673" y="0"/>
                  <a:pt x="51115" y="11442"/>
                  <a:pt x="51115" y="25557"/>
                </a:cubicBezTo>
                <a:close/>
              </a:path>
            </a:pathLst>
          </a:custGeom>
          <a:noFill/>
          <a:ln w="851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Rounded Rectangle 30">
            <a:extLst>
              <a:ext uri="{FF2B5EF4-FFF2-40B4-BE49-F238E27FC236}">
                <a16:creationId xmlns:a16="http://schemas.microsoft.com/office/drawing/2014/main" id="{B54994BD-C091-6D66-5E70-36880D11EACA}"/>
              </a:ext>
            </a:extLst>
          </p:cNvPr>
          <p:cNvSpPr/>
          <p:nvPr/>
        </p:nvSpPr>
        <p:spPr>
          <a:xfrm>
            <a:off x="6583069" y="3041051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6"/>
                </a:moveTo>
                <a:cubicBezTo>
                  <a:pt x="0" y="26154"/>
                  <a:pt x="22882" y="0"/>
                  <a:pt x="51115" y="0"/>
                </a:cubicBezTo>
                <a:lnTo>
                  <a:pt x="766732" y="0"/>
                </a:lnTo>
                <a:cubicBezTo>
                  <a:pt x="794965" y="0"/>
                  <a:pt x="817848" y="26154"/>
                  <a:pt x="817848" y="58416"/>
                </a:cubicBezTo>
                <a:lnTo>
                  <a:pt x="817848" y="350507"/>
                </a:lnTo>
                <a:cubicBezTo>
                  <a:pt x="817848" y="382770"/>
                  <a:pt x="794965" y="408924"/>
                  <a:pt x="766732" y="408924"/>
                </a:cubicBezTo>
                <a:lnTo>
                  <a:pt x="51115" y="408924"/>
                </a:lnTo>
                <a:cubicBezTo>
                  <a:pt x="22882" y="408924"/>
                  <a:pt x="0" y="382770"/>
                  <a:pt x="0" y="350507"/>
                </a:cubicBezTo>
                <a:lnTo>
                  <a:pt x="0" y="58416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Rounded Rectangle 31">
            <a:extLst>
              <a:ext uri="{FF2B5EF4-FFF2-40B4-BE49-F238E27FC236}">
                <a16:creationId xmlns:a16="http://schemas.microsoft.com/office/drawing/2014/main" id="{BFAD2C2F-CCF6-7508-0CDD-7BA8AF5189BB}"/>
              </a:ext>
            </a:extLst>
          </p:cNvPr>
          <p:cNvSpPr/>
          <p:nvPr/>
        </p:nvSpPr>
        <p:spPr>
          <a:xfrm>
            <a:off x="6583069" y="3041051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7"/>
                </a:moveTo>
                <a:cubicBezTo>
                  <a:pt x="0" y="26154"/>
                  <a:pt x="22885" y="0"/>
                  <a:pt x="51115" y="0"/>
                </a:cubicBezTo>
                <a:lnTo>
                  <a:pt x="766732" y="0"/>
                </a:lnTo>
                <a:cubicBezTo>
                  <a:pt x="794963" y="0"/>
                  <a:pt x="817848" y="26154"/>
                  <a:pt x="817848" y="58417"/>
                </a:cubicBezTo>
                <a:lnTo>
                  <a:pt x="817848" y="350506"/>
                </a:lnTo>
                <a:cubicBezTo>
                  <a:pt x="817848" y="382770"/>
                  <a:pt x="794963" y="408924"/>
                  <a:pt x="766732" y="408924"/>
                </a:cubicBezTo>
                <a:lnTo>
                  <a:pt x="51115" y="408924"/>
                </a:lnTo>
                <a:cubicBezTo>
                  <a:pt x="22885" y="408924"/>
                  <a:pt x="0" y="382770"/>
                  <a:pt x="0" y="350506"/>
                </a:cubicBezTo>
                <a:lnTo>
                  <a:pt x="0" y="58417"/>
                </a:lnTo>
                <a:close/>
              </a:path>
            </a:pathLst>
          </a:custGeom>
          <a:noFill/>
          <a:ln w="851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1" name="Rounded Rectangle 32">
            <a:extLst>
              <a:ext uri="{FF2B5EF4-FFF2-40B4-BE49-F238E27FC236}">
                <a16:creationId xmlns:a16="http://schemas.microsoft.com/office/drawing/2014/main" id="{284BCFF1-3151-24BD-9763-6637126A4DBD}"/>
              </a:ext>
            </a:extLst>
          </p:cNvPr>
          <p:cNvSpPr/>
          <p:nvPr/>
        </p:nvSpPr>
        <p:spPr>
          <a:xfrm>
            <a:off x="6951428" y="3455213"/>
            <a:ext cx="51115" cy="178904"/>
          </a:xfrm>
          <a:custGeom>
            <a:avLst/>
            <a:gdLst/>
            <a:ahLst/>
            <a:cxnLst/>
            <a:rect l="0" t="0" r="0" b="0"/>
            <a:pathLst>
              <a:path w="51115" h="178904">
                <a:moveTo>
                  <a:pt x="25557" y="0"/>
                </a:moveTo>
                <a:lnTo>
                  <a:pt x="25557" y="127788"/>
                </a:lnTo>
                <a:moveTo>
                  <a:pt x="51115" y="153346"/>
                </a:moveTo>
                <a:cubicBezTo>
                  <a:pt x="51115" y="167462"/>
                  <a:pt x="39673" y="178904"/>
                  <a:pt x="25557" y="178904"/>
                </a:cubicBezTo>
                <a:cubicBezTo>
                  <a:pt x="11442" y="178904"/>
                  <a:pt x="0" y="167462"/>
                  <a:pt x="0" y="153346"/>
                </a:cubicBezTo>
                <a:cubicBezTo>
                  <a:pt x="0" y="139231"/>
                  <a:pt x="11442" y="127788"/>
                  <a:pt x="25557" y="127788"/>
                </a:cubicBezTo>
                <a:cubicBezTo>
                  <a:pt x="39673" y="127788"/>
                  <a:pt x="51115" y="139231"/>
                  <a:pt x="51115" y="153346"/>
                </a:cubicBezTo>
                <a:close/>
              </a:path>
            </a:pathLst>
          </a:custGeom>
          <a:noFill/>
          <a:ln w="851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Rounded Rectangle 33">
            <a:extLst>
              <a:ext uri="{FF2B5EF4-FFF2-40B4-BE49-F238E27FC236}">
                <a16:creationId xmlns:a16="http://schemas.microsoft.com/office/drawing/2014/main" id="{425A047C-6CB0-E332-EF9A-A05BF13479F2}"/>
              </a:ext>
            </a:extLst>
          </p:cNvPr>
          <p:cNvSpPr/>
          <p:nvPr/>
        </p:nvSpPr>
        <p:spPr>
          <a:xfrm>
            <a:off x="7128286" y="3777970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6"/>
                </a:moveTo>
                <a:cubicBezTo>
                  <a:pt x="0" y="26154"/>
                  <a:pt x="22882" y="0"/>
                  <a:pt x="51115" y="0"/>
                </a:cubicBezTo>
                <a:lnTo>
                  <a:pt x="766732" y="0"/>
                </a:lnTo>
                <a:cubicBezTo>
                  <a:pt x="794965" y="0"/>
                  <a:pt x="817848" y="26154"/>
                  <a:pt x="817848" y="58416"/>
                </a:cubicBezTo>
                <a:lnTo>
                  <a:pt x="817848" y="350507"/>
                </a:lnTo>
                <a:cubicBezTo>
                  <a:pt x="817848" y="382770"/>
                  <a:pt x="794965" y="408924"/>
                  <a:pt x="766732" y="408924"/>
                </a:cubicBezTo>
                <a:lnTo>
                  <a:pt x="51115" y="408924"/>
                </a:lnTo>
                <a:cubicBezTo>
                  <a:pt x="22882" y="408924"/>
                  <a:pt x="0" y="382770"/>
                  <a:pt x="0" y="350507"/>
                </a:cubicBezTo>
                <a:lnTo>
                  <a:pt x="0" y="58416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Rounded Rectangle 34">
            <a:extLst>
              <a:ext uri="{FF2B5EF4-FFF2-40B4-BE49-F238E27FC236}">
                <a16:creationId xmlns:a16="http://schemas.microsoft.com/office/drawing/2014/main" id="{8A76B476-AED9-8E55-6306-D4C78469BF8E}"/>
              </a:ext>
            </a:extLst>
          </p:cNvPr>
          <p:cNvSpPr/>
          <p:nvPr/>
        </p:nvSpPr>
        <p:spPr>
          <a:xfrm>
            <a:off x="7128286" y="3777970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7"/>
                </a:moveTo>
                <a:cubicBezTo>
                  <a:pt x="0" y="26154"/>
                  <a:pt x="22885" y="0"/>
                  <a:pt x="51115" y="0"/>
                </a:cubicBezTo>
                <a:lnTo>
                  <a:pt x="766732" y="0"/>
                </a:lnTo>
                <a:cubicBezTo>
                  <a:pt x="794963" y="0"/>
                  <a:pt x="817848" y="26154"/>
                  <a:pt x="817848" y="58417"/>
                </a:cubicBezTo>
                <a:lnTo>
                  <a:pt x="817848" y="350506"/>
                </a:lnTo>
                <a:cubicBezTo>
                  <a:pt x="817848" y="382770"/>
                  <a:pt x="794963" y="408924"/>
                  <a:pt x="766732" y="408924"/>
                </a:cubicBezTo>
                <a:lnTo>
                  <a:pt x="51115" y="408924"/>
                </a:lnTo>
                <a:cubicBezTo>
                  <a:pt x="22885" y="408924"/>
                  <a:pt x="0" y="382770"/>
                  <a:pt x="0" y="350506"/>
                </a:cubicBezTo>
                <a:lnTo>
                  <a:pt x="0" y="58417"/>
                </a:lnTo>
                <a:close/>
              </a:path>
            </a:pathLst>
          </a:custGeom>
          <a:noFill/>
          <a:ln w="851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Rounded Rectangle 35">
            <a:extLst>
              <a:ext uri="{FF2B5EF4-FFF2-40B4-BE49-F238E27FC236}">
                <a16:creationId xmlns:a16="http://schemas.microsoft.com/office/drawing/2014/main" id="{01B56152-35BE-620B-6AF1-35683180E104}"/>
              </a:ext>
            </a:extLst>
          </p:cNvPr>
          <p:cNvSpPr/>
          <p:nvPr/>
        </p:nvSpPr>
        <p:spPr>
          <a:xfrm>
            <a:off x="7487865" y="3608595"/>
            <a:ext cx="51115" cy="178904"/>
          </a:xfrm>
          <a:custGeom>
            <a:avLst/>
            <a:gdLst/>
            <a:ahLst/>
            <a:cxnLst/>
            <a:rect l="0" t="0" r="0" b="0"/>
            <a:pathLst>
              <a:path w="51115" h="178904">
                <a:moveTo>
                  <a:pt x="25557" y="178904"/>
                </a:moveTo>
                <a:lnTo>
                  <a:pt x="25557" y="51115"/>
                </a:lnTo>
                <a:moveTo>
                  <a:pt x="51115" y="25557"/>
                </a:moveTo>
                <a:cubicBezTo>
                  <a:pt x="51115" y="39673"/>
                  <a:pt x="39673" y="51115"/>
                  <a:pt x="25557" y="51115"/>
                </a:cubicBezTo>
                <a:cubicBezTo>
                  <a:pt x="11442" y="51115"/>
                  <a:pt x="0" y="39673"/>
                  <a:pt x="0" y="25557"/>
                </a:cubicBezTo>
                <a:cubicBezTo>
                  <a:pt x="0" y="11442"/>
                  <a:pt x="11442" y="0"/>
                  <a:pt x="25557" y="0"/>
                </a:cubicBezTo>
                <a:cubicBezTo>
                  <a:pt x="39673" y="0"/>
                  <a:pt x="51115" y="11442"/>
                  <a:pt x="51115" y="25557"/>
                </a:cubicBezTo>
                <a:close/>
              </a:path>
            </a:pathLst>
          </a:custGeom>
          <a:noFill/>
          <a:ln w="851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Rounded Rectangle 36">
            <a:extLst>
              <a:ext uri="{FF2B5EF4-FFF2-40B4-BE49-F238E27FC236}">
                <a16:creationId xmlns:a16="http://schemas.microsoft.com/office/drawing/2014/main" id="{54F242A4-17A3-F1AA-B4D2-7A4B7786EB1E}"/>
              </a:ext>
            </a:extLst>
          </p:cNvPr>
          <p:cNvSpPr/>
          <p:nvPr/>
        </p:nvSpPr>
        <p:spPr>
          <a:xfrm>
            <a:off x="7649872" y="3049574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6"/>
                </a:moveTo>
                <a:cubicBezTo>
                  <a:pt x="0" y="26154"/>
                  <a:pt x="22882" y="0"/>
                  <a:pt x="51115" y="0"/>
                </a:cubicBezTo>
                <a:lnTo>
                  <a:pt x="766732" y="0"/>
                </a:lnTo>
                <a:cubicBezTo>
                  <a:pt x="794965" y="0"/>
                  <a:pt x="817848" y="26154"/>
                  <a:pt x="817848" y="58416"/>
                </a:cubicBezTo>
                <a:lnTo>
                  <a:pt x="817848" y="350507"/>
                </a:lnTo>
                <a:cubicBezTo>
                  <a:pt x="817848" y="382770"/>
                  <a:pt x="794965" y="408924"/>
                  <a:pt x="766732" y="408924"/>
                </a:cubicBezTo>
                <a:lnTo>
                  <a:pt x="51115" y="408924"/>
                </a:lnTo>
                <a:cubicBezTo>
                  <a:pt x="22882" y="408924"/>
                  <a:pt x="0" y="382770"/>
                  <a:pt x="0" y="350507"/>
                </a:cubicBezTo>
                <a:lnTo>
                  <a:pt x="0" y="58416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Rounded Rectangle 37">
            <a:extLst>
              <a:ext uri="{FF2B5EF4-FFF2-40B4-BE49-F238E27FC236}">
                <a16:creationId xmlns:a16="http://schemas.microsoft.com/office/drawing/2014/main" id="{842251D3-2CA9-749B-C57C-CB97EFAAD568}"/>
              </a:ext>
            </a:extLst>
          </p:cNvPr>
          <p:cNvSpPr/>
          <p:nvPr/>
        </p:nvSpPr>
        <p:spPr>
          <a:xfrm>
            <a:off x="7649872" y="3049574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7"/>
                </a:moveTo>
                <a:cubicBezTo>
                  <a:pt x="0" y="26154"/>
                  <a:pt x="22885" y="0"/>
                  <a:pt x="51115" y="0"/>
                </a:cubicBezTo>
                <a:lnTo>
                  <a:pt x="766732" y="0"/>
                </a:lnTo>
                <a:cubicBezTo>
                  <a:pt x="794963" y="0"/>
                  <a:pt x="817848" y="26154"/>
                  <a:pt x="817848" y="58417"/>
                </a:cubicBezTo>
                <a:lnTo>
                  <a:pt x="817848" y="350506"/>
                </a:lnTo>
                <a:cubicBezTo>
                  <a:pt x="817848" y="382770"/>
                  <a:pt x="794963" y="408924"/>
                  <a:pt x="766732" y="408924"/>
                </a:cubicBezTo>
                <a:lnTo>
                  <a:pt x="51115" y="408924"/>
                </a:lnTo>
                <a:cubicBezTo>
                  <a:pt x="22885" y="408924"/>
                  <a:pt x="0" y="382770"/>
                  <a:pt x="0" y="350506"/>
                </a:cubicBezTo>
                <a:lnTo>
                  <a:pt x="0" y="58417"/>
                </a:lnTo>
                <a:close/>
              </a:path>
            </a:pathLst>
          </a:custGeom>
          <a:noFill/>
          <a:ln w="851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7" name="Rounded Rectangle 38">
            <a:extLst>
              <a:ext uri="{FF2B5EF4-FFF2-40B4-BE49-F238E27FC236}">
                <a16:creationId xmlns:a16="http://schemas.microsoft.com/office/drawing/2014/main" id="{455B3F82-37C2-6E70-C3C3-2DFE847D6F4C}"/>
              </a:ext>
            </a:extLst>
          </p:cNvPr>
          <p:cNvSpPr/>
          <p:nvPr/>
        </p:nvSpPr>
        <p:spPr>
          <a:xfrm>
            <a:off x="8014288" y="3471277"/>
            <a:ext cx="51115" cy="178904"/>
          </a:xfrm>
          <a:custGeom>
            <a:avLst/>
            <a:gdLst/>
            <a:ahLst/>
            <a:cxnLst/>
            <a:rect l="0" t="0" r="0" b="0"/>
            <a:pathLst>
              <a:path w="51115" h="178904">
                <a:moveTo>
                  <a:pt x="25557" y="0"/>
                </a:moveTo>
                <a:lnTo>
                  <a:pt x="25557" y="127788"/>
                </a:lnTo>
                <a:moveTo>
                  <a:pt x="51115" y="153346"/>
                </a:moveTo>
                <a:cubicBezTo>
                  <a:pt x="51115" y="167462"/>
                  <a:pt x="39673" y="178904"/>
                  <a:pt x="25557" y="178904"/>
                </a:cubicBezTo>
                <a:cubicBezTo>
                  <a:pt x="11442" y="178904"/>
                  <a:pt x="0" y="167462"/>
                  <a:pt x="0" y="153346"/>
                </a:cubicBezTo>
                <a:cubicBezTo>
                  <a:pt x="0" y="139231"/>
                  <a:pt x="11442" y="127788"/>
                  <a:pt x="25557" y="127788"/>
                </a:cubicBezTo>
                <a:cubicBezTo>
                  <a:pt x="39673" y="127788"/>
                  <a:pt x="51115" y="139231"/>
                  <a:pt x="51115" y="153346"/>
                </a:cubicBezTo>
                <a:close/>
              </a:path>
            </a:pathLst>
          </a:custGeom>
          <a:noFill/>
          <a:ln w="851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Rounded Rectangle 39">
            <a:extLst>
              <a:ext uri="{FF2B5EF4-FFF2-40B4-BE49-F238E27FC236}">
                <a16:creationId xmlns:a16="http://schemas.microsoft.com/office/drawing/2014/main" id="{881D1E89-CD34-018B-4D7B-35B6261758AE}"/>
              </a:ext>
            </a:extLst>
          </p:cNvPr>
          <p:cNvSpPr/>
          <p:nvPr/>
        </p:nvSpPr>
        <p:spPr>
          <a:xfrm>
            <a:off x="8182260" y="3777970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6"/>
                </a:moveTo>
                <a:cubicBezTo>
                  <a:pt x="0" y="26154"/>
                  <a:pt x="22882" y="0"/>
                  <a:pt x="51115" y="0"/>
                </a:cubicBezTo>
                <a:lnTo>
                  <a:pt x="766732" y="0"/>
                </a:lnTo>
                <a:cubicBezTo>
                  <a:pt x="794965" y="0"/>
                  <a:pt x="817848" y="26154"/>
                  <a:pt x="817848" y="58416"/>
                </a:cubicBezTo>
                <a:lnTo>
                  <a:pt x="817848" y="350507"/>
                </a:lnTo>
                <a:cubicBezTo>
                  <a:pt x="817848" y="382770"/>
                  <a:pt x="794965" y="408924"/>
                  <a:pt x="766732" y="408924"/>
                </a:cubicBezTo>
                <a:lnTo>
                  <a:pt x="51115" y="408924"/>
                </a:lnTo>
                <a:cubicBezTo>
                  <a:pt x="22882" y="408924"/>
                  <a:pt x="0" y="382770"/>
                  <a:pt x="0" y="350507"/>
                </a:cubicBezTo>
                <a:lnTo>
                  <a:pt x="0" y="58416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Rounded Rectangle 40">
            <a:extLst>
              <a:ext uri="{FF2B5EF4-FFF2-40B4-BE49-F238E27FC236}">
                <a16:creationId xmlns:a16="http://schemas.microsoft.com/office/drawing/2014/main" id="{AFA8375E-8198-9E5E-0083-5D8AB285DBA3}"/>
              </a:ext>
            </a:extLst>
          </p:cNvPr>
          <p:cNvSpPr/>
          <p:nvPr/>
        </p:nvSpPr>
        <p:spPr>
          <a:xfrm>
            <a:off x="8182260" y="3777970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7"/>
                </a:moveTo>
                <a:cubicBezTo>
                  <a:pt x="0" y="26154"/>
                  <a:pt x="22885" y="0"/>
                  <a:pt x="51115" y="0"/>
                </a:cubicBezTo>
                <a:lnTo>
                  <a:pt x="766732" y="0"/>
                </a:lnTo>
                <a:cubicBezTo>
                  <a:pt x="794963" y="0"/>
                  <a:pt x="817848" y="26154"/>
                  <a:pt x="817848" y="58417"/>
                </a:cubicBezTo>
                <a:lnTo>
                  <a:pt x="817848" y="350506"/>
                </a:lnTo>
                <a:cubicBezTo>
                  <a:pt x="817848" y="382770"/>
                  <a:pt x="794963" y="408924"/>
                  <a:pt x="766732" y="408924"/>
                </a:cubicBezTo>
                <a:lnTo>
                  <a:pt x="51115" y="408924"/>
                </a:lnTo>
                <a:cubicBezTo>
                  <a:pt x="22885" y="408924"/>
                  <a:pt x="0" y="382770"/>
                  <a:pt x="0" y="350506"/>
                </a:cubicBezTo>
                <a:lnTo>
                  <a:pt x="0" y="58417"/>
                </a:lnTo>
                <a:close/>
              </a:path>
            </a:pathLst>
          </a:custGeom>
          <a:noFill/>
          <a:ln w="851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Rounded Rectangle 41">
            <a:extLst>
              <a:ext uri="{FF2B5EF4-FFF2-40B4-BE49-F238E27FC236}">
                <a16:creationId xmlns:a16="http://schemas.microsoft.com/office/drawing/2014/main" id="{16C2DC47-88EB-DE32-BF4B-0B41D716A10E}"/>
              </a:ext>
            </a:extLst>
          </p:cNvPr>
          <p:cNvSpPr/>
          <p:nvPr/>
        </p:nvSpPr>
        <p:spPr>
          <a:xfrm>
            <a:off x="8548647" y="3603486"/>
            <a:ext cx="51115" cy="178904"/>
          </a:xfrm>
          <a:custGeom>
            <a:avLst/>
            <a:gdLst/>
            <a:ahLst/>
            <a:cxnLst/>
            <a:rect l="0" t="0" r="0" b="0"/>
            <a:pathLst>
              <a:path w="51115" h="178904">
                <a:moveTo>
                  <a:pt x="25557" y="178904"/>
                </a:moveTo>
                <a:lnTo>
                  <a:pt x="25557" y="51115"/>
                </a:lnTo>
                <a:moveTo>
                  <a:pt x="51115" y="25557"/>
                </a:moveTo>
                <a:cubicBezTo>
                  <a:pt x="51115" y="39673"/>
                  <a:pt x="39672" y="51115"/>
                  <a:pt x="25557" y="51115"/>
                </a:cubicBezTo>
                <a:cubicBezTo>
                  <a:pt x="11442" y="51115"/>
                  <a:pt x="0" y="39673"/>
                  <a:pt x="0" y="25557"/>
                </a:cubicBezTo>
                <a:cubicBezTo>
                  <a:pt x="0" y="11442"/>
                  <a:pt x="11442" y="0"/>
                  <a:pt x="25557" y="0"/>
                </a:cubicBezTo>
                <a:cubicBezTo>
                  <a:pt x="39672" y="0"/>
                  <a:pt x="51115" y="11442"/>
                  <a:pt x="51115" y="25557"/>
                </a:cubicBezTo>
                <a:close/>
              </a:path>
            </a:pathLst>
          </a:custGeom>
          <a:noFill/>
          <a:ln w="851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1" name="Rounded Rectangle 42">
            <a:extLst>
              <a:ext uri="{FF2B5EF4-FFF2-40B4-BE49-F238E27FC236}">
                <a16:creationId xmlns:a16="http://schemas.microsoft.com/office/drawing/2014/main" id="{6ADBAB35-AF8B-97F6-BFB5-DA310F9D2875}"/>
              </a:ext>
            </a:extLst>
          </p:cNvPr>
          <p:cNvSpPr/>
          <p:nvPr/>
        </p:nvSpPr>
        <p:spPr>
          <a:xfrm>
            <a:off x="8697024" y="3046950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6"/>
                </a:moveTo>
                <a:cubicBezTo>
                  <a:pt x="0" y="26154"/>
                  <a:pt x="22882" y="0"/>
                  <a:pt x="51115" y="0"/>
                </a:cubicBezTo>
                <a:lnTo>
                  <a:pt x="766732" y="0"/>
                </a:lnTo>
                <a:cubicBezTo>
                  <a:pt x="794965" y="0"/>
                  <a:pt x="817848" y="26154"/>
                  <a:pt x="817848" y="58416"/>
                </a:cubicBezTo>
                <a:lnTo>
                  <a:pt x="817848" y="350507"/>
                </a:lnTo>
                <a:cubicBezTo>
                  <a:pt x="817848" y="382770"/>
                  <a:pt x="794965" y="408924"/>
                  <a:pt x="766732" y="408924"/>
                </a:cubicBezTo>
                <a:lnTo>
                  <a:pt x="51115" y="408924"/>
                </a:lnTo>
                <a:cubicBezTo>
                  <a:pt x="22882" y="408924"/>
                  <a:pt x="0" y="382770"/>
                  <a:pt x="0" y="350507"/>
                </a:cubicBezTo>
                <a:lnTo>
                  <a:pt x="0" y="58416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Rounded Rectangle 43">
            <a:extLst>
              <a:ext uri="{FF2B5EF4-FFF2-40B4-BE49-F238E27FC236}">
                <a16:creationId xmlns:a16="http://schemas.microsoft.com/office/drawing/2014/main" id="{23261530-94CE-328F-9C56-8AC36A2930FA}"/>
              </a:ext>
            </a:extLst>
          </p:cNvPr>
          <p:cNvSpPr/>
          <p:nvPr/>
        </p:nvSpPr>
        <p:spPr>
          <a:xfrm>
            <a:off x="8697024" y="3046950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7"/>
                </a:moveTo>
                <a:cubicBezTo>
                  <a:pt x="0" y="26154"/>
                  <a:pt x="22885" y="0"/>
                  <a:pt x="51115" y="0"/>
                </a:cubicBezTo>
                <a:lnTo>
                  <a:pt x="766732" y="0"/>
                </a:lnTo>
                <a:cubicBezTo>
                  <a:pt x="794963" y="0"/>
                  <a:pt x="817848" y="26154"/>
                  <a:pt x="817848" y="58417"/>
                </a:cubicBezTo>
                <a:lnTo>
                  <a:pt x="817848" y="350506"/>
                </a:lnTo>
                <a:cubicBezTo>
                  <a:pt x="817848" y="382770"/>
                  <a:pt x="794963" y="408924"/>
                  <a:pt x="766732" y="408924"/>
                </a:cubicBezTo>
                <a:lnTo>
                  <a:pt x="51115" y="408924"/>
                </a:lnTo>
                <a:cubicBezTo>
                  <a:pt x="22885" y="408924"/>
                  <a:pt x="0" y="382770"/>
                  <a:pt x="0" y="350506"/>
                </a:cubicBezTo>
                <a:lnTo>
                  <a:pt x="0" y="58417"/>
                </a:lnTo>
                <a:close/>
              </a:path>
            </a:pathLst>
          </a:custGeom>
          <a:noFill/>
          <a:ln w="851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Rounded Rectangle 44">
            <a:extLst>
              <a:ext uri="{FF2B5EF4-FFF2-40B4-BE49-F238E27FC236}">
                <a16:creationId xmlns:a16="http://schemas.microsoft.com/office/drawing/2014/main" id="{0568EABB-18E9-CD1F-623D-2A7A2E335ED3}"/>
              </a:ext>
            </a:extLst>
          </p:cNvPr>
          <p:cNvSpPr/>
          <p:nvPr/>
        </p:nvSpPr>
        <p:spPr>
          <a:xfrm>
            <a:off x="9070269" y="3465966"/>
            <a:ext cx="51115" cy="178904"/>
          </a:xfrm>
          <a:custGeom>
            <a:avLst/>
            <a:gdLst/>
            <a:ahLst/>
            <a:cxnLst/>
            <a:rect l="0" t="0" r="0" b="0"/>
            <a:pathLst>
              <a:path w="51115" h="178904">
                <a:moveTo>
                  <a:pt x="25557" y="0"/>
                </a:moveTo>
                <a:lnTo>
                  <a:pt x="25557" y="127788"/>
                </a:lnTo>
                <a:moveTo>
                  <a:pt x="51115" y="153346"/>
                </a:moveTo>
                <a:cubicBezTo>
                  <a:pt x="51115" y="167462"/>
                  <a:pt x="39672" y="178904"/>
                  <a:pt x="25557" y="178904"/>
                </a:cubicBezTo>
                <a:cubicBezTo>
                  <a:pt x="11442" y="178904"/>
                  <a:pt x="0" y="167462"/>
                  <a:pt x="0" y="153346"/>
                </a:cubicBezTo>
                <a:cubicBezTo>
                  <a:pt x="0" y="139231"/>
                  <a:pt x="11442" y="127788"/>
                  <a:pt x="25557" y="127788"/>
                </a:cubicBezTo>
                <a:cubicBezTo>
                  <a:pt x="39672" y="127788"/>
                  <a:pt x="51115" y="139231"/>
                  <a:pt x="51115" y="153346"/>
                </a:cubicBezTo>
                <a:close/>
              </a:path>
            </a:pathLst>
          </a:custGeom>
          <a:noFill/>
          <a:ln w="851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Rounded Rectangle 45">
            <a:extLst>
              <a:ext uri="{FF2B5EF4-FFF2-40B4-BE49-F238E27FC236}">
                <a16:creationId xmlns:a16="http://schemas.microsoft.com/office/drawing/2014/main" id="{CE67C10B-ADF9-3C77-326A-FD66079E656B}"/>
              </a:ext>
            </a:extLst>
          </p:cNvPr>
          <p:cNvSpPr/>
          <p:nvPr/>
        </p:nvSpPr>
        <p:spPr>
          <a:xfrm>
            <a:off x="9244812" y="3777970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6"/>
                </a:moveTo>
                <a:cubicBezTo>
                  <a:pt x="0" y="26154"/>
                  <a:pt x="22882" y="0"/>
                  <a:pt x="51115" y="0"/>
                </a:cubicBezTo>
                <a:lnTo>
                  <a:pt x="766732" y="0"/>
                </a:lnTo>
                <a:cubicBezTo>
                  <a:pt x="794965" y="0"/>
                  <a:pt x="817848" y="26154"/>
                  <a:pt x="817848" y="58416"/>
                </a:cubicBezTo>
                <a:lnTo>
                  <a:pt x="817848" y="350507"/>
                </a:lnTo>
                <a:cubicBezTo>
                  <a:pt x="817848" y="382770"/>
                  <a:pt x="794965" y="408924"/>
                  <a:pt x="766732" y="408924"/>
                </a:cubicBezTo>
                <a:lnTo>
                  <a:pt x="51115" y="408924"/>
                </a:lnTo>
                <a:cubicBezTo>
                  <a:pt x="22882" y="408924"/>
                  <a:pt x="0" y="382770"/>
                  <a:pt x="0" y="350507"/>
                </a:cubicBezTo>
                <a:lnTo>
                  <a:pt x="0" y="58416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Rounded Rectangle 46">
            <a:extLst>
              <a:ext uri="{FF2B5EF4-FFF2-40B4-BE49-F238E27FC236}">
                <a16:creationId xmlns:a16="http://schemas.microsoft.com/office/drawing/2014/main" id="{95AAE0D2-AFCB-82F5-B93C-9DFD38DBD9B8}"/>
              </a:ext>
            </a:extLst>
          </p:cNvPr>
          <p:cNvSpPr/>
          <p:nvPr/>
        </p:nvSpPr>
        <p:spPr>
          <a:xfrm>
            <a:off x="9244812" y="3777970"/>
            <a:ext cx="817848" cy="408924"/>
          </a:xfrm>
          <a:custGeom>
            <a:avLst/>
            <a:gdLst/>
            <a:ahLst/>
            <a:cxnLst/>
            <a:rect l="0" t="0" r="0" b="0"/>
            <a:pathLst>
              <a:path w="817848" h="408924">
                <a:moveTo>
                  <a:pt x="0" y="58417"/>
                </a:moveTo>
                <a:cubicBezTo>
                  <a:pt x="0" y="26154"/>
                  <a:pt x="22885" y="0"/>
                  <a:pt x="51115" y="0"/>
                </a:cubicBezTo>
                <a:lnTo>
                  <a:pt x="766732" y="0"/>
                </a:lnTo>
                <a:cubicBezTo>
                  <a:pt x="794963" y="0"/>
                  <a:pt x="817848" y="26154"/>
                  <a:pt x="817848" y="58417"/>
                </a:cubicBezTo>
                <a:lnTo>
                  <a:pt x="817848" y="350506"/>
                </a:lnTo>
                <a:cubicBezTo>
                  <a:pt x="817848" y="382770"/>
                  <a:pt x="794963" y="408924"/>
                  <a:pt x="766732" y="408924"/>
                </a:cubicBezTo>
                <a:lnTo>
                  <a:pt x="51115" y="408924"/>
                </a:lnTo>
                <a:cubicBezTo>
                  <a:pt x="22885" y="408924"/>
                  <a:pt x="0" y="382770"/>
                  <a:pt x="0" y="350506"/>
                </a:cubicBezTo>
                <a:lnTo>
                  <a:pt x="0" y="58417"/>
                </a:lnTo>
                <a:close/>
              </a:path>
            </a:pathLst>
          </a:custGeom>
          <a:noFill/>
          <a:ln w="851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Rounded Rectangle 47">
            <a:extLst>
              <a:ext uri="{FF2B5EF4-FFF2-40B4-BE49-F238E27FC236}">
                <a16:creationId xmlns:a16="http://schemas.microsoft.com/office/drawing/2014/main" id="{702F520B-2CA8-8C05-F03E-10027E6E00AB}"/>
              </a:ext>
            </a:extLst>
          </p:cNvPr>
          <p:cNvSpPr/>
          <p:nvPr/>
        </p:nvSpPr>
        <p:spPr>
          <a:xfrm>
            <a:off x="9598869" y="3605074"/>
            <a:ext cx="51115" cy="178904"/>
          </a:xfrm>
          <a:custGeom>
            <a:avLst/>
            <a:gdLst/>
            <a:ahLst/>
            <a:cxnLst/>
            <a:rect l="0" t="0" r="0" b="0"/>
            <a:pathLst>
              <a:path w="51115" h="178904">
                <a:moveTo>
                  <a:pt x="25557" y="178904"/>
                </a:moveTo>
                <a:lnTo>
                  <a:pt x="25557" y="51115"/>
                </a:lnTo>
                <a:moveTo>
                  <a:pt x="51115" y="25557"/>
                </a:moveTo>
                <a:cubicBezTo>
                  <a:pt x="51115" y="39673"/>
                  <a:pt x="39672" y="51115"/>
                  <a:pt x="25557" y="51115"/>
                </a:cubicBezTo>
                <a:cubicBezTo>
                  <a:pt x="11442" y="51115"/>
                  <a:pt x="0" y="39673"/>
                  <a:pt x="0" y="25557"/>
                </a:cubicBezTo>
                <a:cubicBezTo>
                  <a:pt x="0" y="11442"/>
                  <a:pt x="11442" y="0"/>
                  <a:pt x="25557" y="0"/>
                </a:cubicBezTo>
                <a:cubicBezTo>
                  <a:pt x="39672" y="0"/>
                  <a:pt x="51115" y="11442"/>
                  <a:pt x="51115" y="25557"/>
                </a:cubicBezTo>
                <a:close/>
              </a:path>
            </a:pathLst>
          </a:custGeom>
          <a:noFill/>
          <a:ln w="851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Rounded Rectangle 48">
            <a:extLst>
              <a:ext uri="{FF2B5EF4-FFF2-40B4-BE49-F238E27FC236}">
                <a16:creationId xmlns:a16="http://schemas.microsoft.com/office/drawing/2014/main" id="{6D7D83D6-F900-24D3-8A5D-9C557FB733F8}"/>
              </a:ext>
            </a:extLst>
          </p:cNvPr>
          <p:cNvSpPr/>
          <p:nvPr/>
        </p:nvSpPr>
        <p:spPr>
          <a:xfrm>
            <a:off x="6837727" y="3092133"/>
            <a:ext cx="307613" cy="306727"/>
          </a:xfrm>
          <a:custGeom>
            <a:avLst/>
            <a:gdLst/>
            <a:ahLst/>
            <a:cxnLst/>
            <a:rect l="0" t="0" r="0" b="0"/>
            <a:pathLst>
              <a:path w="307613" h="306727">
                <a:moveTo>
                  <a:pt x="17660" y="60733"/>
                </a:moveTo>
                <a:lnTo>
                  <a:pt x="7309" y="18052"/>
                </a:lnTo>
                <a:cubicBezTo>
                  <a:pt x="6304" y="15096"/>
                  <a:pt x="7130" y="11816"/>
                  <a:pt x="9422" y="9694"/>
                </a:cubicBezTo>
                <a:cubicBezTo>
                  <a:pt x="11713" y="7565"/>
                  <a:pt x="15036" y="6985"/>
                  <a:pt x="17915" y="8212"/>
                </a:cubicBezTo>
                <a:lnTo>
                  <a:pt x="58808" y="19585"/>
                </a:lnTo>
                <a:lnTo>
                  <a:pt x="17660" y="60733"/>
                </a:lnTo>
                <a:moveTo>
                  <a:pt x="103151" y="76707"/>
                </a:moveTo>
                <a:cubicBezTo>
                  <a:pt x="110426" y="76758"/>
                  <a:pt x="117582" y="78598"/>
                  <a:pt x="123980" y="82074"/>
                </a:cubicBezTo>
                <a:cubicBezTo>
                  <a:pt x="134800" y="54761"/>
                  <a:pt x="128368" y="23640"/>
                  <a:pt x="107623" y="2845"/>
                </a:cubicBezTo>
                <a:cubicBezTo>
                  <a:pt x="105809" y="1073"/>
                  <a:pt x="103389" y="59"/>
                  <a:pt x="100850" y="34"/>
                </a:cubicBezTo>
                <a:cubicBezTo>
                  <a:pt x="98312" y="34"/>
                  <a:pt x="95875" y="1047"/>
                  <a:pt x="94078" y="2845"/>
                </a:cubicBezTo>
                <a:lnTo>
                  <a:pt x="3603" y="93192"/>
                </a:lnTo>
                <a:cubicBezTo>
                  <a:pt x="0" y="96991"/>
                  <a:pt x="0" y="102938"/>
                  <a:pt x="3603" y="106737"/>
                </a:cubicBezTo>
                <a:cubicBezTo>
                  <a:pt x="17472" y="120360"/>
                  <a:pt x="36172" y="127942"/>
                  <a:pt x="55613" y="127822"/>
                </a:cubicBezTo>
                <a:lnTo>
                  <a:pt x="58425" y="127822"/>
                </a:lnTo>
                <a:lnTo>
                  <a:pt x="58425" y="121433"/>
                </a:lnTo>
                <a:cubicBezTo>
                  <a:pt x="58425" y="96736"/>
                  <a:pt x="78453" y="76707"/>
                  <a:pt x="103151" y="76707"/>
                </a:cubicBezTo>
                <a:moveTo>
                  <a:pt x="99956" y="228776"/>
                </a:moveTo>
                <a:cubicBezTo>
                  <a:pt x="111610" y="209974"/>
                  <a:pt x="132150" y="198541"/>
                  <a:pt x="154266" y="198541"/>
                </a:cubicBezTo>
                <a:cubicBezTo>
                  <a:pt x="176382" y="198541"/>
                  <a:pt x="196922" y="209974"/>
                  <a:pt x="208576" y="228776"/>
                </a:cubicBezTo>
                <a:cubicBezTo>
                  <a:pt x="220120" y="209812"/>
                  <a:pt x="240685" y="198200"/>
                  <a:pt x="262887" y="198106"/>
                </a:cubicBezTo>
                <a:cubicBezTo>
                  <a:pt x="263952" y="198038"/>
                  <a:pt x="265016" y="198038"/>
                  <a:pt x="266081" y="198106"/>
                </a:cubicBezTo>
                <a:lnTo>
                  <a:pt x="266081" y="188139"/>
                </a:lnTo>
                <a:cubicBezTo>
                  <a:pt x="265868" y="175939"/>
                  <a:pt x="255918" y="166159"/>
                  <a:pt x="243718" y="166159"/>
                </a:cubicBezTo>
                <a:lnTo>
                  <a:pt x="230939" y="166159"/>
                </a:lnTo>
                <a:lnTo>
                  <a:pt x="230939" y="145841"/>
                </a:lnTo>
                <a:cubicBezTo>
                  <a:pt x="268458" y="139213"/>
                  <a:pt x="294681" y="105016"/>
                  <a:pt x="291358" y="67072"/>
                </a:cubicBezTo>
                <a:cubicBezTo>
                  <a:pt x="288035" y="29118"/>
                  <a:pt x="256259" y="0"/>
                  <a:pt x="218161" y="0"/>
                </a:cubicBezTo>
                <a:cubicBezTo>
                  <a:pt x="180062" y="0"/>
                  <a:pt x="148286" y="29118"/>
                  <a:pt x="144963" y="67072"/>
                </a:cubicBezTo>
                <a:cubicBezTo>
                  <a:pt x="141641" y="105016"/>
                  <a:pt x="167863" y="139213"/>
                  <a:pt x="205382" y="145841"/>
                </a:cubicBezTo>
                <a:lnTo>
                  <a:pt x="205382" y="166159"/>
                </a:lnTo>
                <a:lnTo>
                  <a:pt x="128708" y="166159"/>
                </a:lnTo>
                <a:lnTo>
                  <a:pt x="128708" y="121433"/>
                </a:lnTo>
                <a:cubicBezTo>
                  <a:pt x="128708" y="107317"/>
                  <a:pt x="117267" y="95875"/>
                  <a:pt x="103151" y="95875"/>
                </a:cubicBezTo>
                <a:cubicBezTo>
                  <a:pt x="89034" y="95875"/>
                  <a:pt x="77593" y="107317"/>
                  <a:pt x="77593" y="121433"/>
                </a:cubicBezTo>
                <a:lnTo>
                  <a:pt x="77593" y="166159"/>
                </a:lnTo>
                <a:lnTo>
                  <a:pt x="64814" y="166159"/>
                </a:lnTo>
                <a:cubicBezTo>
                  <a:pt x="62642" y="166168"/>
                  <a:pt x="60486" y="166508"/>
                  <a:pt x="58425" y="167181"/>
                </a:cubicBezTo>
                <a:cubicBezTo>
                  <a:pt x="48977" y="170001"/>
                  <a:pt x="42494" y="178665"/>
                  <a:pt x="42451" y="188522"/>
                </a:cubicBezTo>
                <a:lnTo>
                  <a:pt x="42451" y="198490"/>
                </a:lnTo>
                <a:cubicBezTo>
                  <a:pt x="43516" y="198421"/>
                  <a:pt x="44581" y="198421"/>
                  <a:pt x="45646" y="198490"/>
                </a:cubicBezTo>
                <a:cubicBezTo>
                  <a:pt x="67770" y="198498"/>
                  <a:pt x="88319" y="209957"/>
                  <a:pt x="99956" y="228776"/>
                </a:cubicBezTo>
                <a:moveTo>
                  <a:pt x="218161" y="60733"/>
                </a:moveTo>
                <a:cubicBezTo>
                  <a:pt x="225215" y="60733"/>
                  <a:pt x="230939" y="66458"/>
                  <a:pt x="230939" y="73512"/>
                </a:cubicBezTo>
                <a:cubicBezTo>
                  <a:pt x="230939" y="80566"/>
                  <a:pt x="225215" y="86291"/>
                  <a:pt x="218161" y="86291"/>
                </a:cubicBezTo>
                <a:cubicBezTo>
                  <a:pt x="211107" y="86291"/>
                  <a:pt x="205382" y="80566"/>
                  <a:pt x="205382" y="73512"/>
                </a:cubicBezTo>
                <a:cubicBezTo>
                  <a:pt x="205382" y="66458"/>
                  <a:pt x="211107" y="60733"/>
                  <a:pt x="218161" y="60733"/>
                </a:cubicBezTo>
                <a:moveTo>
                  <a:pt x="45646" y="217275"/>
                </a:moveTo>
                <a:cubicBezTo>
                  <a:pt x="20948" y="217275"/>
                  <a:pt x="920" y="237303"/>
                  <a:pt x="920" y="262001"/>
                </a:cubicBezTo>
                <a:cubicBezTo>
                  <a:pt x="920" y="286698"/>
                  <a:pt x="20948" y="306727"/>
                  <a:pt x="45646" y="306727"/>
                </a:cubicBezTo>
                <a:cubicBezTo>
                  <a:pt x="70343" y="306727"/>
                  <a:pt x="90372" y="286698"/>
                  <a:pt x="90372" y="262001"/>
                </a:cubicBezTo>
                <a:cubicBezTo>
                  <a:pt x="90372" y="237303"/>
                  <a:pt x="70343" y="217275"/>
                  <a:pt x="45646" y="217275"/>
                </a:cubicBezTo>
                <a:moveTo>
                  <a:pt x="45646" y="274780"/>
                </a:moveTo>
                <a:cubicBezTo>
                  <a:pt x="38592" y="274780"/>
                  <a:pt x="32867" y="269055"/>
                  <a:pt x="32867" y="262001"/>
                </a:cubicBezTo>
                <a:cubicBezTo>
                  <a:pt x="32867" y="254947"/>
                  <a:pt x="38592" y="249222"/>
                  <a:pt x="45646" y="249222"/>
                </a:cubicBezTo>
                <a:cubicBezTo>
                  <a:pt x="52700" y="249222"/>
                  <a:pt x="58425" y="254947"/>
                  <a:pt x="58425" y="262001"/>
                </a:cubicBezTo>
                <a:cubicBezTo>
                  <a:pt x="58425" y="269055"/>
                  <a:pt x="52700" y="274780"/>
                  <a:pt x="45646" y="274780"/>
                </a:cubicBezTo>
                <a:moveTo>
                  <a:pt x="154266" y="217275"/>
                </a:moveTo>
                <a:cubicBezTo>
                  <a:pt x="129569" y="217275"/>
                  <a:pt x="109540" y="237303"/>
                  <a:pt x="109540" y="262001"/>
                </a:cubicBezTo>
                <a:cubicBezTo>
                  <a:pt x="109540" y="286698"/>
                  <a:pt x="129569" y="306727"/>
                  <a:pt x="154266" y="306727"/>
                </a:cubicBezTo>
                <a:cubicBezTo>
                  <a:pt x="178963" y="306727"/>
                  <a:pt x="198992" y="286698"/>
                  <a:pt x="198992" y="262001"/>
                </a:cubicBezTo>
                <a:cubicBezTo>
                  <a:pt x="198992" y="237303"/>
                  <a:pt x="178963" y="217275"/>
                  <a:pt x="154266" y="217275"/>
                </a:cubicBezTo>
                <a:moveTo>
                  <a:pt x="154266" y="274780"/>
                </a:moveTo>
                <a:cubicBezTo>
                  <a:pt x="147212" y="274780"/>
                  <a:pt x="141487" y="269055"/>
                  <a:pt x="141487" y="262001"/>
                </a:cubicBezTo>
                <a:cubicBezTo>
                  <a:pt x="141487" y="254947"/>
                  <a:pt x="147212" y="249222"/>
                  <a:pt x="154266" y="249222"/>
                </a:cubicBezTo>
                <a:cubicBezTo>
                  <a:pt x="161320" y="249222"/>
                  <a:pt x="167045" y="254947"/>
                  <a:pt x="167045" y="262001"/>
                </a:cubicBezTo>
                <a:cubicBezTo>
                  <a:pt x="167045" y="269055"/>
                  <a:pt x="161320" y="274780"/>
                  <a:pt x="154266" y="274780"/>
                </a:cubicBezTo>
                <a:moveTo>
                  <a:pt x="262887" y="217275"/>
                </a:moveTo>
                <a:cubicBezTo>
                  <a:pt x="238189" y="217275"/>
                  <a:pt x="218161" y="237303"/>
                  <a:pt x="218161" y="262001"/>
                </a:cubicBezTo>
                <a:cubicBezTo>
                  <a:pt x="218161" y="286698"/>
                  <a:pt x="238189" y="306727"/>
                  <a:pt x="262887" y="306727"/>
                </a:cubicBezTo>
                <a:cubicBezTo>
                  <a:pt x="287584" y="306727"/>
                  <a:pt x="307613" y="286698"/>
                  <a:pt x="307613" y="262001"/>
                </a:cubicBezTo>
                <a:cubicBezTo>
                  <a:pt x="307613" y="237303"/>
                  <a:pt x="287584" y="217275"/>
                  <a:pt x="262887" y="217275"/>
                </a:cubicBezTo>
                <a:moveTo>
                  <a:pt x="262887" y="274780"/>
                </a:moveTo>
                <a:cubicBezTo>
                  <a:pt x="255833" y="274780"/>
                  <a:pt x="250108" y="269055"/>
                  <a:pt x="250108" y="262001"/>
                </a:cubicBezTo>
                <a:cubicBezTo>
                  <a:pt x="250108" y="254947"/>
                  <a:pt x="255833" y="249222"/>
                  <a:pt x="262887" y="249222"/>
                </a:cubicBezTo>
                <a:cubicBezTo>
                  <a:pt x="269941" y="249222"/>
                  <a:pt x="275666" y="254947"/>
                  <a:pt x="275666" y="262001"/>
                </a:cubicBezTo>
                <a:cubicBezTo>
                  <a:pt x="275666" y="269055"/>
                  <a:pt x="269941" y="274780"/>
                  <a:pt x="262887" y="274780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8" name="Rounded Rectangle 49">
            <a:extLst>
              <a:ext uri="{FF2B5EF4-FFF2-40B4-BE49-F238E27FC236}">
                <a16:creationId xmlns:a16="http://schemas.microsoft.com/office/drawing/2014/main" id="{4784268C-2286-6525-3E00-EC1E86CD93CC}"/>
              </a:ext>
            </a:extLst>
          </p:cNvPr>
          <p:cNvSpPr/>
          <p:nvPr/>
        </p:nvSpPr>
        <p:spPr>
          <a:xfrm>
            <a:off x="5787014" y="3095902"/>
            <a:ext cx="291827" cy="308857"/>
          </a:xfrm>
          <a:custGeom>
            <a:avLst/>
            <a:gdLst/>
            <a:ahLst/>
            <a:cxnLst/>
            <a:rect l="0" t="0" r="0" b="0"/>
            <a:pathLst>
              <a:path w="291827" h="308857">
                <a:moveTo>
                  <a:pt x="284287" y="167522"/>
                </a:moveTo>
                <a:cubicBezTo>
                  <a:pt x="281058" y="166091"/>
                  <a:pt x="278997" y="162871"/>
                  <a:pt x="279048" y="159344"/>
                </a:cubicBezTo>
                <a:lnTo>
                  <a:pt x="279048" y="123563"/>
                </a:lnTo>
                <a:cubicBezTo>
                  <a:pt x="279048" y="116509"/>
                  <a:pt x="273323" y="110784"/>
                  <a:pt x="266269" y="110784"/>
                </a:cubicBezTo>
                <a:cubicBezTo>
                  <a:pt x="259215" y="110784"/>
                  <a:pt x="253490" y="116509"/>
                  <a:pt x="253490" y="123563"/>
                </a:cubicBezTo>
                <a:lnTo>
                  <a:pt x="253490" y="143881"/>
                </a:lnTo>
                <a:cubicBezTo>
                  <a:pt x="253490" y="146054"/>
                  <a:pt x="252382" y="148073"/>
                  <a:pt x="250551" y="149248"/>
                </a:cubicBezTo>
                <a:cubicBezTo>
                  <a:pt x="248677" y="150271"/>
                  <a:pt x="246419" y="150271"/>
                  <a:pt x="244545" y="149248"/>
                </a:cubicBezTo>
                <a:lnTo>
                  <a:pt x="239944" y="147204"/>
                </a:lnTo>
                <a:cubicBezTo>
                  <a:pt x="235991" y="145432"/>
                  <a:pt x="231417" y="145772"/>
                  <a:pt x="227779" y="148124"/>
                </a:cubicBezTo>
                <a:cubicBezTo>
                  <a:pt x="224133" y="150467"/>
                  <a:pt x="221935" y="154505"/>
                  <a:pt x="221926" y="158832"/>
                </a:cubicBezTo>
                <a:lnTo>
                  <a:pt x="221926" y="199725"/>
                </a:lnTo>
                <a:cubicBezTo>
                  <a:pt x="221926" y="203252"/>
                  <a:pt x="219064" y="206114"/>
                  <a:pt x="215537" y="206114"/>
                </a:cubicBezTo>
                <a:lnTo>
                  <a:pt x="188573" y="206114"/>
                </a:lnTo>
                <a:cubicBezTo>
                  <a:pt x="185626" y="206097"/>
                  <a:pt x="183061" y="204104"/>
                  <a:pt x="182312" y="201258"/>
                </a:cubicBezTo>
                <a:lnTo>
                  <a:pt x="170427" y="150782"/>
                </a:lnTo>
                <a:cubicBezTo>
                  <a:pt x="179696" y="134110"/>
                  <a:pt x="178904" y="113663"/>
                  <a:pt x="168383" y="97749"/>
                </a:cubicBezTo>
                <a:cubicBezTo>
                  <a:pt x="167164" y="95747"/>
                  <a:pt x="167164" y="93234"/>
                  <a:pt x="168383" y="91232"/>
                </a:cubicBezTo>
                <a:cubicBezTo>
                  <a:pt x="179671" y="69968"/>
                  <a:pt x="186656" y="46702"/>
                  <a:pt x="188957" y="22737"/>
                </a:cubicBezTo>
                <a:cubicBezTo>
                  <a:pt x="189860" y="14670"/>
                  <a:pt x="185472" y="6943"/>
                  <a:pt x="178095" y="3569"/>
                </a:cubicBezTo>
                <a:cubicBezTo>
                  <a:pt x="170768" y="0"/>
                  <a:pt x="161985" y="1490"/>
                  <a:pt x="156243" y="7275"/>
                </a:cubicBezTo>
                <a:lnTo>
                  <a:pt x="95543" y="68741"/>
                </a:lnTo>
                <a:cubicBezTo>
                  <a:pt x="93013" y="71195"/>
                  <a:pt x="89000" y="71195"/>
                  <a:pt x="86470" y="68741"/>
                </a:cubicBezTo>
                <a:lnTo>
                  <a:pt x="45322" y="27721"/>
                </a:lnTo>
                <a:cubicBezTo>
                  <a:pt x="40279" y="22746"/>
                  <a:pt x="32151" y="22806"/>
                  <a:pt x="27176" y="27849"/>
                </a:cubicBezTo>
                <a:cubicBezTo>
                  <a:pt x="22201" y="32892"/>
                  <a:pt x="22260" y="41020"/>
                  <a:pt x="27304" y="45995"/>
                </a:cubicBezTo>
                <a:lnTo>
                  <a:pt x="68068" y="86760"/>
                </a:lnTo>
                <a:cubicBezTo>
                  <a:pt x="69346" y="88046"/>
                  <a:pt x="70036" y="89801"/>
                  <a:pt x="69985" y="91616"/>
                </a:cubicBezTo>
                <a:cubicBezTo>
                  <a:pt x="69994" y="93285"/>
                  <a:pt x="69355" y="94887"/>
                  <a:pt x="68196" y="96088"/>
                </a:cubicBezTo>
                <a:lnTo>
                  <a:pt x="7113" y="156788"/>
                </a:lnTo>
                <a:cubicBezTo>
                  <a:pt x="1635" y="162266"/>
                  <a:pt x="0" y="170512"/>
                  <a:pt x="2964" y="177669"/>
                </a:cubicBezTo>
                <a:cubicBezTo>
                  <a:pt x="5929" y="184825"/>
                  <a:pt x="12915" y="189493"/>
                  <a:pt x="20659" y="189502"/>
                </a:cubicBezTo>
                <a:cubicBezTo>
                  <a:pt x="45330" y="187321"/>
                  <a:pt x="69295" y="180097"/>
                  <a:pt x="91070" y="168289"/>
                </a:cubicBezTo>
                <a:cubicBezTo>
                  <a:pt x="93072" y="167071"/>
                  <a:pt x="95586" y="167071"/>
                  <a:pt x="97588" y="168289"/>
                </a:cubicBezTo>
                <a:cubicBezTo>
                  <a:pt x="99189" y="169328"/>
                  <a:pt x="100850" y="170265"/>
                  <a:pt x="102571" y="171100"/>
                </a:cubicBezTo>
                <a:cubicBezTo>
                  <a:pt x="104130" y="171935"/>
                  <a:pt x="105280" y="173366"/>
                  <a:pt x="105766" y="175062"/>
                </a:cubicBezTo>
                <a:cubicBezTo>
                  <a:pt x="106294" y="176791"/>
                  <a:pt x="106013" y="178674"/>
                  <a:pt x="104999" y="180173"/>
                </a:cubicBezTo>
                <a:lnTo>
                  <a:pt x="90943" y="202664"/>
                </a:lnTo>
                <a:cubicBezTo>
                  <a:pt x="89818" y="204564"/>
                  <a:pt x="87782" y="205722"/>
                  <a:pt x="85575" y="205731"/>
                </a:cubicBezTo>
                <a:lnTo>
                  <a:pt x="42638" y="205731"/>
                </a:lnTo>
                <a:cubicBezTo>
                  <a:pt x="39111" y="205731"/>
                  <a:pt x="36249" y="208593"/>
                  <a:pt x="36249" y="212120"/>
                </a:cubicBezTo>
                <a:lnTo>
                  <a:pt x="36249" y="301573"/>
                </a:lnTo>
                <a:cubicBezTo>
                  <a:pt x="36249" y="305100"/>
                  <a:pt x="39111" y="307962"/>
                  <a:pt x="42638" y="307962"/>
                </a:cubicBezTo>
                <a:lnTo>
                  <a:pt x="93754" y="307962"/>
                </a:lnTo>
                <a:cubicBezTo>
                  <a:pt x="97281" y="307962"/>
                  <a:pt x="100143" y="305100"/>
                  <a:pt x="100143" y="301573"/>
                </a:cubicBezTo>
                <a:lnTo>
                  <a:pt x="100143" y="283299"/>
                </a:lnTo>
                <a:cubicBezTo>
                  <a:pt x="100143" y="269182"/>
                  <a:pt x="111585" y="257741"/>
                  <a:pt x="125701" y="257741"/>
                </a:cubicBezTo>
                <a:cubicBezTo>
                  <a:pt x="139818" y="257741"/>
                  <a:pt x="151259" y="269182"/>
                  <a:pt x="151259" y="283299"/>
                </a:cubicBezTo>
                <a:lnTo>
                  <a:pt x="151259" y="302467"/>
                </a:lnTo>
                <a:cubicBezTo>
                  <a:pt x="151259" y="305994"/>
                  <a:pt x="154121" y="308857"/>
                  <a:pt x="157648" y="308857"/>
                </a:cubicBezTo>
                <a:lnTo>
                  <a:pt x="285437" y="308857"/>
                </a:lnTo>
                <a:cubicBezTo>
                  <a:pt x="288964" y="308857"/>
                  <a:pt x="291827" y="305994"/>
                  <a:pt x="291827" y="302467"/>
                </a:cubicBezTo>
                <a:lnTo>
                  <a:pt x="291827" y="179151"/>
                </a:lnTo>
                <a:cubicBezTo>
                  <a:pt x="291818" y="174133"/>
                  <a:pt x="288870" y="169584"/>
                  <a:pt x="284287" y="167522"/>
                </a:cubicBezTo>
                <a:moveTo>
                  <a:pt x="155731" y="205859"/>
                </a:moveTo>
                <a:cubicBezTo>
                  <a:pt x="155101" y="206617"/>
                  <a:pt x="154155" y="207043"/>
                  <a:pt x="153176" y="207009"/>
                </a:cubicBezTo>
                <a:lnTo>
                  <a:pt x="125062" y="207009"/>
                </a:lnTo>
                <a:cubicBezTo>
                  <a:pt x="123887" y="207043"/>
                  <a:pt x="122788" y="206395"/>
                  <a:pt x="122251" y="205348"/>
                </a:cubicBezTo>
                <a:cubicBezTo>
                  <a:pt x="121680" y="204359"/>
                  <a:pt x="121680" y="203141"/>
                  <a:pt x="122251" y="202153"/>
                </a:cubicBezTo>
                <a:lnTo>
                  <a:pt x="137074" y="178512"/>
                </a:lnTo>
                <a:cubicBezTo>
                  <a:pt x="137867" y="177149"/>
                  <a:pt x="139144" y="176144"/>
                  <a:pt x="140652" y="175701"/>
                </a:cubicBezTo>
                <a:cubicBezTo>
                  <a:pt x="142356" y="175224"/>
                  <a:pt x="144017" y="174619"/>
                  <a:pt x="145636" y="173912"/>
                </a:cubicBezTo>
                <a:cubicBezTo>
                  <a:pt x="146514" y="173545"/>
                  <a:pt x="147510" y="173596"/>
                  <a:pt x="148345" y="174039"/>
                </a:cubicBezTo>
                <a:cubicBezTo>
                  <a:pt x="149189" y="174482"/>
                  <a:pt x="149785" y="175283"/>
                  <a:pt x="149981" y="176212"/>
                </a:cubicBezTo>
                <a:lnTo>
                  <a:pt x="156370" y="203047"/>
                </a:lnTo>
                <a:cubicBezTo>
                  <a:pt x="156456" y="203908"/>
                  <a:pt x="156234" y="204768"/>
                  <a:pt x="155731" y="205475"/>
                </a:cubicBezTo>
                <a:moveTo>
                  <a:pt x="157265" y="51490"/>
                </a:moveTo>
                <a:cubicBezTo>
                  <a:pt x="141658" y="102605"/>
                  <a:pt x="101592" y="142578"/>
                  <a:pt x="50433" y="158066"/>
                </a:cubicBezTo>
                <a:cubicBezTo>
                  <a:pt x="49011" y="158543"/>
                  <a:pt x="47443" y="157964"/>
                  <a:pt x="46668" y="156669"/>
                </a:cubicBezTo>
                <a:cubicBezTo>
                  <a:pt x="45901" y="155382"/>
                  <a:pt x="46140" y="153721"/>
                  <a:pt x="47239" y="152699"/>
                </a:cubicBezTo>
                <a:lnTo>
                  <a:pt x="152026" y="48040"/>
                </a:lnTo>
                <a:cubicBezTo>
                  <a:pt x="152980" y="46847"/>
                  <a:pt x="154658" y="46532"/>
                  <a:pt x="155970" y="47307"/>
                </a:cubicBezTo>
                <a:cubicBezTo>
                  <a:pt x="157290" y="48074"/>
                  <a:pt x="157836" y="49692"/>
                  <a:pt x="157265" y="51107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Rounded Rectangle 50">
            <a:extLst>
              <a:ext uri="{FF2B5EF4-FFF2-40B4-BE49-F238E27FC236}">
                <a16:creationId xmlns:a16="http://schemas.microsoft.com/office/drawing/2014/main" id="{1F8E65FC-BBFD-06B3-DD0B-60781F604B54}"/>
              </a:ext>
            </a:extLst>
          </p:cNvPr>
          <p:cNvSpPr/>
          <p:nvPr/>
        </p:nvSpPr>
        <p:spPr>
          <a:xfrm>
            <a:off x="7905467" y="3102291"/>
            <a:ext cx="303166" cy="304299"/>
          </a:xfrm>
          <a:custGeom>
            <a:avLst/>
            <a:gdLst/>
            <a:ahLst/>
            <a:cxnLst/>
            <a:rect l="0" t="0" r="0" b="0"/>
            <a:pathLst>
              <a:path w="303166" h="304299">
                <a:moveTo>
                  <a:pt x="200202" y="0"/>
                </a:moveTo>
                <a:cubicBezTo>
                  <a:pt x="207256" y="0"/>
                  <a:pt x="212981" y="5716"/>
                  <a:pt x="212981" y="12778"/>
                </a:cubicBezTo>
                <a:lnTo>
                  <a:pt x="212981" y="27236"/>
                </a:lnTo>
                <a:lnTo>
                  <a:pt x="235523" y="27236"/>
                </a:lnTo>
                <a:lnTo>
                  <a:pt x="235523" y="12778"/>
                </a:lnTo>
                <a:cubicBezTo>
                  <a:pt x="235523" y="5716"/>
                  <a:pt x="241248" y="0"/>
                  <a:pt x="248302" y="0"/>
                </a:cubicBezTo>
                <a:cubicBezTo>
                  <a:pt x="255356" y="0"/>
                  <a:pt x="261081" y="5716"/>
                  <a:pt x="261081" y="12778"/>
                </a:cubicBezTo>
                <a:lnTo>
                  <a:pt x="261081" y="28198"/>
                </a:lnTo>
                <a:cubicBezTo>
                  <a:pt x="264326" y="29169"/>
                  <a:pt x="267317" y="30865"/>
                  <a:pt x="269813" y="33344"/>
                </a:cubicBezTo>
                <a:cubicBezTo>
                  <a:pt x="272292" y="35840"/>
                  <a:pt x="273987" y="38830"/>
                  <a:pt x="274958" y="42076"/>
                </a:cubicBezTo>
                <a:lnTo>
                  <a:pt x="290387" y="42076"/>
                </a:lnTo>
                <a:cubicBezTo>
                  <a:pt x="297441" y="42076"/>
                  <a:pt x="303166" y="47801"/>
                  <a:pt x="303166" y="54855"/>
                </a:cubicBezTo>
                <a:cubicBezTo>
                  <a:pt x="303166" y="61909"/>
                  <a:pt x="297441" y="67634"/>
                  <a:pt x="290387" y="67634"/>
                </a:cubicBezTo>
                <a:lnTo>
                  <a:pt x="275913" y="67634"/>
                </a:lnTo>
                <a:lnTo>
                  <a:pt x="275913" y="90176"/>
                </a:lnTo>
                <a:lnTo>
                  <a:pt x="290387" y="90176"/>
                </a:lnTo>
                <a:cubicBezTo>
                  <a:pt x="297441" y="90176"/>
                  <a:pt x="303166" y="95901"/>
                  <a:pt x="303166" y="102955"/>
                </a:cubicBezTo>
                <a:cubicBezTo>
                  <a:pt x="303166" y="110009"/>
                  <a:pt x="297441" y="115734"/>
                  <a:pt x="290387" y="115734"/>
                </a:cubicBezTo>
                <a:lnTo>
                  <a:pt x="274958" y="115734"/>
                </a:lnTo>
                <a:cubicBezTo>
                  <a:pt x="273996" y="119031"/>
                  <a:pt x="272232" y="122029"/>
                  <a:pt x="269813" y="124466"/>
                </a:cubicBezTo>
                <a:cubicBezTo>
                  <a:pt x="267376" y="126877"/>
                  <a:pt x="264378" y="128649"/>
                  <a:pt x="261081" y="129611"/>
                </a:cubicBezTo>
                <a:lnTo>
                  <a:pt x="261081" y="145040"/>
                </a:lnTo>
                <a:cubicBezTo>
                  <a:pt x="261081" y="152094"/>
                  <a:pt x="255356" y="157819"/>
                  <a:pt x="248302" y="157819"/>
                </a:cubicBezTo>
                <a:cubicBezTo>
                  <a:pt x="241248" y="157819"/>
                  <a:pt x="235523" y="152094"/>
                  <a:pt x="235523" y="145040"/>
                </a:cubicBezTo>
                <a:lnTo>
                  <a:pt x="235523" y="130566"/>
                </a:lnTo>
                <a:lnTo>
                  <a:pt x="212981" y="130566"/>
                </a:lnTo>
                <a:lnTo>
                  <a:pt x="212981" y="145040"/>
                </a:lnTo>
                <a:cubicBezTo>
                  <a:pt x="212981" y="152094"/>
                  <a:pt x="207256" y="157819"/>
                  <a:pt x="200202" y="157819"/>
                </a:cubicBezTo>
                <a:cubicBezTo>
                  <a:pt x="193148" y="157819"/>
                  <a:pt x="187423" y="152094"/>
                  <a:pt x="187423" y="145040"/>
                </a:cubicBezTo>
                <a:lnTo>
                  <a:pt x="187423" y="129611"/>
                </a:lnTo>
                <a:cubicBezTo>
                  <a:pt x="184126" y="128649"/>
                  <a:pt x="181127" y="126885"/>
                  <a:pt x="178691" y="124466"/>
                </a:cubicBezTo>
                <a:cubicBezTo>
                  <a:pt x="176271" y="122029"/>
                  <a:pt x="174508" y="119031"/>
                  <a:pt x="173545" y="115734"/>
                </a:cubicBezTo>
                <a:lnTo>
                  <a:pt x="158125" y="115734"/>
                </a:lnTo>
                <a:cubicBezTo>
                  <a:pt x="151063" y="115734"/>
                  <a:pt x="145347" y="110009"/>
                  <a:pt x="145347" y="102955"/>
                </a:cubicBezTo>
                <a:cubicBezTo>
                  <a:pt x="145347" y="95901"/>
                  <a:pt x="151063" y="90176"/>
                  <a:pt x="158125" y="90176"/>
                </a:cubicBezTo>
                <a:lnTo>
                  <a:pt x="172583" y="90176"/>
                </a:lnTo>
                <a:lnTo>
                  <a:pt x="172583" y="67634"/>
                </a:lnTo>
                <a:lnTo>
                  <a:pt x="158125" y="67634"/>
                </a:lnTo>
                <a:cubicBezTo>
                  <a:pt x="151063" y="67634"/>
                  <a:pt x="145347" y="61909"/>
                  <a:pt x="145347" y="54855"/>
                </a:cubicBezTo>
                <a:cubicBezTo>
                  <a:pt x="145347" y="47801"/>
                  <a:pt x="151063" y="42076"/>
                  <a:pt x="158125" y="42076"/>
                </a:cubicBezTo>
                <a:lnTo>
                  <a:pt x="173545" y="42076"/>
                </a:lnTo>
                <a:cubicBezTo>
                  <a:pt x="174516" y="38830"/>
                  <a:pt x="176220" y="35840"/>
                  <a:pt x="178691" y="33344"/>
                </a:cubicBezTo>
                <a:cubicBezTo>
                  <a:pt x="181187" y="30865"/>
                  <a:pt x="184177" y="29169"/>
                  <a:pt x="187423" y="28198"/>
                </a:cubicBezTo>
                <a:lnTo>
                  <a:pt x="187423" y="12778"/>
                </a:lnTo>
                <a:cubicBezTo>
                  <a:pt x="187423" y="5716"/>
                  <a:pt x="193148" y="0"/>
                  <a:pt x="200202" y="0"/>
                </a:cubicBezTo>
                <a:moveTo>
                  <a:pt x="217496" y="90926"/>
                </a:moveTo>
                <a:cubicBezTo>
                  <a:pt x="217496" y="97988"/>
                  <a:pt x="223212" y="103704"/>
                  <a:pt x="230275" y="103704"/>
                </a:cubicBezTo>
                <a:lnTo>
                  <a:pt x="236273" y="103704"/>
                </a:lnTo>
                <a:cubicBezTo>
                  <a:pt x="243335" y="103704"/>
                  <a:pt x="249051" y="97988"/>
                  <a:pt x="249051" y="90926"/>
                </a:cubicBezTo>
                <a:cubicBezTo>
                  <a:pt x="249051" y="83872"/>
                  <a:pt x="243335" y="78147"/>
                  <a:pt x="236273" y="78147"/>
                </a:cubicBezTo>
                <a:lnTo>
                  <a:pt x="230258" y="78147"/>
                </a:lnTo>
                <a:cubicBezTo>
                  <a:pt x="223204" y="78147"/>
                  <a:pt x="217479" y="83872"/>
                  <a:pt x="217479" y="90926"/>
                </a:cubicBezTo>
                <a:moveTo>
                  <a:pt x="220342" y="304299"/>
                </a:moveTo>
                <a:cubicBezTo>
                  <a:pt x="228597" y="304299"/>
                  <a:pt x="234100" y="298787"/>
                  <a:pt x="234100" y="290523"/>
                </a:cubicBezTo>
                <a:lnTo>
                  <a:pt x="234100" y="276756"/>
                </a:lnTo>
                <a:cubicBezTo>
                  <a:pt x="234100" y="268492"/>
                  <a:pt x="228614" y="262980"/>
                  <a:pt x="220333" y="262980"/>
                </a:cubicBezTo>
                <a:lnTo>
                  <a:pt x="13767" y="262980"/>
                </a:lnTo>
                <a:cubicBezTo>
                  <a:pt x="5503" y="262980"/>
                  <a:pt x="0" y="268475"/>
                  <a:pt x="0" y="276756"/>
                </a:cubicBezTo>
                <a:lnTo>
                  <a:pt x="0" y="290523"/>
                </a:lnTo>
                <a:cubicBezTo>
                  <a:pt x="0" y="298787"/>
                  <a:pt x="5503" y="304299"/>
                  <a:pt x="13767" y="304299"/>
                </a:cubicBezTo>
                <a:lnTo>
                  <a:pt x="220359" y="304299"/>
                </a:lnTo>
                <a:moveTo>
                  <a:pt x="97869" y="151054"/>
                </a:moveTo>
                <a:lnTo>
                  <a:pt x="97869" y="243599"/>
                </a:lnTo>
                <a:lnTo>
                  <a:pt x="136205" y="243599"/>
                </a:lnTo>
                <a:lnTo>
                  <a:pt x="136205" y="151054"/>
                </a:lnTo>
                <a:cubicBezTo>
                  <a:pt x="136205" y="143387"/>
                  <a:pt x="131094" y="138276"/>
                  <a:pt x="123426" y="138276"/>
                </a:cubicBezTo>
                <a:lnTo>
                  <a:pt x="110648" y="138276"/>
                </a:lnTo>
                <a:cubicBezTo>
                  <a:pt x="102980" y="138276"/>
                  <a:pt x="97869" y="143387"/>
                  <a:pt x="97869" y="151054"/>
                </a:cubicBezTo>
                <a:moveTo>
                  <a:pt x="78700" y="243812"/>
                </a:moveTo>
                <a:lnTo>
                  <a:pt x="24450" y="243812"/>
                </a:lnTo>
                <a:cubicBezTo>
                  <a:pt x="25642" y="208346"/>
                  <a:pt x="47324" y="177302"/>
                  <a:pt x="78709" y="162930"/>
                </a:cubicBezTo>
                <a:lnTo>
                  <a:pt x="78709" y="243599"/>
                </a:lnTo>
                <a:moveTo>
                  <a:pt x="209633" y="243812"/>
                </a:moveTo>
                <a:lnTo>
                  <a:pt x="155374" y="243812"/>
                </a:lnTo>
                <a:lnTo>
                  <a:pt x="155374" y="162939"/>
                </a:lnTo>
                <a:cubicBezTo>
                  <a:pt x="186750" y="177302"/>
                  <a:pt x="208432" y="208346"/>
                  <a:pt x="209633" y="243812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Rounded Rectangle 51">
            <a:extLst>
              <a:ext uri="{FF2B5EF4-FFF2-40B4-BE49-F238E27FC236}">
                <a16:creationId xmlns:a16="http://schemas.microsoft.com/office/drawing/2014/main" id="{C199B769-763B-D935-B748-DC0BEB257A9B}"/>
              </a:ext>
            </a:extLst>
          </p:cNvPr>
          <p:cNvSpPr/>
          <p:nvPr/>
        </p:nvSpPr>
        <p:spPr>
          <a:xfrm>
            <a:off x="8961053" y="3098066"/>
            <a:ext cx="306846" cy="306693"/>
          </a:xfrm>
          <a:custGeom>
            <a:avLst/>
            <a:gdLst/>
            <a:ahLst/>
            <a:cxnLst/>
            <a:rect l="0" t="0" r="0" b="0"/>
            <a:pathLst>
              <a:path w="306846" h="306693">
                <a:moveTo>
                  <a:pt x="25625" y="242798"/>
                </a:moveTo>
                <a:cubicBezTo>
                  <a:pt x="33676" y="242798"/>
                  <a:pt x="38404" y="236792"/>
                  <a:pt x="46711" y="223247"/>
                </a:cubicBezTo>
                <a:cubicBezTo>
                  <a:pt x="55017" y="209701"/>
                  <a:pt x="66390" y="191683"/>
                  <a:pt x="89520" y="191683"/>
                </a:cubicBezTo>
                <a:cubicBezTo>
                  <a:pt x="112650" y="191683"/>
                  <a:pt x="124023" y="209957"/>
                  <a:pt x="132329" y="223247"/>
                </a:cubicBezTo>
                <a:cubicBezTo>
                  <a:pt x="140635" y="236537"/>
                  <a:pt x="145236" y="242798"/>
                  <a:pt x="153414" y="242798"/>
                </a:cubicBezTo>
                <a:cubicBezTo>
                  <a:pt x="161593" y="242798"/>
                  <a:pt x="166193" y="236792"/>
                  <a:pt x="174499" y="223247"/>
                </a:cubicBezTo>
                <a:cubicBezTo>
                  <a:pt x="182806" y="209701"/>
                  <a:pt x="194051" y="191683"/>
                  <a:pt x="217309" y="191683"/>
                </a:cubicBezTo>
                <a:cubicBezTo>
                  <a:pt x="240566" y="191683"/>
                  <a:pt x="251812" y="209957"/>
                  <a:pt x="260118" y="223247"/>
                </a:cubicBezTo>
                <a:cubicBezTo>
                  <a:pt x="268424" y="236537"/>
                  <a:pt x="273025" y="242798"/>
                  <a:pt x="281203" y="242798"/>
                </a:cubicBezTo>
                <a:cubicBezTo>
                  <a:pt x="293982" y="242798"/>
                  <a:pt x="306761" y="215835"/>
                  <a:pt x="306761" y="215324"/>
                </a:cubicBezTo>
                <a:lnTo>
                  <a:pt x="306761" y="130727"/>
                </a:lnTo>
                <a:cubicBezTo>
                  <a:pt x="306761" y="128964"/>
                  <a:pt x="305330" y="127533"/>
                  <a:pt x="303566" y="127533"/>
                </a:cubicBezTo>
                <a:lnTo>
                  <a:pt x="236221" y="127533"/>
                </a:lnTo>
                <a:cubicBezTo>
                  <a:pt x="227489" y="127703"/>
                  <a:pt x="219737" y="121987"/>
                  <a:pt x="217309" y="113604"/>
                </a:cubicBezTo>
                <a:cubicBezTo>
                  <a:pt x="217309" y="113604"/>
                  <a:pt x="217948" y="115393"/>
                  <a:pt x="207980" y="85107"/>
                </a:cubicBezTo>
                <a:cubicBezTo>
                  <a:pt x="207571" y="83701"/>
                  <a:pt x="206251" y="82747"/>
                  <a:pt x="204785" y="82807"/>
                </a:cubicBezTo>
                <a:cubicBezTo>
                  <a:pt x="203397" y="82917"/>
                  <a:pt x="202221" y="83889"/>
                  <a:pt x="201846" y="85235"/>
                </a:cubicBezTo>
                <a:lnTo>
                  <a:pt x="183061" y="157946"/>
                </a:lnTo>
                <a:cubicBezTo>
                  <a:pt x="181051" y="166329"/>
                  <a:pt x="173699" y="172344"/>
                  <a:pt x="165086" y="172642"/>
                </a:cubicBezTo>
                <a:cubicBezTo>
                  <a:pt x="156464" y="172940"/>
                  <a:pt x="148712" y="167454"/>
                  <a:pt x="146130" y="159224"/>
                </a:cubicBezTo>
                <a:cubicBezTo>
                  <a:pt x="146130" y="159224"/>
                  <a:pt x="147408" y="162419"/>
                  <a:pt x="122106" y="95330"/>
                </a:cubicBezTo>
                <a:cubicBezTo>
                  <a:pt x="121697" y="94171"/>
                  <a:pt x="120649" y="93371"/>
                  <a:pt x="119422" y="93285"/>
                </a:cubicBezTo>
                <a:cubicBezTo>
                  <a:pt x="118230" y="93209"/>
                  <a:pt x="117097" y="93796"/>
                  <a:pt x="116483" y="94819"/>
                </a:cubicBezTo>
                <a:lnTo>
                  <a:pt x="100382" y="121527"/>
                </a:lnTo>
                <a:cubicBezTo>
                  <a:pt x="98107" y="125369"/>
                  <a:pt x="93984" y="127746"/>
                  <a:pt x="89520" y="127788"/>
                </a:cubicBezTo>
                <a:lnTo>
                  <a:pt x="3262" y="127788"/>
                </a:lnTo>
                <a:cubicBezTo>
                  <a:pt x="1499" y="127788"/>
                  <a:pt x="68" y="129220"/>
                  <a:pt x="68" y="130983"/>
                </a:cubicBezTo>
                <a:lnTo>
                  <a:pt x="68" y="215707"/>
                </a:lnTo>
                <a:cubicBezTo>
                  <a:pt x="68" y="215707"/>
                  <a:pt x="12847" y="242798"/>
                  <a:pt x="25625" y="242798"/>
                </a:cubicBezTo>
                <a:moveTo>
                  <a:pt x="281203" y="268356"/>
                </a:moveTo>
                <a:cubicBezTo>
                  <a:pt x="258201" y="268356"/>
                  <a:pt x="246828" y="250082"/>
                  <a:pt x="238394" y="236792"/>
                </a:cubicBezTo>
                <a:cubicBezTo>
                  <a:pt x="229960" y="223502"/>
                  <a:pt x="225232" y="217240"/>
                  <a:pt x="217309" y="217240"/>
                </a:cubicBezTo>
                <a:cubicBezTo>
                  <a:pt x="209386" y="217240"/>
                  <a:pt x="204530" y="223247"/>
                  <a:pt x="196223" y="236792"/>
                </a:cubicBezTo>
                <a:cubicBezTo>
                  <a:pt x="187917" y="250338"/>
                  <a:pt x="176288" y="268356"/>
                  <a:pt x="153414" y="268356"/>
                </a:cubicBezTo>
                <a:cubicBezTo>
                  <a:pt x="130540" y="268356"/>
                  <a:pt x="118911" y="250082"/>
                  <a:pt x="110605" y="236792"/>
                </a:cubicBezTo>
                <a:cubicBezTo>
                  <a:pt x="102299" y="223502"/>
                  <a:pt x="97443" y="217240"/>
                  <a:pt x="89520" y="217240"/>
                </a:cubicBezTo>
                <a:cubicBezTo>
                  <a:pt x="81597" y="217240"/>
                  <a:pt x="76741" y="223247"/>
                  <a:pt x="68435" y="236792"/>
                </a:cubicBezTo>
                <a:cubicBezTo>
                  <a:pt x="60128" y="250338"/>
                  <a:pt x="48627" y="268356"/>
                  <a:pt x="25625" y="268356"/>
                </a:cubicBezTo>
                <a:cubicBezTo>
                  <a:pt x="18324" y="268407"/>
                  <a:pt x="11177" y="266320"/>
                  <a:pt x="5051" y="262350"/>
                </a:cubicBezTo>
                <a:cubicBezTo>
                  <a:pt x="4021" y="261779"/>
                  <a:pt x="2760" y="261779"/>
                  <a:pt x="1729" y="262350"/>
                </a:cubicBezTo>
                <a:cubicBezTo>
                  <a:pt x="698" y="262912"/>
                  <a:pt x="68" y="263994"/>
                  <a:pt x="68" y="265161"/>
                </a:cubicBezTo>
                <a:lnTo>
                  <a:pt x="68" y="274873"/>
                </a:lnTo>
                <a:cubicBezTo>
                  <a:pt x="136" y="292466"/>
                  <a:pt x="14423" y="306693"/>
                  <a:pt x="32015" y="306693"/>
                </a:cubicBezTo>
                <a:lnTo>
                  <a:pt x="274814" y="306693"/>
                </a:lnTo>
                <a:cubicBezTo>
                  <a:pt x="292457" y="306693"/>
                  <a:pt x="306761" y="292389"/>
                  <a:pt x="306761" y="274745"/>
                </a:cubicBezTo>
                <a:lnTo>
                  <a:pt x="306761" y="265034"/>
                </a:lnTo>
                <a:cubicBezTo>
                  <a:pt x="306795" y="263858"/>
                  <a:pt x="306147" y="262759"/>
                  <a:pt x="305100" y="262222"/>
                </a:cubicBezTo>
                <a:cubicBezTo>
                  <a:pt x="304086" y="261566"/>
                  <a:pt x="302791" y="261566"/>
                  <a:pt x="301777" y="262222"/>
                </a:cubicBezTo>
                <a:cubicBezTo>
                  <a:pt x="295643" y="266184"/>
                  <a:pt x="288504" y="268313"/>
                  <a:pt x="281203" y="268356"/>
                </a:cubicBezTo>
                <a:moveTo>
                  <a:pt x="80702" y="102231"/>
                </a:moveTo>
                <a:cubicBezTo>
                  <a:pt x="81793" y="102171"/>
                  <a:pt x="82781" y="101600"/>
                  <a:pt x="83386" y="100697"/>
                </a:cubicBezTo>
                <a:lnTo>
                  <a:pt x="104854" y="66322"/>
                </a:lnTo>
                <a:cubicBezTo>
                  <a:pt x="108245" y="59583"/>
                  <a:pt x="115350" y="55554"/>
                  <a:pt x="122873" y="56099"/>
                </a:cubicBezTo>
                <a:cubicBezTo>
                  <a:pt x="130642" y="56491"/>
                  <a:pt x="137415" y="61534"/>
                  <a:pt x="139996" y="68878"/>
                </a:cubicBezTo>
                <a:cubicBezTo>
                  <a:pt x="139996" y="68878"/>
                  <a:pt x="139230" y="66577"/>
                  <a:pt x="160187" y="122293"/>
                </a:cubicBezTo>
                <a:cubicBezTo>
                  <a:pt x="160690" y="123605"/>
                  <a:pt x="161985" y="124432"/>
                  <a:pt x="163382" y="124338"/>
                </a:cubicBezTo>
                <a:cubicBezTo>
                  <a:pt x="164583" y="124312"/>
                  <a:pt x="165665" y="123622"/>
                  <a:pt x="166193" y="122549"/>
                </a:cubicBezTo>
                <a:lnTo>
                  <a:pt x="185745" y="47281"/>
                </a:lnTo>
                <a:cubicBezTo>
                  <a:pt x="187824" y="38830"/>
                  <a:pt x="195329" y="32841"/>
                  <a:pt x="204027" y="32696"/>
                </a:cubicBezTo>
                <a:cubicBezTo>
                  <a:pt x="212725" y="32543"/>
                  <a:pt x="220435" y="38268"/>
                  <a:pt x="222804" y="46642"/>
                </a:cubicBezTo>
                <a:cubicBezTo>
                  <a:pt x="222804" y="46642"/>
                  <a:pt x="222037" y="44087"/>
                  <a:pt x="240183" y="99675"/>
                </a:cubicBezTo>
                <a:cubicBezTo>
                  <a:pt x="240438" y="101012"/>
                  <a:pt x="241520" y="102035"/>
                  <a:pt x="242866" y="102231"/>
                </a:cubicBezTo>
                <a:lnTo>
                  <a:pt x="303183" y="102231"/>
                </a:lnTo>
                <a:cubicBezTo>
                  <a:pt x="304137" y="102350"/>
                  <a:pt x="305100" y="102026"/>
                  <a:pt x="305798" y="101362"/>
                </a:cubicBezTo>
                <a:cubicBezTo>
                  <a:pt x="306488" y="100689"/>
                  <a:pt x="306846" y="99743"/>
                  <a:pt x="306761" y="98780"/>
                </a:cubicBezTo>
                <a:lnTo>
                  <a:pt x="306761" y="31947"/>
                </a:lnTo>
                <a:cubicBezTo>
                  <a:pt x="306761" y="14303"/>
                  <a:pt x="292457" y="0"/>
                  <a:pt x="274814" y="0"/>
                </a:cubicBezTo>
                <a:lnTo>
                  <a:pt x="32015" y="0"/>
                </a:lnTo>
                <a:cubicBezTo>
                  <a:pt x="14371" y="0"/>
                  <a:pt x="68" y="14303"/>
                  <a:pt x="68" y="31947"/>
                </a:cubicBezTo>
                <a:lnTo>
                  <a:pt x="68" y="98780"/>
                </a:lnTo>
                <a:cubicBezTo>
                  <a:pt x="0" y="99675"/>
                  <a:pt x="298" y="100552"/>
                  <a:pt x="911" y="101208"/>
                </a:cubicBezTo>
                <a:cubicBezTo>
                  <a:pt x="1516" y="101864"/>
                  <a:pt x="2368" y="102231"/>
                  <a:pt x="3262" y="102231"/>
                </a:cubicBezTo>
                <a:lnTo>
                  <a:pt x="80702" y="102231"/>
                </a:ln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1" name="Rounded Rectangle 52">
            <a:extLst>
              <a:ext uri="{FF2B5EF4-FFF2-40B4-BE49-F238E27FC236}">
                <a16:creationId xmlns:a16="http://schemas.microsoft.com/office/drawing/2014/main" id="{0596D262-2FCE-41E2-F9B2-FA0B68383F69}"/>
              </a:ext>
            </a:extLst>
          </p:cNvPr>
          <p:cNvSpPr/>
          <p:nvPr/>
        </p:nvSpPr>
        <p:spPr>
          <a:xfrm>
            <a:off x="4726572" y="3103233"/>
            <a:ext cx="302859" cy="297245"/>
          </a:xfrm>
          <a:custGeom>
            <a:avLst/>
            <a:gdLst/>
            <a:ahLst/>
            <a:cxnLst/>
            <a:rect l="0" t="0" r="0" b="0"/>
            <a:pathLst>
              <a:path w="302859" h="297245">
                <a:moveTo>
                  <a:pt x="44819" y="22729"/>
                </a:moveTo>
                <a:cubicBezTo>
                  <a:pt x="48133" y="19517"/>
                  <a:pt x="49471" y="14763"/>
                  <a:pt x="48304" y="10299"/>
                </a:cubicBezTo>
                <a:cubicBezTo>
                  <a:pt x="47128" y="5827"/>
                  <a:pt x="43644" y="2342"/>
                  <a:pt x="39171" y="1167"/>
                </a:cubicBezTo>
                <a:cubicBezTo>
                  <a:pt x="34707" y="0"/>
                  <a:pt x="29953" y="1337"/>
                  <a:pt x="26750" y="4651"/>
                </a:cubicBezTo>
                <a:cubicBezTo>
                  <a:pt x="9635" y="21553"/>
                  <a:pt x="0" y="44589"/>
                  <a:pt x="0" y="68639"/>
                </a:cubicBezTo>
                <a:cubicBezTo>
                  <a:pt x="0" y="92689"/>
                  <a:pt x="9635" y="115725"/>
                  <a:pt x="26750" y="132619"/>
                </a:cubicBezTo>
                <a:cubicBezTo>
                  <a:pt x="31759" y="137466"/>
                  <a:pt x="39733" y="137398"/>
                  <a:pt x="44657" y="132465"/>
                </a:cubicBezTo>
                <a:cubicBezTo>
                  <a:pt x="49590" y="127541"/>
                  <a:pt x="49658" y="119567"/>
                  <a:pt x="44819" y="114558"/>
                </a:cubicBezTo>
                <a:cubicBezTo>
                  <a:pt x="32492" y="102452"/>
                  <a:pt x="25557" y="85908"/>
                  <a:pt x="25557" y="68639"/>
                </a:cubicBezTo>
                <a:cubicBezTo>
                  <a:pt x="25557" y="51371"/>
                  <a:pt x="32492" y="34826"/>
                  <a:pt x="44811" y="22729"/>
                </a:cubicBezTo>
                <a:moveTo>
                  <a:pt x="276109" y="4651"/>
                </a:moveTo>
                <a:cubicBezTo>
                  <a:pt x="272905" y="1337"/>
                  <a:pt x="268152" y="0"/>
                  <a:pt x="263687" y="1167"/>
                </a:cubicBezTo>
                <a:cubicBezTo>
                  <a:pt x="259215" y="2342"/>
                  <a:pt x="255730" y="5827"/>
                  <a:pt x="254555" y="10299"/>
                </a:cubicBezTo>
                <a:cubicBezTo>
                  <a:pt x="253388" y="14763"/>
                  <a:pt x="254725" y="19517"/>
                  <a:pt x="258039" y="22729"/>
                </a:cubicBezTo>
                <a:cubicBezTo>
                  <a:pt x="270367" y="34826"/>
                  <a:pt x="277301" y="51371"/>
                  <a:pt x="277301" y="68639"/>
                </a:cubicBezTo>
                <a:cubicBezTo>
                  <a:pt x="277301" y="85908"/>
                  <a:pt x="270367" y="102452"/>
                  <a:pt x="258039" y="114558"/>
                </a:cubicBezTo>
                <a:cubicBezTo>
                  <a:pt x="253200" y="119567"/>
                  <a:pt x="253268" y="127541"/>
                  <a:pt x="258201" y="132465"/>
                </a:cubicBezTo>
                <a:cubicBezTo>
                  <a:pt x="263125" y="137398"/>
                  <a:pt x="271099" y="137466"/>
                  <a:pt x="276109" y="132627"/>
                </a:cubicBezTo>
                <a:cubicBezTo>
                  <a:pt x="293224" y="115725"/>
                  <a:pt x="302859" y="92689"/>
                  <a:pt x="302859" y="68639"/>
                </a:cubicBezTo>
                <a:cubicBezTo>
                  <a:pt x="302859" y="44589"/>
                  <a:pt x="293224" y="21553"/>
                  <a:pt x="276109" y="4651"/>
                </a:cubicBezTo>
                <a:moveTo>
                  <a:pt x="219703" y="28939"/>
                </a:moveTo>
                <a:cubicBezTo>
                  <a:pt x="224695" y="23947"/>
                  <a:pt x="232788" y="23947"/>
                  <a:pt x="237772" y="28939"/>
                </a:cubicBezTo>
                <a:cubicBezTo>
                  <a:pt x="259377" y="50527"/>
                  <a:pt x="259377" y="86734"/>
                  <a:pt x="237772" y="108347"/>
                </a:cubicBezTo>
                <a:cubicBezTo>
                  <a:pt x="234569" y="111661"/>
                  <a:pt x="229815" y="112999"/>
                  <a:pt x="225351" y="111832"/>
                </a:cubicBezTo>
                <a:cubicBezTo>
                  <a:pt x="220878" y="110656"/>
                  <a:pt x="217394" y="107172"/>
                  <a:pt x="216218" y="102699"/>
                </a:cubicBezTo>
                <a:cubicBezTo>
                  <a:pt x="215051" y="98235"/>
                  <a:pt x="216389" y="93481"/>
                  <a:pt x="219703" y="90278"/>
                </a:cubicBezTo>
                <a:cubicBezTo>
                  <a:pt x="231340" y="78649"/>
                  <a:pt x="231340" y="58620"/>
                  <a:pt x="219703" y="47000"/>
                </a:cubicBezTo>
                <a:cubicBezTo>
                  <a:pt x="214719" y="42016"/>
                  <a:pt x="214719" y="33923"/>
                  <a:pt x="219703" y="28939"/>
                </a:cubicBezTo>
                <a:moveTo>
                  <a:pt x="152068" y="36692"/>
                </a:moveTo>
                <a:cubicBezTo>
                  <a:pt x="136367" y="36675"/>
                  <a:pt x="122975" y="48065"/>
                  <a:pt x="120487" y="63570"/>
                </a:cubicBezTo>
                <a:cubicBezTo>
                  <a:pt x="117991" y="79067"/>
                  <a:pt x="127132" y="94086"/>
                  <a:pt x="142050" y="98993"/>
                </a:cubicBezTo>
                <a:lnTo>
                  <a:pt x="88992" y="193301"/>
                </a:lnTo>
                <a:cubicBezTo>
                  <a:pt x="87876" y="195278"/>
                  <a:pt x="87901" y="197697"/>
                  <a:pt x="89043" y="199657"/>
                </a:cubicBezTo>
                <a:cubicBezTo>
                  <a:pt x="90193" y="201616"/>
                  <a:pt x="92297" y="202817"/>
                  <a:pt x="94563" y="202817"/>
                </a:cubicBezTo>
                <a:lnTo>
                  <a:pt x="209573" y="202817"/>
                </a:lnTo>
                <a:cubicBezTo>
                  <a:pt x="211839" y="202817"/>
                  <a:pt x="213944" y="201616"/>
                  <a:pt x="215094" y="199657"/>
                </a:cubicBezTo>
                <a:cubicBezTo>
                  <a:pt x="216235" y="197697"/>
                  <a:pt x="216261" y="195278"/>
                  <a:pt x="215145" y="193301"/>
                </a:cubicBezTo>
                <a:lnTo>
                  <a:pt x="162087" y="98993"/>
                </a:lnTo>
                <a:cubicBezTo>
                  <a:pt x="176970" y="94061"/>
                  <a:pt x="186077" y="79058"/>
                  <a:pt x="183589" y="63579"/>
                </a:cubicBezTo>
                <a:cubicBezTo>
                  <a:pt x="181093" y="48099"/>
                  <a:pt x="167744" y="36709"/>
                  <a:pt x="152068" y="36692"/>
                </a:cubicBezTo>
                <a:moveTo>
                  <a:pt x="240345" y="275657"/>
                </a:moveTo>
                <a:lnTo>
                  <a:pt x="62514" y="275657"/>
                </a:lnTo>
                <a:cubicBezTo>
                  <a:pt x="56465" y="289526"/>
                  <a:pt x="41514" y="297245"/>
                  <a:pt x="26707" y="294152"/>
                </a:cubicBezTo>
                <a:cubicBezTo>
                  <a:pt x="11901" y="291060"/>
                  <a:pt x="1286" y="278008"/>
                  <a:pt x="1286" y="262878"/>
                </a:cubicBezTo>
                <a:cubicBezTo>
                  <a:pt x="1286" y="247748"/>
                  <a:pt x="11901" y="234696"/>
                  <a:pt x="26707" y="231604"/>
                </a:cubicBezTo>
                <a:cubicBezTo>
                  <a:pt x="41514" y="228511"/>
                  <a:pt x="56465" y="236230"/>
                  <a:pt x="62514" y="250099"/>
                </a:cubicBezTo>
                <a:lnTo>
                  <a:pt x="139289" y="250099"/>
                </a:lnTo>
                <a:lnTo>
                  <a:pt x="139289" y="228375"/>
                </a:lnTo>
                <a:cubicBezTo>
                  <a:pt x="139289" y="221321"/>
                  <a:pt x="145014" y="215596"/>
                  <a:pt x="152068" y="215596"/>
                </a:cubicBezTo>
                <a:cubicBezTo>
                  <a:pt x="159122" y="215596"/>
                  <a:pt x="164847" y="221321"/>
                  <a:pt x="164847" y="228375"/>
                </a:cubicBezTo>
                <a:lnTo>
                  <a:pt x="164847" y="250099"/>
                </a:lnTo>
                <a:lnTo>
                  <a:pt x="240345" y="250099"/>
                </a:lnTo>
                <a:cubicBezTo>
                  <a:pt x="246393" y="236230"/>
                  <a:pt x="261345" y="228511"/>
                  <a:pt x="276151" y="231604"/>
                </a:cubicBezTo>
                <a:cubicBezTo>
                  <a:pt x="290958" y="234696"/>
                  <a:pt x="301573" y="247748"/>
                  <a:pt x="301573" y="262878"/>
                </a:cubicBezTo>
                <a:cubicBezTo>
                  <a:pt x="301573" y="278008"/>
                  <a:pt x="290958" y="291060"/>
                  <a:pt x="276151" y="294152"/>
                </a:cubicBezTo>
                <a:cubicBezTo>
                  <a:pt x="261345" y="297245"/>
                  <a:pt x="246393" y="289526"/>
                  <a:pt x="240345" y="275657"/>
                </a:cubicBezTo>
                <a:moveTo>
                  <a:pt x="83164" y="28939"/>
                </a:moveTo>
                <a:cubicBezTo>
                  <a:pt x="88157" y="33923"/>
                  <a:pt x="88157" y="42016"/>
                  <a:pt x="83164" y="47000"/>
                </a:cubicBezTo>
                <a:cubicBezTo>
                  <a:pt x="71536" y="58638"/>
                  <a:pt x="71536" y="78649"/>
                  <a:pt x="83164" y="90278"/>
                </a:cubicBezTo>
                <a:cubicBezTo>
                  <a:pt x="88157" y="95270"/>
                  <a:pt x="88148" y="103364"/>
                  <a:pt x="83156" y="108347"/>
                </a:cubicBezTo>
                <a:cubicBezTo>
                  <a:pt x="78164" y="113340"/>
                  <a:pt x="70070" y="113340"/>
                  <a:pt x="65087" y="108347"/>
                </a:cubicBezTo>
                <a:cubicBezTo>
                  <a:pt x="43490" y="86751"/>
                  <a:pt x="43490" y="50527"/>
                  <a:pt x="65087" y="28939"/>
                </a:cubicBezTo>
                <a:cubicBezTo>
                  <a:pt x="70070" y="23947"/>
                  <a:pt x="78164" y="23947"/>
                  <a:pt x="83156" y="28939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2" name="Rounded Rectangle 53">
            <a:extLst>
              <a:ext uri="{FF2B5EF4-FFF2-40B4-BE49-F238E27FC236}">
                <a16:creationId xmlns:a16="http://schemas.microsoft.com/office/drawing/2014/main" id="{A6159799-3E2D-0CA5-C9CC-5756D1E1C3C0}"/>
              </a:ext>
            </a:extLst>
          </p:cNvPr>
          <p:cNvSpPr/>
          <p:nvPr/>
        </p:nvSpPr>
        <p:spPr>
          <a:xfrm>
            <a:off x="3650718" y="3119729"/>
            <a:ext cx="309879" cy="294911"/>
          </a:xfrm>
          <a:custGeom>
            <a:avLst/>
            <a:gdLst/>
            <a:ahLst/>
            <a:cxnLst/>
            <a:rect l="0" t="0" r="0" b="0"/>
            <a:pathLst>
              <a:path w="309879" h="294911">
                <a:moveTo>
                  <a:pt x="99607" y="122805"/>
                </a:moveTo>
                <a:cubicBezTo>
                  <a:pt x="99675" y="133062"/>
                  <a:pt x="108007" y="141334"/>
                  <a:pt x="118264" y="141334"/>
                </a:cubicBezTo>
                <a:lnTo>
                  <a:pt x="191615" y="141334"/>
                </a:lnTo>
                <a:cubicBezTo>
                  <a:pt x="201872" y="141334"/>
                  <a:pt x="210204" y="133062"/>
                  <a:pt x="210272" y="122805"/>
                </a:cubicBezTo>
                <a:lnTo>
                  <a:pt x="210272" y="61721"/>
                </a:lnTo>
                <a:cubicBezTo>
                  <a:pt x="210229" y="52666"/>
                  <a:pt x="203729" y="44922"/>
                  <a:pt x="194809" y="43320"/>
                </a:cubicBezTo>
                <a:cubicBezTo>
                  <a:pt x="193293" y="43073"/>
                  <a:pt x="192168" y="41786"/>
                  <a:pt x="192126" y="40253"/>
                </a:cubicBezTo>
                <a:lnTo>
                  <a:pt x="192126" y="12778"/>
                </a:lnTo>
                <a:cubicBezTo>
                  <a:pt x="192126" y="5724"/>
                  <a:pt x="186401" y="0"/>
                  <a:pt x="179347" y="0"/>
                </a:cubicBezTo>
                <a:cubicBezTo>
                  <a:pt x="172293" y="0"/>
                  <a:pt x="166568" y="5724"/>
                  <a:pt x="166568" y="12778"/>
                </a:cubicBezTo>
                <a:lnTo>
                  <a:pt x="166568" y="39870"/>
                </a:lnTo>
                <a:cubicBezTo>
                  <a:pt x="166568" y="41633"/>
                  <a:pt x="165137" y="43064"/>
                  <a:pt x="163373" y="43064"/>
                </a:cubicBezTo>
                <a:lnTo>
                  <a:pt x="146505" y="43064"/>
                </a:lnTo>
                <a:cubicBezTo>
                  <a:pt x="144742" y="43064"/>
                  <a:pt x="143310" y="41633"/>
                  <a:pt x="143310" y="39870"/>
                </a:cubicBezTo>
                <a:lnTo>
                  <a:pt x="143310" y="12778"/>
                </a:lnTo>
                <a:cubicBezTo>
                  <a:pt x="143310" y="5724"/>
                  <a:pt x="137585" y="0"/>
                  <a:pt x="130532" y="0"/>
                </a:cubicBezTo>
                <a:cubicBezTo>
                  <a:pt x="123478" y="0"/>
                  <a:pt x="117753" y="5724"/>
                  <a:pt x="117753" y="12778"/>
                </a:cubicBezTo>
                <a:lnTo>
                  <a:pt x="117753" y="40253"/>
                </a:lnTo>
                <a:cubicBezTo>
                  <a:pt x="117710" y="41786"/>
                  <a:pt x="116586" y="43073"/>
                  <a:pt x="115069" y="43320"/>
                </a:cubicBezTo>
                <a:cubicBezTo>
                  <a:pt x="106149" y="44922"/>
                  <a:pt x="99649" y="52666"/>
                  <a:pt x="99607" y="61721"/>
                </a:cubicBezTo>
                <a:lnTo>
                  <a:pt x="99607" y="122805"/>
                </a:lnTo>
                <a:moveTo>
                  <a:pt x="137943" y="115137"/>
                </a:moveTo>
                <a:lnTo>
                  <a:pt x="128104" y="115137"/>
                </a:lnTo>
                <a:cubicBezTo>
                  <a:pt x="126340" y="115137"/>
                  <a:pt x="124909" y="113706"/>
                  <a:pt x="124909" y="111943"/>
                </a:cubicBezTo>
                <a:lnTo>
                  <a:pt x="124909" y="72584"/>
                </a:lnTo>
                <a:cubicBezTo>
                  <a:pt x="124909" y="70820"/>
                  <a:pt x="126340" y="69389"/>
                  <a:pt x="128104" y="69389"/>
                </a:cubicBezTo>
                <a:lnTo>
                  <a:pt x="137688" y="69389"/>
                </a:lnTo>
                <a:cubicBezTo>
                  <a:pt x="150322" y="69389"/>
                  <a:pt x="160553" y="79629"/>
                  <a:pt x="160553" y="92263"/>
                </a:cubicBezTo>
                <a:cubicBezTo>
                  <a:pt x="160553" y="104897"/>
                  <a:pt x="150322" y="115137"/>
                  <a:pt x="137688" y="115137"/>
                </a:cubicBezTo>
                <a:moveTo>
                  <a:pt x="276850" y="245226"/>
                </a:moveTo>
                <a:cubicBezTo>
                  <a:pt x="268543" y="234620"/>
                  <a:pt x="276850" y="240626"/>
                  <a:pt x="233146" y="206890"/>
                </a:cubicBezTo>
                <a:lnTo>
                  <a:pt x="186759" y="170342"/>
                </a:lnTo>
                <a:cubicBezTo>
                  <a:pt x="185992" y="169780"/>
                  <a:pt x="185557" y="168868"/>
                  <a:pt x="185609" y="167914"/>
                </a:cubicBezTo>
                <a:lnTo>
                  <a:pt x="185609" y="165614"/>
                </a:lnTo>
                <a:cubicBezTo>
                  <a:pt x="185540" y="162138"/>
                  <a:pt x="182695" y="159352"/>
                  <a:pt x="179219" y="159352"/>
                </a:cubicBezTo>
                <a:lnTo>
                  <a:pt x="130532" y="159352"/>
                </a:lnTo>
                <a:cubicBezTo>
                  <a:pt x="128819" y="159318"/>
                  <a:pt x="127175" y="159966"/>
                  <a:pt x="125931" y="161141"/>
                </a:cubicBezTo>
                <a:cubicBezTo>
                  <a:pt x="124738" y="162376"/>
                  <a:pt x="124099" y="164029"/>
                  <a:pt x="124142" y="165742"/>
                </a:cubicBezTo>
                <a:lnTo>
                  <a:pt x="124142" y="167914"/>
                </a:lnTo>
                <a:cubicBezTo>
                  <a:pt x="124125" y="168911"/>
                  <a:pt x="123656" y="169856"/>
                  <a:pt x="122864" y="170470"/>
                </a:cubicBezTo>
                <a:lnTo>
                  <a:pt x="76605" y="206762"/>
                </a:lnTo>
                <a:cubicBezTo>
                  <a:pt x="33668" y="240498"/>
                  <a:pt x="41207" y="234620"/>
                  <a:pt x="33029" y="245098"/>
                </a:cubicBezTo>
                <a:cubicBezTo>
                  <a:pt x="16033" y="267717"/>
                  <a:pt x="35968" y="284713"/>
                  <a:pt x="43380" y="291102"/>
                </a:cubicBezTo>
                <a:cubicBezTo>
                  <a:pt x="47000" y="293965"/>
                  <a:pt x="51890" y="294646"/>
                  <a:pt x="56158" y="292891"/>
                </a:cubicBezTo>
                <a:cubicBezTo>
                  <a:pt x="60554" y="290796"/>
                  <a:pt x="63383" y="286391"/>
                  <a:pt x="63442" y="281518"/>
                </a:cubicBezTo>
                <a:lnTo>
                  <a:pt x="63442" y="270145"/>
                </a:lnTo>
                <a:cubicBezTo>
                  <a:pt x="63715" y="264940"/>
                  <a:pt x="66475" y="260186"/>
                  <a:pt x="70854" y="257366"/>
                </a:cubicBezTo>
                <a:lnTo>
                  <a:pt x="127209" y="226825"/>
                </a:lnTo>
                <a:cubicBezTo>
                  <a:pt x="128138" y="226390"/>
                  <a:pt x="129220" y="226390"/>
                  <a:pt x="130148" y="226825"/>
                </a:cubicBezTo>
                <a:cubicBezTo>
                  <a:pt x="131051" y="227353"/>
                  <a:pt x="131699" y="228230"/>
                  <a:pt x="131937" y="229253"/>
                </a:cubicBezTo>
                <a:cubicBezTo>
                  <a:pt x="134365" y="243309"/>
                  <a:pt x="138199" y="260561"/>
                  <a:pt x="142288" y="276535"/>
                </a:cubicBezTo>
                <a:cubicBezTo>
                  <a:pt x="144069" y="281680"/>
                  <a:pt x="148916" y="285130"/>
                  <a:pt x="154360" y="285130"/>
                </a:cubicBezTo>
                <a:cubicBezTo>
                  <a:pt x="159812" y="285130"/>
                  <a:pt x="164660" y="281680"/>
                  <a:pt x="166440" y="276535"/>
                </a:cubicBezTo>
                <a:cubicBezTo>
                  <a:pt x="170529" y="260689"/>
                  <a:pt x="174363" y="243182"/>
                  <a:pt x="176919" y="229125"/>
                </a:cubicBezTo>
                <a:cubicBezTo>
                  <a:pt x="177038" y="228094"/>
                  <a:pt x="177669" y="227191"/>
                  <a:pt x="178597" y="226722"/>
                </a:cubicBezTo>
                <a:cubicBezTo>
                  <a:pt x="179526" y="226262"/>
                  <a:pt x="180625" y="226296"/>
                  <a:pt x="181519" y="226825"/>
                </a:cubicBezTo>
                <a:lnTo>
                  <a:pt x="238002" y="257366"/>
                </a:lnTo>
                <a:cubicBezTo>
                  <a:pt x="242381" y="260186"/>
                  <a:pt x="245141" y="264940"/>
                  <a:pt x="245414" y="270145"/>
                </a:cubicBezTo>
                <a:lnTo>
                  <a:pt x="245414" y="281518"/>
                </a:lnTo>
                <a:cubicBezTo>
                  <a:pt x="245456" y="286357"/>
                  <a:pt x="248225" y="290762"/>
                  <a:pt x="252570" y="292891"/>
                </a:cubicBezTo>
                <a:cubicBezTo>
                  <a:pt x="257017" y="294911"/>
                  <a:pt x="262222" y="294212"/>
                  <a:pt x="265988" y="291102"/>
                </a:cubicBezTo>
                <a:cubicBezTo>
                  <a:pt x="274166" y="284074"/>
                  <a:pt x="293207" y="267845"/>
                  <a:pt x="276339" y="245098"/>
                </a:cubicBezTo>
                <a:lnTo>
                  <a:pt x="276850" y="245098"/>
                </a:lnTo>
                <a:moveTo>
                  <a:pt x="234935" y="98525"/>
                </a:moveTo>
                <a:cubicBezTo>
                  <a:pt x="227881" y="98525"/>
                  <a:pt x="222156" y="104250"/>
                  <a:pt x="222156" y="111304"/>
                </a:cubicBezTo>
                <a:cubicBezTo>
                  <a:pt x="222156" y="118358"/>
                  <a:pt x="227881" y="124082"/>
                  <a:pt x="234935" y="124082"/>
                </a:cubicBezTo>
                <a:cubicBezTo>
                  <a:pt x="251343" y="123026"/>
                  <a:pt x="264122" y="109412"/>
                  <a:pt x="264122" y="92962"/>
                </a:cubicBezTo>
                <a:cubicBezTo>
                  <a:pt x="264122" y="76519"/>
                  <a:pt x="251343" y="62906"/>
                  <a:pt x="234935" y="61849"/>
                </a:cubicBezTo>
                <a:cubicBezTo>
                  <a:pt x="227881" y="61849"/>
                  <a:pt x="222156" y="67574"/>
                  <a:pt x="222156" y="74628"/>
                </a:cubicBezTo>
                <a:cubicBezTo>
                  <a:pt x="222156" y="81682"/>
                  <a:pt x="227881" y="87407"/>
                  <a:pt x="234935" y="87407"/>
                </a:cubicBezTo>
                <a:cubicBezTo>
                  <a:pt x="237993" y="87475"/>
                  <a:pt x="240430" y="89971"/>
                  <a:pt x="240430" y="93030"/>
                </a:cubicBezTo>
                <a:cubicBezTo>
                  <a:pt x="240430" y="96063"/>
                  <a:pt x="237968" y="98525"/>
                  <a:pt x="234935" y="98525"/>
                </a:cubicBezTo>
                <a:moveTo>
                  <a:pt x="252698" y="30541"/>
                </a:moveTo>
                <a:cubicBezTo>
                  <a:pt x="245644" y="30541"/>
                  <a:pt x="239919" y="36266"/>
                  <a:pt x="239919" y="43320"/>
                </a:cubicBezTo>
                <a:cubicBezTo>
                  <a:pt x="239919" y="50374"/>
                  <a:pt x="245644" y="56099"/>
                  <a:pt x="252698" y="56099"/>
                </a:cubicBezTo>
                <a:cubicBezTo>
                  <a:pt x="270912" y="57922"/>
                  <a:pt x="284287" y="74023"/>
                  <a:pt x="282728" y="92263"/>
                </a:cubicBezTo>
                <a:cubicBezTo>
                  <a:pt x="284210" y="110452"/>
                  <a:pt x="270852" y="126476"/>
                  <a:pt x="252698" y="128299"/>
                </a:cubicBezTo>
                <a:cubicBezTo>
                  <a:pt x="245644" y="128299"/>
                  <a:pt x="239919" y="134024"/>
                  <a:pt x="239919" y="141078"/>
                </a:cubicBezTo>
                <a:cubicBezTo>
                  <a:pt x="239919" y="148132"/>
                  <a:pt x="245644" y="153857"/>
                  <a:pt x="252698" y="153857"/>
                </a:cubicBezTo>
                <a:cubicBezTo>
                  <a:pt x="284994" y="152068"/>
                  <a:pt x="309811" y="124577"/>
                  <a:pt x="308286" y="92263"/>
                </a:cubicBezTo>
                <a:cubicBezTo>
                  <a:pt x="309879" y="59907"/>
                  <a:pt x="285045" y="32330"/>
                  <a:pt x="252698" y="30541"/>
                </a:cubicBezTo>
                <a:moveTo>
                  <a:pt x="43891" y="93030"/>
                </a:moveTo>
                <a:cubicBezTo>
                  <a:pt x="43891" y="110179"/>
                  <a:pt x="57794" y="124082"/>
                  <a:pt x="74943" y="124082"/>
                </a:cubicBezTo>
                <a:cubicBezTo>
                  <a:pt x="81997" y="124082"/>
                  <a:pt x="87722" y="118358"/>
                  <a:pt x="87722" y="111304"/>
                </a:cubicBezTo>
                <a:cubicBezTo>
                  <a:pt x="87722" y="104250"/>
                  <a:pt x="81997" y="98525"/>
                  <a:pt x="74943" y="98525"/>
                </a:cubicBezTo>
                <a:cubicBezTo>
                  <a:pt x="71911" y="98525"/>
                  <a:pt x="69448" y="96063"/>
                  <a:pt x="69448" y="93030"/>
                </a:cubicBezTo>
                <a:cubicBezTo>
                  <a:pt x="69448" y="89971"/>
                  <a:pt x="71885" y="87475"/>
                  <a:pt x="74943" y="87407"/>
                </a:cubicBezTo>
                <a:cubicBezTo>
                  <a:pt x="81997" y="87407"/>
                  <a:pt x="87722" y="81682"/>
                  <a:pt x="87722" y="74628"/>
                </a:cubicBezTo>
                <a:cubicBezTo>
                  <a:pt x="87722" y="67574"/>
                  <a:pt x="81997" y="61849"/>
                  <a:pt x="74943" y="61849"/>
                </a:cubicBezTo>
                <a:cubicBezTo>
                  <a:pt x="57769" y="61917"/>
                  <a:pt x="43891" y="75855"/>
                  <a:pt x="43891" y="93030"/>
                </a:cubicBezTo>
                <a:moveTo>
                  <a:pt x="69960" y="141078"/>
                </a:moveTo>
                <a:cubicBezTo>
                  <a:pt x="69960" y="134024"/>
                  <a:pt x="64235" y="128299"/>
                  <a:pt x="57181" y="128299"/>
                </a:cubicBezTo>
                <a:cubicBezTo>
                  <a:pt x="39026" y="126476"/>
                  <a:pt x="25668" y="110452"/>
                  <a:pt x="27150" y="92263"/>
                </a:cubicBezTo>
                <a:cubicBezTo>
                  <a:pt x="25591" y="74023"/>
                  <a:pt x="38967" y="57922"/>
                  <a:pt x="57181" y="56099"/>
                </a:cubicBezTo>
                <a:cubicBezTo>
                  <a:pt x="64235" y="56099"/>
                  <a:pt x="69960" y="50374"/>
                  <a:pt x="69960" y="43320"/>
                </a:cubicBezTo>
                <a:cubicBezTo>
                  <a:pt x="69960" y="36266"/>
                  <a:pt x="64235" y="30541"/>
                  <a:pt x="57181" y="30541"/>
                </a:cubicBezTo>
                <a:cubicBezTo>
                  <a:pt x="24833" y="32330"/>
                  <a:pt x="0" y="59907"/>
                  <a:pt x="1593" y="92263"/>
                </a:cubicBezTo>
                <a:cubicBezTo>
                  <a:pt x="68" y="124577"/>
                  <a:pt x="24884" y="152068"/>
                  <a:pt x="57181" y="153857"/>
                </a:cubicBezTo>
                <a:cubicBezTo>
                  <a:pt x="64235" y="153857"/>
                  <a:pt x="69960" y="148132"/>
                  <a:pt x="69960" y="141078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Rounded Rectangle 54">
            <a:extLst>
              <a:ext uri="{FF2B5EF4-FFF2-40B4-BE49-F238E27FC236}">
                <a16:creationId xmlns:a16="http://schemas.microsoft.com/office/drawing/2014/main" id="{2D3519D6-AD58-DFEF-AF81-2E72480FE7C0}"/>
              </a:ext>
            </a:extLst>
          </p:cNvPr>
          <p:cNvSpPr/>
          <p:nvPr/>
        </p:nvSpPr>
        <p:spPr>
          <a:xfrm>
            <a:off x="2601113" y="3100656"/>
            <a:ext cx="281135" cy="306727"/>
          </a:xfrm>
          <a:custGeom>
            <a:avLst/>
            <a:gdLst/>
            <a:ahLst/>
            <a:cxnLst/>
            <a:rect l="0" t="0" r="0" b="0"/>
            <a:pathLst>
              <a:path w="281135" h="306727">
                <a:moveTo>
                  <a:pt x="140567" y="34"/>
                </a:moveTo>
                <a:cubicBezTo>
                  <a:pt x="125309" y="0"/>
                  <a:pt x="110656" y="6048"/>
                  <a:pt x="99871" y="16842"/>
                </a:cubicBezTo>
                <a:cubicBezTo>
                  <a:pt x="89077" y="27627"/>
                  <a:pt x="83028" y="42281"/>
                  <a:pt x="83062" y="57539"/>
                </a:cubicBezTo>
                <a:lnTo>
                  <a:pt x="198072" y="57539"/>
                </a:lnTo>
                <a:cubicBezTo>
                  <a:pt x="198106" y="42281"/>
                  <a:pt x="192058" y="27627"/>
                  <a:pt x="181264" y="16842"/>
                </a:cubicBezTo>
                <a:cubicBezTo>
                  <a:pt x="170478" y="6048"/>
                  <a:pt x="155825" y="0"/>
                  <a:pt x="140567" y="34"/>
                </a:cubicBezTo>
                <a:moveTo>
                  <a:pt x="268356" y="281169"/>
                </a:moveTo>
                <a:lnTo>
                  <a:pt x="253021" y="281169"/>
                </a:lnTo>
                <a:lnTo>
                  <a:pt x="240242" y="223664"/>
                </a:lnTo>
                <a:lnTo>
                  <a:pt x="268356" y="223664"/>
                </a:lnTo>
                <a:cubicBezTo>
                  <a:pt x="275410" y="223664"/>
                  <a:pt x="281135" y="217939"/>
                  <a:pt x="281135" y="210885"/>
                </a:cubicBezTo>
                <a:cubicBezTo>
                  <a:pt x="281135" y="203831"/>
                  <a:pt x="275410" y="198106"/>
                  <a:pt x="268356" y="198106"/>
                </a:cubicBezTo>
                <a:lnTo>
                  <a:pt x="253149" y="198106"/>
                </a:lnTo>
                <a:lnTo>
                  <a:pt x="231681" y="87441"/>
                </a:lnTo>
                <a:cubicBezTo>
                  <a:pt x="230667" y="81188"/>
                  <a:pt x="225232" y="76622"/>
                  <a:pt x="218902" y="76707"/>
                </a:cubicBezTo>
                <a:lnTo>
                  <a:pt x="61977" y="76707"/>
                </a:lnTo>
                <a:cubicBezTo>
                  <a:pt x="55647" y="76622"/>
                  <a:pt x="50212" y="81188"/>
                  <a:pt x="49198" y="87441"/>
                </a:cubicBezTo>
                <a:lnTo>
                  <a:pt x="27985" y="198106"/>
                </a:lnTo>
                <a:lnTo>
                  <a:pt x="12778" y="198106"/>
                </a:lnTo>
                <a:cubicBezTo>
                  <a:pt x="5724" y="198106"/>
                  <a:pt x="0" y="203831"/>
                  <a:pt x="0" y="210885"/>
                </a:cubicBezTo>
                <a:cubicBezTo>
                  <a:pt x="0" y="217939"/>
                  <a:pt x="5724" y="223664"/>
                  <a:pt x="12778" y="223664"/>
                </a:cubicBezTo>
                <a:lnTo>
                  <a:pt x="41403" y="223664"/>
                </a:lnTo>
                <a:lnTo>
                  <a:pt x="28113" y="281169"/>
                </a:lnTo>
                <a:lnTo>
                  <a:pt x="12778" y="281169"/>
                </a:lnTo>
                <a:cubicBezTo>
                  <a:pt x="5724" y="281169"/>
                  <a:pt x="0" y="286894"/>
                  <a:pt x="0" y="293948"/>
                </a:cubicBezTo>
                <a:cubicBezTo>
                  <a:pt x="0" y="301002"/>
                  <a:pt x="5724" y="306727"/>
                  <a:pt x="12778" y="306727"/>
                </a:cubicBezTo>
                <a:lnTo>
                  <a:pt x="63894" y="306727"/>
                </a:lnTo>
                <a:cubicBezTo>
                  <a:pt x="70948" y="306727"/>
                  <a:pt x="76673" y="301002"/>
                  <a:pt x="76673" y="293948"/>
                </a:cubicBezTo>
                <a:cubicBezTo>
                  <a:pt x="76673" y="286894"/>
                  <a:pt x="70948" y="281169"/>
                  <a:pt x="63894" y="281169"/>
                </a:cubicBezTo>
                <a:lnTo>
                  <a:pt x="54438" y="281169"/>
                </a:lnTo>
                <a:lnTo>
                  <a:pt x="67216" y="223664"/>
                </a:lnTo>
                <a:lnTo>
                  <a:pt x="127788" y="223664"/>
                </a:lnTo>
                <a:lnTo>
                  <a:pt x="127788" y="281169"/>
                </a:lnTo>
                <a:lnTo>
                  <a:pt x="115009" y="281169"/>
                </a:lnTo>
                <a:cubicBezTo>
                  <a:pt x="107955" y="281169"/>
                  <a:pt x="102231" y="286894"/>
                  <a:pt x="102231" y="293948"/>
                </a:cubicBezTo>
                <a:cubicBezTo>
                  <a:pt x="102231" y="301002"/>
                  <a:pt x="107955" y="306727"/>
                  <a:pt x="115009" y="306727"/>
                </a:cubicBezTo>
                <a:lnTo>
                  <a:pt x="166125" y="306727"/>
                </a:lnTo>
                <a:cubicBezTo>
                  <a:pt x="173179" y="306727"/>
                  <a:pt x="178904" y="301002"/>
                  <a:pt x="178904" y="293948"/>
                </a:cubicBezTo>
                <a:cubicBezTo>
                  <a:pt x="178904" y="286894"/>
                  <a:pt x="173179" y="281169"/>
                  <a:pt x="166125" y="281169"/>
                </a:cubicBezTo>
                <a:lnTo>
                  <a:pt x="153346" y="281169"/>
                </a:lnTo>
                <a:lnTo>
                  <a:pt x="153346" y="223664"/>
                </a:lnTo>
                <a:lnTo>
                  <a:pt x="213407" y="223664"/>
                </a:lnTo>
                <a:lnTo>
                  <a:pt x="226186" y="281169"/>
                </a:lnTo>
                <a:lnTo>
                  <a:pt x="217240" y="281169"/>
                </a:lnTo>
                <a:cubicBezTo>
                  <a:pt x="210187" y="281169"/>
                  <a:pt x="204462" y="286894"/>
                  <a:pt x="204462" y="293948"/>
                </a:cubicBezTo>
                <a:cubicBezTo>
                  <a:pt x="204462" y="301002"/>
                  <a:pt x="210187" y="306727"/>
                  <a:pt x="217240" y="306727"/>
                </a:cubicBezTo>
                <a:lnTo>
                  <a:pt x="268356" y="306727"/>
                </a:lnTo>
                <a:cubicBezTo>
                  <a:pt x="275410" y="306727"/>
                  <a:pt x="281135" y="301002"/>
                  <a:pt x="281135" y="293948"/>
                </a:cubicBezTo>
                <a:cubicBezTo>
                  <a:pt x="281135" y="286894"/>
                  <a:pt x="275410" y="281169"/>
                  <a:pt x="268356" y="281169"/>
                </a:cubicBezTo>
                <a:moveTo>
                  <a:pt x="102231" y="127822"/>
                </a:moveTo>
                <a:cubicBezTo>
                  <a:pt x="102231" y="120768"/>
                  <a:pt x="107955" y="115044"/>
                  <a:pt x="115009" y="115044"/>
                </a:cubicBezTo>
                <a:lnTo>
                  <a:pt x="166125" y="115044"/>
                </a:lnTo>
                <a:cubicBezTo>
                  <a:pt x="173179" y="115044"/>
                  <a:pt x="178904" y="120768"/>
                  <a:pt x="178904" y="127822"/>
                </a:cubicBezTo>
                <a:lnTo>
                  <a:pt x="178904" y="166159"/>
                </a:lnTo>
                <a:cubicBezTo>
                  <a:pt x="178904" y="173213"/>
                  <a:pt x="173179" y="178938"/>
                  <a:pt x="166125" y="178938"/>
                </a:cubicBezTo>
                <a:lnTo>
                  <a:pt x="115009" y="178938"/>
                </a:lnTo>
                <a:cubicBezTo>
                  <a:pt x="107955" y="178938"/>
                  <a:pt x="102231" y="173213"/>
                  <a:pt x="102231" y="166159"/>
                </a:cubicBezTo>
                <a:lnTo>
                  <a:pt x="102231" y="127822"/>
                </a:ln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Rounded Rectangle 55">
            <a:extLst>
              <a:ext uri="{FF2B5EF4-FFF2-40B4-BE49-F238E27FC236}">
                <a16:creationId xmlns:a16="http://schemas.microsoft.com/office/drawing/2014/main" id="{74E7E2B2-102D-9B2D-F806-D7D3C9B7D4A9}"/>
              </a:ext>
            </a:extLst>
          </p:cNvPr>
          <p:cNvSpPr/>
          <p:nvPr/>
        </p:nvSpPr>
        <p:spPr>
          <a:xfrm>
            <a:off x="9514872" y="3830116"/>
            <a:ext cx="260689" cy="304128"/>
          </a:xfrm>
          <a:custGeom>
            <a:avLst/>
            <a:gdLst/>
            <a:ahLst/>
            <a:cxnLst/>
            <a:rect l="0" t="0" r="0" b="0"/>
            <a:pathLst>
              <a:path w="260689" h="304128">
                <a:moveTo>
                  <a:pt x="120121" y="268986"/>
                </a:moveTo>
                <a:cubicBezTo>
                  <a:pt x="114831" y="268986"/>
                  <a:pt x="110537" y="273280"/>
                  <a:pt x="110537" y="278571"/>
                </a:cubicBezTo>
                <a:lnTo>
                  <a:pt x="110537" y="294544"/>
                </a:lnTo>
                <a:cubicBezTo>
                  <a:pt x="110537" y="299835"/>
                  <a:pt x="114831" y="304128"/>
                  <a:pt x="120121" y="304128"/>
                </a:cubicBezTo>
                <a:cubicBezTo>
                  <a:pt x="125411" y="304128"/>
                  <a:pt x="129705" y="299835"/>
                  <a:pt x="129705" y="294544"/>
                </a:cubicBezTo>
                <a:lnTo>
                  <a:pt x="129705" y="278571"/>
                </a:lnTo>
                <a:cubicBezTo>
                  <a:pt x="129705" y="273280"/>
                  <a:pt x="125411" y="268986"/>
                  <a:pt x="120121" y="268986"/>
                </a:cubicBezTo>
                <a:moveTo>
                  <a:pt x="164847" y="268986"/>
                </a:moveTo>
                <a:cubicBezTo>
                  <a:pt x="159557" y="268986"/>
                  <a:pt x="155263" y="273280"/>
                  <a:pt x="155263" y="278571"/>
                </a:cubicBezTo>
                <a:lnTo>
                  <a:pt x="155263" y="294544"/>
                </a:lnTo>
                <a:cubicBezTo>
                  <a:pt x="155263" y="299835"/>
                  <a:pt x="159557" y="304128"/>
                  <a:pt x="164847" y="304128"/>
                </a:cubicBezTo>
                <a:cubicBezTo>
                  <a:pt x="170138" y="304128"/>
                  <a:pt x="174431" y="299835"/>
                  <a:pt x="174431" y="294544"/>
                </a:cubicBezTo>
                <a:lnTo>
                  <a:pt x="174431" y="278571"/>
                </a:lnTo>
                <a:cubicBezTo>
                  <a:pt x="174431" y="273280"/>
                  <a:pt x="170138" y="268986"/>
                  <a:pt x="164847" y="268986"/>
                </a:cubicBezTo>
                <a:moveTo>
                  <a:pt x="120121" y="90082"/>
                </a:moveTo>
                <a:cubicBezTo>
                  <a:pt x="122762" y="90218"/>
                  <a:pt x="125343" y="89281"/>
                  <a:pt x="127277" y="87467"/>
                </a:cubicBezTo>
                <a:cubicBezTo>
                  <a:pt x="129203" y="85661"/>
                  <a:pt x="130310" y="83139"/>
                  <a:pt x="130344" y="80498"/>
                </a:cubicBezTo>
                <a:lnTo>
                  <a:pt x="130344" y="64524"/>
                </a:lnTo>
                <a:cubicBezTo>
                  <a:pt x="130344" y="59234"/>
                  <a:pt x="126050" y="54940"/>
                  <a:pt x="120760" y="54940"/>
                </a:cubicBezTo>
                <a:cubicBezTo>
                  <a:pt x="115469" y="54940"/>
                  <a:pt x="111176" y="59234"/>
                  <a:pt x="111176" y="64524"/>
                </a:cubicBezTo>
                <a:lnTo>
                  <a:pt x="111176" y="80498"/>
                </a:lnTo>
                <a:cubicBezTo>
                  <a:pt x="111227" y="85524"/>
                  <a:pt x="115112" y="89682"/>
                  <a:pt x="120121" y="90082"/>
                </a:cubicBezTo>
                <a:moveTo>
                  <a:pt x="75395" y="268986"/>
                </a:moveTo>
                <a:cubicBezTo>
                  <a:pt x="70104" y="268986"/>
                  <a:pt x="65811" y="273280"/>
                  <a:pt x="65811" y="278571"/>
                </a:cubicBezTo>
                <a:lnTo>
                  <a:pt x="65811" y="294544"/>
                </a:lnTo>
                <a:cubicBezTo>
                  <a:pt x="65811" y="299835"/>
                  <a:pt x="70104" y="304128"/>
                  <a:pt x="75395" y="304128"/>
                </a:cubicBezTo>
                <a:cubicBezTo>
                  <a:pt x="80685" y="304128"/>
                  <a:pt x="84979" y="299835"/>
                  <a:pt x="84979" y="294544"/>
                </a:cubicBezTo>
                <a:lnTo>
                  <a:pt x="84979" y="278571"/>
                </a:lnTo>
                <a:cubicBezTo>
                  <a:pt x="84979" y="273280"/>
                  <a:pt x="80685" y="268986"/>
                  <a:pt x="75395" y="268986"/>
                </a:cubicBezTo>
                <a:moveTo>
                  <a:pt x="75395" y="90082"/>
                </a:moveTo>
                <a:cubicBezTo>
                  <a:pt x="80660" y="90014"/>
                  <a:pt x="84911" y="85763"/>
                  <a:pt x="84979" y="80498"/>
                </a:cubicBezTo>
                <a:lnTo>
                  <a:pt x="84979" y="64524"/>
                </a:lnTo>
                <a:cubicBezTo>
                  <a:pt x="84979" y="59234"/>
                  <a:pt x="80685" y="54940"/>
                  <a:pt x="75395" y="54940"/>
                </a:cubicBezTo>
                <a:cubicBezTo>
                  <a:pt x="70104" y="54940"/>
                  <a:pt x="65811" y="59234"/>
                  <a:pt x="65811" y="64524"/>
                </a:cubicBezTo>
                <a:lnTo>
                  <a:pt x="65811" y="80498"/>
                </a:lnTo>
                <a:cubicBezTo>
                  <a:pt x="65879" y="85763"/>
                  <a:pt x="70130" y="90014"/>
                  <a:pt x="75395" y="90082"/>
                </a:cubicBezTo>
                <a:moveTo>
                  <a:pt x="239604" y="221066"/>
                </a:moveTo>
                <a:lnTo>
                  <a:pt x="223630" y="221066"/>
                </a:lnTo>
                <a:cubicBezTo>
                  <a:pt x="218339" y="221066"/>
                  <a:pt x="214046" y="225359"/>
                  <a:pt x="214046" y="230650"/>
                </a:cubicBezTo>
                <a:cubicBezTo>
                  <a:pt x="214046" y="235940"/>
                  <a:pt x="218339" y="240234"/>
                  <a:pt x="223630" y="240234"/>
                </a:cubicBezTo>
                <a:lnTo>
                  <a:pt x="239604" y="240234"/>
                </a:lnTo>
                <a:cubicBezTo>
                  <a:pt x="244894" y="240234"/>
                  <a:pt x="249188" y="235940"/>
                  <a:pt x="249188" y="230650"/>
                </a:cubicBezTo>
                <a:cubicBezTo>
                  <a:pt x="249188" y="225359"/>
                  <a:pt x="244894" y="221066"/>
                  <a:pt x="239604" y="221066"/>
                </a:cubicBezTo>
                <a:moveTo>
                  <a:pt x="25557" y="169950"/>
                </a:moveTo>
                <a:lnTo>
                  <a:pt x="9584" y="169950"/>
                </a:lnTo>
                <a:cubicBezTo>
                  <a:pt x="4293" y="169950"/>
                  <a:pt x="0" y="174244"/>
                  <a:pt x="0" y="179534"/>
                </a:cubicBezTo>
                <a:cubicBezTo>
                  <a:pt x="0" y="184825"/>
                  <a:pt x="4293" y="189118"/>
                  <a:pt x="9584" y="189118"/>
                </a:cubicBezTo>
                <a:lnTo>
                  <a:pt x="25557" y="189118"/>
                </a:lnTo>
                <a:cubicBezTo>
                  <a:pt x="30848" y="189118"/>
                  <a:pt x="35141" y="184825"/>
                  <a:pt x="35141" y="179534"/>
                </a:cubicBezTo>
                <a:cubicBezTo>
                  <a:pt x="35141" y="174244"/>
                  <a:pt x="30848" y="169950"/>
                  <a:pt x="25557" y="169950"/>
                </a:cubicBezTo>
                <a:moveTo>
                  <a:pt x="239604" y="169950"/>
                </a:moveTo>
                <a:lnTo>
                  <a:pt x="223630" y="169950"/>
                </a:lnTo>
                <a:cubicBezTo>
                  <a:pt x="218339" y="169950"/>
                  <a:pt x="214046" y="174244"/>
                  <a:pt x="214046" y="179534"/>
                </a:cubicBezTo>
                <a:cubicBezTo>
                  <a:pt x="214046" y="184825"/>
                  <a:pt x="218339" y="189118"/>
                  <a:pt x="223630" y="189118"/>
                </a:cubicBezTo>
                <a:lnTo>
                  <a:pt x="239604" y="189118"/>
                </a:lnTo>
                <a:cubicBezTo>
                  <a:pt x="244894" y="189118"/>
                  <a:pt x="249188" y="184825"/>
                  <a:pt x="249188" y="179534"/>
                </a:cubicBezTo>
                <a:cubicBezTo>
                  <a:pt x="249188" y="174244"/>
                  <a:pt x="244894" y="169950"/>
                  <a:pt x="239604" y="169950"/>
                </a:cubicBezTo>
                <a:moveTo>
                  <a:pt x="25557" y="118835"/>
                </a:moveTo>
                <a:lnTo>
                  <a:pt x="9584" y="118835"/>
                </a:lnTo>
                <a:cubicBezTo>
                  <a:pt x="4293" y="118835"/>
                  <a:pt x="0" y="123128"/>
                  <a:pt x="0" y="128419"/>
                </a:cubicBezTo>
                <a:cubicBezTo>
                  <a:pt x="0" y="133709"/>
                  <a:pt x="4293" y="138003"/>
                  <a:pt x="9584" y="138003"/>
                </a:cubicBezTo>
                <a:lnTo>
                  <a:pt x="25557" y="138003"/>
                </a:lnTo>
                <a:cubicBezTo>
                  <a:pt x="30848" y="138003"/>
                  <a:pt x="35141" y="133709"/>
                  <a:pt x="35141" y="128419"/>
                </a:cubicBezTo>
                <a:cubicBezTo>
                  <a:pt x="35141" y="123128"/>
                  <a:pt x="30848" y="118835"/>
                  <a:pt x="25557" y="118835"/>
                </a:cubicBezTo>
                <a:moveTo>
                  <a:pt x="25557" y="221066"/>
                </a:moveTo>
                <a:lnTo>
                  <a:pt x="9584" y="221066"/>
                </a:lnTo>
                <a:cubicBezTo>
                  <a:pt x="4293" y="221066"/>
                  <a:pt x="0" y="225359"/>
                  <a:pt x="0" y="230650"/>
                </a:cubicBezTo>
                <a:cubicBezTo>
                  <a:pt x="0" y="235940"/>
                  <a:pt x="4293" y="240234"/>
                  <a:pt x="9584" y="240234"/>
                </a:cubicBezTo>
                <a:lnTo>
                  <a:pt x="25557" y="240234"/>
                </a:lnTo>
                <a:cubicBezTo>
                  <a:pt x="30848" y="240234"/>
                  <a:pt x="35141" y="235940"/>
                  <a:pt x="35141" y="230650"/>
                </a:cubicBezTo>
                <a:cubicBezTo>
                  <a:pt x="35141" y="225359"/>
                  <a:pt x="30848" y="221066"/>
                  <a:pt x="25557" y="221066"/>
                </a:cubicBezTo>
                <a:moveTo>
                  <a:pt x="143123" y="105033"/>
                </a:moveTo>
                <a:cubicBezTo>
                  <a:pt x="142646" y="103747"/>
                  <a:pt x="141428" y="102878"/>
                  <a:pt x="140056" y="102861"/>
                </a:cubicBezTo>
                <a:lnTo>
                  <a:pt x="67089" y="102861"/>
                </a:lnTo>
                <a:cubicBezTo>
                  <a:pt x="56499" y="102861"/>
                  <a:pt x="47920" y="111440"/>
                  <a:pt x="47920" y="122029"/>
                </a:cubicBezTo>
                <a:lnTo>
                  <a:pt x="47920" y="237039"/>
                </a:lnTo>
                <a:cubicBezTo>
                  <a:pt x="47920" y="247629"/>
                  <a:pt x="56499" y="256208"/>
                  <a:pt x="67089" y="256208"/>
                </a:cubicBezTo>
                <a:lnTo>
                  <a:pt x="182099" y="256208"/>
                </a:lnTo>
                <a:cubicBezTo>
                  <a:pt x="192688" y="256208"/>
                  <a:pt x="201267" y="247629"/>
                  <a:pt x="201267" y="237039"/>
                </a:cubicBezTo>
                <a:lnTo>
                  <a:pt x="201267" y="156149"/>
                </a:lnTo>
                <a:cubicBezTo>
                  <a:pt x="201275" y="154598"/>
                  <a:pt x="200125" y="153278"/>
                  <a:pt x="198583" y="153082"/>
                </a:cubicBezTo>
                <a:cubicBezTo>
                  <a:pt x="172523" y="148780"/>
                  <a:pt x="151088" y="130208"/>
                  <a:pt x="143123" y="105033"/>
                </a:cubicBezTo>
                <a:moveTo>
                  <a:pt x="79868" y="211481"/>
                </a:moveTo>
                <a:cubicBezTo>
                  <a:pt x="79868" y="206191"/>
                  <a:pt x="84161" y="201897"/>
                  <a:pt x="89452" y="201897"/>
                </a:cubicBezTo>
                <a:lnTo>
                  <a:pt x="111815" y="201897"/>
                </a:lnTo>
                <a:cubicBezTo>
                  <a:pt x="117105" y="201897"/>
                  <a:pt x="121399" y="206191"/>
                  <a:pt x="121399" y="211481"/>
                </a:cubicBezTo>
                <a:cubicBezTo>
                  <a:pt x="121399" y="216772"/>
                  <a:pt x="117105" y="221066"/>
                  <a:pt x="111815" y="221066"/>
                </a:cubicBezTo>
                <a:lnTo>
                  <a:pt x="89452" y="221066"/>
                </a:lnTo>
                <a:cubicBezTo>
                  <a:pt x="84187" y="220997"/>
                  <a:pt x="79936" y="216746"/>
                  <a:pt x="79868" y="211481"/>
                </a:cubicBezTo>
                <a:moveTo>
                  <a:pt x="194239" y="758"/>
                </a:moveTo>
                <a:cubicBezTo>
                  <a:pt x="191265" y="0"/>
                  <a:pt x="188173" y="1516"/>
                  <a:pt x="186955" y="4336"/>
                </a:cubicBezTo>
                <a:cubicBezTo>
                  <a:pt x="185702" y="7088"/>
                  <a:pt x="186554" y="10342"/>
                  <a:pt x="188999" y="12131"/>
                </a:cubicBezTo>
                <a:cubicBezTo>
                  <a:pt x="198907" y="19952"/>
                  <a:pt x="204112" y="32296"/>
                  <a:pt x="202800" y="44845"/>
                </a:cubicBezTo>
                <a:cubicBezTo>
                  <a:pt x="202681" y="45756"/>
                  <a:pt x="201931" y="46455"/>
                  <a:pt x="201011" y="46506"/>
                </a:cubicBezTo>
                <a:cubicBezTo>
                  <a:pt x="200049" y="46515"/>
                  <a:pt x="199222" y="45799"/>
                  <a:pt x="199094" y="44845"/>
                </a:cubicBezTo>
                <a:cubicBezTo>
                  <a:pt x="198924" y="42885"/>
                  <a:pt x="197834" y="41130"/>
                  <a:pt x="196155" y="40117"/>
                </a:cubicBezTo>
                <a:cubicBezTo>
                  <a:pt x="194324" y="39299"/>
                  <a:pt x="192236" y="39299"/>
                  <a:pt x="190405" y="40117"/>
                </a:cubicBezTo>
                <a:cubicBezTo>
                  <a:pt x="171237" y="46523"/>
                  <a:pt x="158355" y="64507"/>
                  <a:pt x="158458" y="84715"/>
                </a:cubicBezTo>
                <a:cubicBezTo>
                  <a:pt x="158458" y="112948"/>
                  <a:pt x="181340" y="135830"/>
                  <a:pt x="209573" y="135830"/>
                </a:cubicBezTo>
                <a:cubicBezTo>
                  <a:pt x="237806" y="135830"/>
                  <a:pt x="260689" y="112948"/>
                  <a:pt x="260689" y="84715"/>
                </a:cubicBezTo>
                <a:cubicBezTo>
                  <a:pt x="260322" y="44836"/>
                  <a:pt x="232967" y="10274"/>
                  <a:pt x="194239" y="758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5" name="Rounded Rectangle 56">
            <a:extLst>
              <a:ext uri="{FF2B5EF4-FFF2-40B4-BE49-F238E27FC236}">
                <a16:creationId xmlns:a16="http://schemas.microsoft.com/office/drawing/2014/main" id="{ABBDB2C7-2FFF-D0BC-2DD9-09A12A9DCA6E}"/>
              </a:ext>
            </a:extLst>
          </p:cNvPr>
          <p:cNvSpPr/>
          <p:nvPr/>
        </p:nvSpPr>
        <p:spPr>
          <a:xfrm>
            <a:off x="3111699" y="3836539"/>
            <a:ext cx="306710" cy="306693"/>
          </a:xfrm>
          <a:custGeom>
            <a:avLst/>
            <a:gdLst/>
            <a:ahLst/>
            <a:cxnLst/>
            <a:rect l="0" t="0" r="0" b="0"/>
            <a:pathLst>
              <a:path w="306710" h="306693">
                <a:moveTo>
                  <a:pt x="284849" y="259283"/>
                </a:moveTo>
                <a:cubicBezTo>
                  <a:pt x="282583" y="258269"/>
                  <a:pt x="281126" y="256012"/>
                  <a:pt x="281143" y="253533"/>
                </a:cubicBezTo>
                <a:lnTo>
                  <a:pt x="281143" y="241648"/>
                </a:lnTo>
                <a:cubicBezTo>
                  <a:pt x="281118" y="234884"/>
                  <a:pt x="278400" y="228401"/>
                  <a:pt x="273604" y="223630"/>
                </a:cubicBezTo>
                <a:lnTo>
                  <a:pt x="236417" y="186443"/>
                </a:lnTo>
                <a:cubicBezTo>
                  <a:pt x="234594" y="184629"/>
                  <a:pt x="232533" y="183078"/>
                  <a:pt x="230283" y="181843"/>
                </a:cubicBezTo>
                <a:cubicBezTo>
                  <a:pt x="226254" y="179637"/>
                  <a:pt x="223715" y="175445"/>
                  <a:pt x="223638" y="170853"/>
                </a:cubicBezTo>
                <a:cubicBezTo>
                  <a:pt x="223655" y="167718"/>
                  <a:pt x="224686" y="164668"/>
                  <a:pt x="226578" y="162164"/>
                </a:cubicBezTo>
                <a:cubicBezTo>
                  <a:pt x="240208" y="145790"/>
                  <a:pt x="248148" y="125428"/>
                  <a:pt x="249196" y="104147"/>
                </a:cubicBezTo>
                <a:cubicBezTo>
                  <a:pt x="249196" y="57249"/>
                  <a:pt x="204470" y="0"/>
                  <a:pt x="153355" y="0"/>
                </a:cubicBezTo>
                <a:cubicBezTo>
                  <a:pt x="102239" y="0"/>
                  <a:pt x="57513" y="57249"/>
                  <a:pt x="57513" y="104147"/>
                </a:cubicBezTo>
                <a:cubicBezTo>
                  <a:pt x="58561" y="125428"/>
                  <a:pt x="66501" y="145790"/>
                  <a:pt x="80132" y="162164"/>
                </a:cubicBezTo>
                <a:cubicBezTo>
                  <a:pt x="82023" y="164668"/>
                  <a:pt x="83054" y="167718"/>
                  <a:pt x="83071" y="170853"/>
                </a:cubicBezTo>
                <a:cubicBezTo>
                  <a:pt x="82994" y="175445"/>
                  <a:pt x="80455" y="179637"/>
                  <a:pt x="76426" y="181843"/>
                </a:cubicBezTo>
                <a:cubicBezTo>
                  <a:pt x="74177" y="183078"/>
                  <a:pt x="72115" y="184629"/>
                  <a:pt x="70292" y="186443"/>
                </a:cubicBezTo>
                <a:lnTo>
                  <a:pt x="33105" y="223630"/>
                </a:lnTo>
                <a:cubicBezTo>
                  <a:pt x="28309" y="228401"/>
                  <a:pt x="25591" y="234884"/>
                  <a:pt x="25566" y="241648"/>
                </a:cubicBezTo>
                <a:lnTo>
                  <a:pt x="25566" y="253533"/>
                </a:lnTo>
                <a:cubicBezTo>
                  <a:pt x="25583" y="256012"/>
                  <a:pt x="24126" y="258269"/>
                  <a:pt x="21860" y="259283"/>
                </a:cubicBezTo>
                <a:cubicBezTo>
                  <a:pt x="8502" y="265647"/>
                  <a:pt x="0" y="279124"/>
                  <a:pt x="8" y="293914"/>
                </a:cubicBezTo>
                <a:cubicBezTo>
                  <a:pt x="8" y="300968"/>
                  <a:pt x="5733" y="306693"/>
                  <a:pt x="12787" y="306693"/>
                </a:cubicBezTo>
                <a:lnTo>
                  <a:pt x="63902" y="306693"/>
                </a:lnTo>
                <a:cubicBezTo>
                  <a:pt x="70956" y="306693"/>
                  <a:pt x="76681" y="300968"/>
                  <a:pt x="76681" y="293914"/>
                </a:cubicBezTo>
                <a:cubicBezTo>
                  <a:pt x="76690" y="279124"/>
                  <a:pt x="68188" y="265647"/>
                  <a:pt x="54829" y="259283"/>
                </a:cubicBezTo>
                <a:cubicBezTo>
                  <a:pt x="52563" y="258269"/>
                  <a:pt x="51107" y="256012"/>
                  <a:pt x="51124" y="253533"/>
                </a:cubicBezTo>
                <a:lnTo>
                  <a:pt x="51124" y="244332"/>
                </a:lnTo>
                <a:cubicBezTo>
                  <a:pt x="51107" y="242636"/>
                  <a:pt x="51797" y="241009"/>
                  <a:pt x="53040" y="239859"/>
                </a:cubicBezTo>
                <a:lnTo>
                  <a:pt x="84604" y="208167"/>
                </a:lnTo>
                <a:cubicBezTo>
                  <a:pt x="87015" y="205774"/>
                  <a:pt x="90278" y="204445"/>
                  <a:pt x="93677" y="204462"/>
                </a:cubicBezTo>
                <a:lnTo>
                  <a:pt x="134186" y="204462"/>
                </a:lnTo>
                <a:cubicBezTo>
                  <a:pt x="137713" y="204462"/>
                  <a:pt x="140576" y="207324"/>
                  <a:pt x="140576" y="210851"/>
                </a:cubicBezTo>
                <a:lnTo>
                  <a:pt x="140576" y="253533"/>
                </a:lnTo>
                <a:cubicBezTo>
                  <a:pt x="140593" y="256012"/>
                  <a:pt x="139136" y="258269"/>
                  <a:pt x="136870" y="259283"/>
                </a:cubicBezTo>
                <a:cubicBezTo>
                  <a:pt x="123512" y="265647"/>
                  <a:pt x="115009" y="279124"/>
                  <a:pt x="115018" y="293914"/>
                </a:cubicBezTo>
                <a:cubicBezTo>
                  <a:pt x="115018" y="300968"/>
                  <a:pt x="120743" y="306693"/>
                  <a:pt x="127797" y="306693"/>
                </a:cubicBezTo>
                <a:lnTo>
                  <a:pt x="178912" y="306693"/>
                </a:lnTo>
                <a:cubicBezTo>
                  <a:pt x="185966" y="306693"/>
                  <a:pt x="191691" y="300968"/>
                  <a:pt x="191691" y="293914"/>
                </a:cubicBezTo>
                <a:cubicBezTo>
                  <a:pt x="191700" y="279124"/>
                  <a:pt x="183198" y="265647"/>
                  <a:pt x="169839" y="259283"/>
                </a:cubicBezTo>
                <a:cubicBezTo>
                  <a:pt x="167573" y="258269"/>
                  <a:pt x="166116" y="256012"/>
                  <a:pt x="166133" y="253533"/>
                </a:cubicBezTo>
                <a:lnTo>
                  <a:pt x="166133" y="210851"/>
                </a:lnTo>
                <a:cubicBezTo>
                  <a:pt x="166133" y="207324"/>
                  <a:pt x="168996" y="204462"/>
                  <a:pt x="172523" y="204462"/>
                </a:cubicBezTo>
                <a:lnTo>
                  <a:pt x="213032" y="204462"/>
                </a:lnTo>
                <a:cubicBezTo>
                  <a:pt x="216431" y="204445"/>
                  <a:pt x="219694" y="205774"/>
                  <a:pt x="222105" y="208167"/>
                </a:cubicBezTo>
                <a:lnTo>
                  <a:pt x="253669" y="239859"/>
                </a:lnTo>
                <a:cubicBezTo>
                  <a:pt x="254913" y="241009"/>
                  <a:pt x="255603" y="242636"/>
                  <a:pt x="255586" y="244332"/>
                </a:cubicBezTo>
                <a:lnTo>
                  <a:pt x="255586" y="253533"/>
                </a:lnTo>
                <a:cubicBezTo>
                  <a:pt x="255603" y="256012"/>
                  <a:pt x="254146" y="258269"/>
                  <a:pt x="251880" y="259283"/>
                </a:cubicBezTo>
                <a:cubicBezTo>
                  <a:pt x="238522" y="265647"/>
                  <a:pt x="230019" y="279124"/>
                  <a:pt x="230028" y="293914"/>
                </a:cubicBezTo>
                <a:cubicBezTo>
                  <a:pt x="230028" y="300968"/>
                  <a:pt x="235753" y="306693"/>
                  <a:pt x="242807" y="306693"/>
                </a:cubicBezTo>
                <a:lnTo>
                  <a:pt x="293922" y="306693"/>
                </a:lnTo>
                <a:cubicBezTo>
                  <a:pt x="300976" y="306693"/>
                  <a:pt x="306701" y="300968"/>
                  <a:pt x="306701" y="293914"/>
                </a:cubicBezTo>
                <a:cubicBezTo>
                  <a:pt x="306710" y="279124"/>
                  <a:pt x="298207" y="265647"/>
                  <a:pt x="284849" y="259283"/>
                </a:cubicBezTo>
                <a:moveTo>
                  <a:pt x="140576" y="172514"/>
                </a:moveTo>
                <a:cubicBezTo>
                  <a:pt x="140576" y="176041"/>
                  <a:pt x="137713" y="178904"/>
                  <a:pt x="134186" y="178904"/>
                </a:cubicBezTo>
                <a:lnTo>
                  <a:pt x="115018" y="178904"/>
                </a:lnTo>
                <a:cubicBezTo>
                  <a:pt x="111491" y="178904"/>
                  <a:pt x="108629" y="176041"/>
                  <a:pt x="108629" y="172514"/>
                </a:cubicBezTo>
                <a:lnTo>
                  <a:pt x="108629" y="166125"/>
                </a:lnTo>
                <a:cubicBezTo>
                  <a:pt x="108629" y="162598"/>
                  <a:pt x="111491" y="159736"/>
                  <a:pt x="115018" y="159736"/>
                </a:cubicBezTo>
                <a:lnTo>
                  <a:pt x="134186" y="159736"/>
                </a:lnTo>
                <a:cubicBezTo>
                  <a:pt x="137713" y="159736"/>
                  <a:pt x="140576" y="162598"/>
                  <a:pt x="140576" y="166125"/>
                </a:cubicBezTo>
                <a:lnTo>
                  <a:pt x="140576" y="172514"/>
                </a:lnTo>
                <a:moveTo>
                  <a:pt x="137381" y="140567"/>
                </a:moveTo>
                <a:cubicBezTo>
                  <a:pt x="133854" y="140567"/>
                  <a:pt x="130992" y="137705"/>
                  <a:pt x="130992" y="134178"/>
                </a:cubicBezTo>
                <a:lnTo>
                  <a:pt x="130992" y="89452"/>
                </a:lnTo>
                <a:cubicBezTo>
                  <a:pt x="130992" y="82398"/>
                  <a:pt x="136716" y="76673"/>
                  <a:pt x="143770" y="76673"/>
                </a:cubicBezTo>
                <a:lnTo>
                  <a:pt x="162939" y="76673"/>
                </a:lnTo>
                <a:cubicBezTo>
                  <a:pt x="169993" y="76673"/>
                  <a:pt x="175718" y="82398"/>
                  <a:pt x="175718" y="89452"/>
                </a:cubicBezTo>
                <a:lnTo>
                  <a:pt x="175718" y="134178"/>
                </a:lnTo>
                <a:cubicBezTo>
                  <a:pt x="175718" y="137705"/>
                  <a:pt x="172855" y="140567"/>
                  <a:pt x="169328" y="140567"/>
                </a:cubicBezTo>
                <a:lnTo>
                  <a:pt x="137381" y="140567"/>
                </a:lnTo>
                <a:moveTo>
                  <a:pt x="198081" y="172514"/>
                </a:moveTo>
                <a:cubicBezTo>
                  <a:pt x="198081" y="176041"/>
                  <a:pt x="195218" y="178904"/>
                  <a:pt x="191691" y="178904"/>
                </a:cubicBezTo>
                <a:lnTo>
                  <a:pt x="172523" y="178904"/>
                </a:lnTo>
                <a:cubicBezTo>
                  <a:pt x="168996" y="178904"/>
                  <a:pt x="166133" y="176041"/>
                  <a:pt x="166133" y="172514"/>
                </a:cubicBezTo>
                <a:lnTo>
                  <a:pt x="166133" y="166125"/>
                </a:lnTo>
                <a:cubicBezTo>
                  <a:pt x="166133" y="162598"/>
                  <a:pt x="168996" y="159736"/>
                  <a:pt x="172523" y="159736"/>
                </a:cubicBezTo>
                <a:lnTo>
                  <a:pt x="191691" y="159736"/>
                </a:lnTo>
                <a:cubicBezTo>
                  <a:pt x="195218" y="159736"/>
                  <a:pt x="198081" y="162598"/>
                  <a:pt x="198081" y="166125"/>
                </a:cubicBezTo>
                <a:lnTo>
                  <a:pt x="198081" y="172514"/>
                </a:ln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6" name="Rounded Rectangle 57">
            <a:extLst>
              <a:ext uri="{FF2B5EF4-FFF2-40B4-BE49-F238E27FC236}">
                <a16:creationId xmlns:a16="http://schemas.microsoft.com/office/drawing/2014/main" id="{71229ED6-B01A-98AC-5C3A-B8B89A86C20C}"/>
              </a:ext>
            </a:extLst>
          </p:cNvPr>
          <p:cNvSpPr/>
          <p:nvPr/>
        </p:nvSpPr>
        <p:spPr>
          <a:xfrm>
            <a:off x="4187694" y="3837701"/>
            <a:ext cx="287362" cy="307630"/>
          </a:xfrm>
          <a:custGeom>
            <a:avLst/>
            <a:gdLst/>
            <a:ahLst/>
            <a:cxnLst/>
            <a:rect l="0" t="0" r="0" b="0"/>
            <a:pathLst>
              <a:path w="287362" h="307630">
                <a:moveTo>
                  <a:pt x="217462" y="250065"/>
                </a:moveTo>
                <a:cubicBezTo>
                  <a:pt x="206873" y="250065"/>
                  <a:pt x="198294" y="258644"/>
                  <a:pt x="198294" y="269234"/>
                </a:cubicBezTo>
                <a:cubicBezTo>
                  <a:pt x="201071" y="281467"/>
                  <a:pt x="205637" y="293215"/>
                  <a:pt x="211839" y="304120"/>
                </a:cubicBezTo>
                <a:cubicBezTo>
                  <a:pt x="212887" y="306267"/>
                  <a:pt x="215068" y="307630"/>
                  <a:pt x="217462" y="307630"/>
                </a:cubicBezTo>
                <a:cubicBezTo>
                  <a:pt x="219856" y="307630"/>
                  <a:pt x="222037" y="306267"/>
                  <a:pt x="223085" y="304120"/>
                </a:cubicBezTo>
                <a:cubicBezTo>
                  <a:pt x="229270" y="293207"/>
                  <a:pt x="233827" y="281459"/>
                  <a:pt x="236630" y="269234"/>
                </a:cubicBezTo>
                <a:cubicBezTo>
                  <a:pt x="236630" y="258644"/>
                  <a:pt x="228051" y="250065"/>
                  <a:pt x="217462" y="250065"/>
                </a:cubicBezTo>
                <a:moveTo>
                  <a:pt x="159957" y="149112"/>
                </a:moveTo>
                <a:cubicBezTo>
                  <a:pt x="167011" y="149112"/>
                  <a:pt x="172736" y="143387"/>
                  <a:pt x="172736" y="136333"/>
                </a:cubicBezTo>
                <a:cubicBezTo>
                  <a:pt x="172736" y="129279"/>
                  <a:pt x="167011" y="123554"/>
                  <a:pt x="159957" y="123554"/>
                </a:cubicBezTo>
                <a:cubicBezTo>
                  <a:pt x="149368" y="123554"/>
                  <a:pt x="140789" y="114975"/>
                  <a:pt x="140789" y="104386"/>
                </a:cubicBezTo>
                <a:cubicBezTo>
                  <a:pt x="140789" y="93796"/>
                  <a:pt x="149368" y="85218"/>
                  <a:pt x="159957" y="85218"/>
                </a:cubicBezTo>
                <a:cubicBezTo>
                  <a:pt x="167011" y="85218"/>
                  <a:pt x="172736" y="79493"/>
                  <a:pt x="172736" y="72439"/>
                </a:cubicBezTo>
                <a:cubicBezTo>
                  <a:pt x="172736" y="65385"/>
                  <a:pt x="167011" y="59660"/>
                  <a:pt x="159957" y="59660"/>
                </a:cubicBezTo>
                <a:cubicBezTo>
                  <a:pt x="141530" y="59702"/>
                  <a:pt x="125028" y="71076"/>
                  <a:pt x="118426" y="88285"/>
                </a:cubicBezTo>
                <a:cubicBezTo>
                  <a:pt x="117923" y="89597"/>
                  <a:pt x="116628" y="90423"/>
                  <a:pt x="115231" y="90329"/>
                </a:cubicBezTo>
                <a:lnTo>
                  <a:pt x="92868" y="90329"/>
                </a:lnTo>
                <a:cubicBezTo>
                  <a:pt x="91104" y="90329"/>
                  <a:pt x="89673" y="88898"/>
                  <a:pt x="89673" y="87134"/>
                </a:cubicBezTo>
                <a:lnTo>
                  <a:pt x="89673" y="46881"/>
                </a:lnTo>
                <a:cubicBezTo>
                  <a:pt x="89639" y="42144"/>
                  <a:pt x="86981" y="37816"/>
                  <a:pt x="82773" y="35636"/>
                </a:cubicBezTo>
                <a:lnTo>
                  <a:pt x="18878" y="2283"/>
                </a:lnTo>
                <a:cubicBezTo>
                  <a:pt x="14925" y="0"/>
                  <a:pt x="10052" y="0"/>
                  <a:pt x="6099" y="2283"/>
                </a:cubicBezTo>
                <a:cubicBezTo>
                  <a:pt x="2249" y="4745"/>
                  <a:pt x="0" y="9090"/>
                  <a:pt x="221" y="13656"/>
                </a:cubicBezTo>
                <a:lnTo>
                  <a:pt x="221" y="294791"/>
                </a:lnTo>
                <a:cubicBezTo>
                  <a:pt x="221" y="301845"/>
                  <a:pt x="5946" y="307570"/>
                  <a:pt x="13000" y="307570"/>
                </a:cubicBezTo>
                <a:lnTo>
                  <a:pt x="76894" y="307570"/>
                </a:lnTo>
                <a:cubicBezTo>
                  <a:pt x="83948" y="307570"/>
                  <a:pt x="89673" y="301845"/>
                  <a:pt x="89673" y="294791"/>
                </a:cubicBezTo>
                <a:lnTo>
                  <a:pt x="89673" y="119082"/>
                </a:lnTo>
                <a:cubicBezTo>
                  <a:pt x="89673" y="117318"/>
                  <a:pt x="91104" y="115887"/>
                  <a:pt x="92868" y="115887"/>
                </a:cubicBezTo>
                <a:lnTo>
                  <a:pt x="114336" y="115887"/>
                </a:lnTo>
                <a:cubicBezTo>
                  <a:pt x="115708" y="115904"/>
                  <a:pt x="116926" y="116773"/>
                  <a:pt x="117403" y="118059"/>
                </a:cubicBezTo>
                <a:cubicBezTo>
                  <a:pt x="123307" y="136580"/>
                  <a:pt x="140525" y="149138"/>
                  <a:pt x="159957" y="149112"/>
                </a:cubicBezTo>
                <a:moveTo>
                  <a:pt x="25779" y="148090"/>
                </a:moveTo>
                <a:cubicBezTo>
                  <a:pt x="25770" y="146880"/>
                  <a:pt x="26469" y="145781"/>
                  <a:pt x="27568" y="145278"/>
                </a:cubicBezTo>
                <a:cubicBezTo>
                  <a:pt x="28582" y="144622"/>
                  <a:pt x="29877" y="144622"/>
                  <a:pt x="30890" y="145278"/>
                </a:cubicBezTo>
                <a:lnTo>
                  <a:pt x="52487" y="162274"/>
                </a:lnTo>
                <a:cubicBezTo>
                  <a:pt x="53236" y="162854"/>
                  <a:pt x="53671" y="163757"/>
                  <a:pt x="53637" y="164702"/>
                </a:cubicBezTo>
                <a:cubicBezTo>
                  <a:pt x="53671" y="165682"/>
                  <a:pt x="53245" y="166628"/>
                  <a:pt x="52487" y="167258"/>
                </a:cubicBezTo>
                <a:lnTo>
                  <a:pt x="30890" y="184637"/>
                </a:lnTo>
                <a:cubicBezTo>
                  <a:pt x="29919" y="185361"/>
                  <a:pt x="28624" y="185481"/>
                  <a:pt x="27542" y="184935"/>
                </a:cubicBezTo>
                <a:cubicBezTo>
                  <a:pt x="26460" y="184399"/>
                  <a:pt x="25779" y="183291"/>
                  <a:pt x="25779" y="182082"/>
                </a:cubicBezTo>
                <a:lnTo>
                  <a:pt x="25779" y="148090"/>
                </a:lnTo>
                <a:moveTo>
                  <a:pt x="59004" y="191027"/>
                </a:moveTo>
                <a:cubicBezTo>
                  <a:pt x="60018" y="190371"/>
                  <a:pt x="61313" y="190371"/>
                  <a:pt x="62326" y="191027"/>
                </a:cubicBezTo>
                <a:cubicBezTo>
                  <a:pt x="63425" y="191529"/>
                  <a:pt x="64124" y="192628"/>
                  <a:pt x="64115" y="193838"/>
                </a:cubicBezTo>
                <a:lnTo>
                  <a:pt x="64115" y="233325"/>
                </a:lnTo>
                <a:cubicBezTo>
                  <a:pt x="64081" y="234552"/>
                  <a:pt x="63400" y="235676"/>
                  <a:pt x="62326" y="236264"/>
                </a:cubicBezTo>
                <a:cubicBezTo>
                  <a:pt x="61270" y="236911"/>
                  <a:pt x="59932" y="236911"/>
                  <a:pt x="58876" y="236264"/>
                </a:cubicBezTo>
                <a:lnTo>
                  <a:pt x="34085" y="215562"/>
                </a:lnTo>
                <a:cubicBezTo>
                  <a:pt x="33335" y="214983"/>
                  <a:pt x="32901" y="214080"/>
                  <a:pt x="32935" y="213134"/>
                </a:cubicBezTo>
                <a:cubicBezTo>
                  <a:pt x="32901" y="212154"/>
                  <a:pt x="33327" y="211209"/>
                  <a:pt x="34085" y="210578"/>
                </a:cubicBezTo>
                <a:lnTo>
                  <a:pt x="59004" y="191027"/>
                </a:lnTo>
                <a:moveTo>
                  <a:pt x="34085" y="119593"/>
                </a:moveTo>
                <a:cubicBezTo>
                  <a:pt x="33361" y="118988"/>
                  <a:pt x="32943" y="118102"/>
                  <a:pt x="32935" y="117165"/>
                </a:cubicBezTo>
                <a:cubicBezTo>
                  <a:pt x="32901" y="116185"/>
                  <a:pt x="33327" y="115239"/>
                  <a:pt x="34085" y="114609"/>
                </a:cubicBezTo>
                <a:lnTo>
                  <a:pt x="58876" y="94802"/>
                </a:lnTo>
                <a:cubicBezTo>
                  <a:pt x="59932" y="94154"/>
                  <a:pt x="61270" y="94154"/>
                  <a:pt x="62326" y="94802"/>
                </a:cubicBezTo>
                <a:cubicBezTo>
                  <a:pt x="63383" y="95347"/>
                  <a:pt x="64064" y="96420"/>
                  <a:pt x="64115" y="97613"/>
                </a:cubicBezTo>
                <a:lnTo>
                  <a:pt x="64115" y="137100"/>
                </a:lnTo>
                <a:cubicBezTo>
                  <a:pt x="64124" y="138310"/>
                  <a:pt x="63425" y="139409"/>
                  <a:pt x="62326" y="139911"/>
                </a:cubicBezTo>
                <a:cubicBezTo>
                  <a:pt x="61313" y="140567"/>
                  <a:pt x="60018" y="140567"/>
                  <a:pt x="59004" y="139911"/>
                </a:cubicBezTo>
                <a:lnTo>
                  <a:pt x="34085" y="119593"/>
                </a:lnTo>
                <a:moveTo>
                  <a:pt x="62454" y="53782"/>
                </a:moveTo>
                <a:cubicBezTo>
                  <a:pt x="63485" y="54344"/>
                  <a:pt x="64115" y="55426"/>
                  <a:pt x="64115" y="56593"/>
                </a:cubicBezTo>
                <a:lnTo>
                  <a:pt x="64115" y="60427"/>
                </a:lnTo>
                <a:cubicBezTo>
                  <a:pt x="64149" y="61406"/>
                  <a:pt x="63724" y="62352"/>
                  <a:pt x="62965" y="62982"/>
                </a:cubicBezTo>
                <a:lnTo>
                  <a:pt x="31018" y="88540"/>
                </a:lnTo>
                <a:cubicBezTo>
                  <a:pt x="29962" y="89188"/>
                  <a:pt x="28624" y="89188"/>
                  <a:pt x="27568" y="88540"/>
                </a:cubicBezTo>
                <a:cubicBezTo>
                  <a:pt x="26494" y="87952"/>
                  <a:pt x="25813" y="86828"/>
                  <a:pt x="25779" y="85601"/>
                </a:cubicBezTo>
                <a:lnTo>
                  <a:pt x="25779" y="39980"/>
                </a:lnTo>
                <a:cubicBezTo>
                  <a:pt x="25770" y="38873"/>
                  <a:pt x="26358" y="37851"/>
                  <a:pt x="27312" y="37297"/>
                </a:cubicBezTo>
                <a:cubicBezTo>
                  <a:pt x="28300" y="36726"/>
                  <a:pt x="29519" y="36726"/>
                  <a:pt x="30507" y="37297"/>
                </a:cubicBezTo>
                <a:lnTo>
                  <a:pt x="62454" y="53782"/>
                </a:lnTo>
                <a:moveTo>
                  <a:pt x="28973" y="282012"/>
                </a:moveTo>
                <a:cubicBezTo>
                  <a:pt x="27210" y="282012"/>
                  <a:pt x="25779" y="280581"/>
                  <a:pt x="25779" y="278818"/>
                </a:cubicBezTo>
                <a:lnTo>
                  <a:pt x="25779" y="243676"/>
                </a:lnTo>
                <a:cubicBezTo>
                  <a:pt x="25830" y="242483"/>
                  <a:pt x="26511" y="241410"/>
                  <a:pt x="27568" y="240864"/>
                </a:cubicBezTo>
                <a:cubicBezTo>
                  <a:pt x="28624" y="240217"/>
                  <a:pt x="29962" y="240217"/>
                  <a:pt x="31018" y="240864"/>
                </a:cubicBezTo>
                <a:lnTo>
                  <a:pt x="62965" y="266422"/>
                </a:lnTo>
                <a:cubicBezTo>
                  <a:pt x="63715" y="267001"/>
                  <a:pt x="64149" y="267905"/>
                  <a:pt x="64115" y="268850"/>
                </a:cubicBezTo>
                <a:lnTo>
                  <a:pt x="64115" y="277923"/>
                </a:lnTo>
                <a:cubicBezTo>
                  <a:pt x="64405" y="278911"/>
                  <a:pt x="64201" y="279976"/>
                  <a:pt x="63570" y="280786"/>
                </a:cubicBezTo>
                <a:cubicBezTo>
                  <a:pt x="62931" y="281595"/>
                  <a:pt x="61952" y="282055"/>
                  <a:pt x="60921" y="282012"/>
                </a:cubicBezTo>
                <a:lnTo>
                  <a:pt x="28973" y="282012"/>
                </a:lnTo>
                <a:moveTo>
                  <a:pt x="281356" y="206745"/>
                </a:moveTo>
                <a:cubicBezTo>
                  <a:pt x="269907" y="190541"/>
                  <a:pt x="257537" y="175011"/>
                  <a:pt x="244298" y="160230"/>
                </a:cubicBezTo>
                <a:cubicBezTo>
                  <a:pt x="243667" y="159642"/>
                  <a:pt x="243386" y="158773"/>
                  <a:pt x="243531" y="157929"/>
                </a:cubicBezTo>
                <a:cubicBezTo>
                  <a:pt x="246470" y="121254"/>
                  <a:pt x="249409" y="83301"/>
                  <a:pt x="249409" y="71161"/>
                </a:cubicBezTo>
                <a:cubicBezTo>
                  <a:pt x="249409" y="55315"/>
                  <a:pt x="227813" y="22218"/>
                  <a:pt x="220146" y="11100"/>
                </a:cubicBezTo>
                <a:cubicBezTo>
                  <a:pt x="219524" y="10240"/>
                  <a:pt x="218527" y="9737"/>
                  <a:pt x="217462" y="9737"/>
                </a:cubicBezTo>
                <a:cubicBezTo>
                  <a:pt x="216397" y="9737"/>
                  <a:pt x="215400" y="10240"/>
                  <a:pt x="214778" y="11100"/>
                </a:cubicBezTo>
                <a:cubicBezTo>
                  <a:pt x="207111" y="22218"/>
                  <a:pt x="185515" y="55443"/>
                  <a:pt x="185515" y="71161"/>
                </a:cubicBezTo>
                <a:cubicBezTo>
                  <a:pt x="185515" y="77422"/>
                  <a:pt x="188582" y="118187"/>
                  <a:pt x="191776" y="157674"/>
                </a:cubicBezTo>
                <a:cubicBezTo>
                  <a:pt x="191862" y="158517"/>
                  <a:pt x="191580" y="159352"/>
                  <a:pt x="191010" y="159974"/>
                </a:cubicBezTo>
                <a:cubicBezTo>
                  <a:pt x="177260" y="174738"/>
                  <a:pt x="164455" y="190362"/>
                  <a:pt x="152673" y="206745"/>
                </a:cubicBezTo>
                <a:cubicBezTo>
                  <a:pt x="148703" y="215946"/>
                  <a:pt x="146701" y="225862"/>
                  <a:pt x="146795" y="235881"/>
                </a:cubicBezTo>
                <a:lnTo>
                  <a:pt x="146795" y="250576"/>
                </a:lnTo>
                <a:cubicBezTo>
                  <a:pt x="146871" y="253013"/>
                  <a:pt x="148448" y="255151"/>
                  <a:pt x="150756" y="255943"/>
                </a:cubicBezTo>
                <a:cubicBezTo>
                  <a:pt x="153116" y="256838"/>
                  <a:pt x="155774" y="256344"/>
                  <a:pt x="157657" y="254666"/>
                </a:cubicBezTo>
                <a:lnTo>
                  <a:pt x="191904" y="222718"/>
                </a:lnTo>
                <a:cubicBezTo>
                  <a:pt x="192765" y="221824"/>
                  <a:pt x="194094" y="221568"/>
                  <a:pt x="195227" y="222079"/>
                </a:cubicBezTo>
                <a:cubicBezTo>
                  <a:pt x="196402" y="222531"/>
                  <a:pt x="197203" y="223630"/>
                  <a:pt x="197271" y="224891"/>
                </a:cubicBezTo>
                <a:cubicBezTo>
                  <a:pt x="197680" y="231647"/>
                  <a:pt x="203277" y="236911"/>
                  <a:pt x="210050" y="236903"/>
                </a:cubicBezTo>
                <a:lnTo>
                  <a:pt x="224107" y="236903"/>
                </a:lnTo>
                <a:cubicBezTo>
                  <a:pt x="230880" y="236911"/>
                  <a:pt x="236477" y="231647"/>
                  <a:pt x="236886" y="224891"/>
                </a:cubicBezTo>
                <a:cubicBezTo>
                  <a:pt x="236946" y="223698"/>
                  <a:pt x="237695" y="222650"/>
                  <a:pt x="238803" y="222207"/>
                </a:cubicBezTo>
                <a:cubicBezTo>
                  <a:pt x="239834" y="221636"/>
                  <a:pt x="241094" y="221636"/>
                  <a:pt x="242125" y="222207"/>
                </a:cubicBezTo>
                <a:lnTo>
                  <a:pt x="276500" y="253899"/>
                </a:lnTo>
                <a:cubicBezTo>
                  <a:pt x="278409" y="255535"/>
                  <a:pt x="281067" y="255978"/>
                  <a:pt x="283401" y="255049"/>
                </a:cubicBezTo>
                <a:cubicBezTo>
                  <a:pt x="285727" y="254291"/>
                  <a:pt x="287320" y="252135"/>
                  <a:pt x="287362" y="249682"/>
                </a:cubicBezTo>
                <a:lnTo>
                  <a:pt x="287362" y="229491"/>
                </a:lnTo>
                <a:cubicBezTo>
                  <a:pt x="287345" y="221517"/>
                  <a:pt x="285284" y="213688"/>
                  <a:pt x="281356" y="206745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Rounded Rectangle 58">
            <a:extLst>
              <a:ext uri="{FF2B5EF4-FFF2-40B4-BE49-F238E27FC236}">
                <a16:creationId xmlns:a16="http://schemas.microsoft.com/office/drawing/2014/main" id="{B9CFC1D3-5C54-5B87-9907-D10D87B231D9}"/>
              </a:ext>
            </a:extLst>
          </p:cNvPr>
          <p:cNvSpPr/>
          <p:nvPr/>
        </p:nvSpPr>
        <p:spPr>
          <a:xfrm>
            <a:off x="5279088" y="3838734"/>
            <a:ext cx="257460" cy="306573"/>
          </a:xfrm>
          <a:custGeom>
            <a:avLst/>
            <a:gdLst/>
            <a:ahLst/>
            <a:cxnLst/>
            <a:rect l="0" t="0" r="0" b="0"/>
            <a:pathLst>
              <a:path w="257460" h="306573">
                <a:moveTo>
                  <a:pt x="129117" y="105689"/>
                </a:moveTo>
                <a:cubicBezTo>
                  <a:pt x="105093" y="105536"/>
                  <a:pt x="82389" y="116654"/>
                  <a:pt x="67779" y="135720"/>
                </a:cubicBezTo>
                <a:cubicBezTo>
                  <a:pt x="63476" y="141334"/>
                  <a:pt x="64533" y="149368"/>
                  <a:pt x="70139" y="153678"/>
                </a:cubicBezTo>
                <a:cubicBezTo>
                  <a:pt x="75753" y="157981"/>
                  <a:pt x="83795" y="156924"/>
                  <a:pt x="88097" y="151310"/>
                </a:cubicBezTo>
                <a:cubicBezTo>
                  <a:pt x="97928" y="138667"/>
                  <a:pt x="113041" y="131273"/>
                  <a:pt x="129058" y="131273"/>
                </a:cubicBezTo>
                <a:cubicBezTo>
                  <a:pt x="145065" y="131273"/>
                  <a:pt x="160179" y="138667"/>
                  <a:pt x="170010" y="151310"/>
                </a:cubicBezTo>
                <a:cubicBezTo>
                  <a:pt x="174312" y="156924"/>
                  <a:pt x="182354" y="157981"/>
                  <a:pt x="187968" y="153678"/>
                </a:cubicBezTo>
                <a:cubicBezTo>
                  <a:pt x="193574" y="149368"/>
                  <a:pt x="194630" y="141334"/>
                  <a:pt x="190328" y="135720"/>
                </a:cubicBezTo>
                <a:cubicBezTo>
                  <a:pt x="175743" y="116688"/>
                  <a:pt x="153091" y="105579"/>
                  <a:pt x="129117" y="105689"/>
                </a:cubicBezTo>
                <a:moveTo>
                  <a:pt x="202085" y="113357"/>
                </a:moveTo>
                <a:cubicBezTo>
                  <a:pt x="204266" y="115955"/>
                  <a:pt x="207392" y="117574"/>
                  <a:pt x="210774" y="117855"/>
                </a:cubicBezTo>
                <a:cubicBezTo>
                  <a:pt x="214157" y="118145"/>
                  <a:pt x="217513" y="117080"/>
                  <a:pt x="220103" y="114890"/>
                </a:cubicBezTo>
                <a:cubicBezTo>
                  <a:pt x="225547" y="110460"/>
                  <a:pt x="226399" y="102478"/>
                  <a:pt x="222020" y="97000"/>
                </a:cubicBezTo>
                <a:cubicBezTo>
                  <a:pt x="199342" y="68852"/>
                  <a:pt x="165137" y="52495"/>
                  <a:pt x="128990" y="52495"/>
                </a:cubicBezTo>
                <a:cubicBezTo>
                  <a:pt x="92842" y="52495"/>
                  <a:pt x="58638" y="68852"/>
                  <a:pt x="35959" y="97000"/>
                </a:cubicBezTo>
                <a:cubicBezTo>
                  <a:pt x="31444" y="102503"/>
                  <a:pt x="32245" y="110631"/>
                  <a:pt x="37748" y="115146"/>
                </a:cubicBezTo>
                <a:cubicBezTo>
                  <a:pt x="43252" y="119661"/>
                  <a:pt x="51379" y="118860"/>
                  <a:pt x="55894" y="113357"/>
                </a:cubicBezTo>
                <a:cubicBezTo>
                  <a:pt x="73700" y="91215"/>
                  <a:pt x="100578" y="78343"/>
                  <a:pt x="128990" y="78343"/>
                </a:cubicBezTo>
                <a:cubicBezTo>
                  <a:pt x="157401" y="78343"/>
                  <a:pt x="184279" y="91215"/>
                  <a:pt x="202085" y="113357"/>
                </a:cubicBezTo>
                <a:moveTo>
                  <a:pt x="254350" y="60580"/>
                </a:moveTo>
                <a:cubicBezTo>
                  <a:pt x="224056" y="22311"/>
                  <a:pt x="177924" y="0"/>
                  <a:pt x="129117" y="0"/>
                </a:cubicBezTo>
                <a:cubicBezTo>
                  <a:pt x="80311" y="0"/>
                  <a:pt x="34179" y="22311"/>
                  <a:pt x="3884" y="60580"/>
                </a:cubicBezTo>
                <a:cubicBezTo>
                  <a:pt x="860" y="64124"/>
                  <a:pt x="0" y="69031"/>
                  <a:pt x="1652" y="73393"/>
                </a:cubicBezTo>
                <a:cubicBezTo>
                  <a:pt x="3296" y="77755"/>
                  <a:pt x="7190" y="80873"/>
                  <a:pt x="11799" y="81529"/>
                </a:cubicBezTo>
                <a:cubicBezTo>
                  <a:pt x="16416" y="82185"/>
                  <a:pt x="21017" y="80276"/>
                  <a:pt x="23819" y="76554"/>
                </a:cubicBezTo>
                <a:cubicBezTo>
                  <a:pt x="49266" y="44385"/>
                  <a:pt x="88037" y="25617"/>
                  <a:pt x="129058" y="25617"/>
                </a:cubicBezTo>
                <a:cubicBezTo>
                  <a:pt x="170069" y="25617"/>
                  <a:pt x="208841" y="44385"/>
                  <a:pt x="234288" y="76554"/>
                </a:cubicBezTo>
                <a:cubicBezTo>
                  <a:pt x="236400" y="79220"/>
                  <a:pt x="239484" y="80941"/>
                  <a:pt x="242875" y="81324"/>
                </a:cubicBezTo>
                <a:cubicBezTo>
                  <a:pt x="246257" y="81708"/>
                  <a:pt x="249648" y="80728"/>
                  <a:pt x="252306" y="78598"/>
                </a:cubicBezTo>
                <a:cubicBezTo>
                  <a:pt x="254972" y="76485"/>
                  <a:pt x="256693" y="73401"/>
                  <a:pt x="257077" y="70011"/>
                </a:cubicBezTo>
                <a:cubicBezTo>
                  <a:pt x="257460" y="66629"/>
                  <a:pt x="256480" y="63238"/>
                  <a:pt x="254350" y="60580"/>
                </a:cubicBezTo>
                <a:moveTo>
                  <a:pt x="84647" y="281016"/>
                </a:moveTo>
                <a:lnTo>
                  <a:pt x="52444" y="281016"/>
                </a:lnTo>
                <a:cubicBezTo>
                  <a:pt x="48917" y="281016"/>
                  <a:pt x="46055" y="278153"/>
                  <a:pt x="46055" y="274626"/>
                </a:cubicBezTo>
                <a:lnTo>
                  <a:pt x="46055" y="191563"/>
                </a:lnTo>
                <a:cubicBezTo>
                  <a:pt x="46055" y="184510"/>
                  <a:pt x="40330" y="178785"/>
                  <a:pt x="33276" y="178785"/>
                </a:cubicBezTo>
                <a:cubicBezTo>
                  <a:pt x="26222" y="178785"/>
                  <a:pt x="20497" y="184510"/>
                  <a:pt x="20497" y="191563"/>
                </a:cubicBezTo>
                <a:lnTo>
                  <a:pt x="20497" y="274626"/>
                </a:lnTo>
                <a:cubicBezTo>
                  <a:pt x="20497" y="292270"/>
                  <a:pt x="34801" y="306573"/>
                  <a:pt x="52444" y="306573"/>
                </a:cubicBezTo>
                <a:lnTo>
                  <a:pt x="84391" y="306573"/>
                </a:lnTo>
                <a:cubicBezTo>
                  <a:pt x="91445" y="306573"/>
                  <a:pt x="97170" y="300848"/>
                  <a:pt x="97170" y="293795"/>
                </a:cubicBezTo>
                <a:cubicBezTo>
                  <a:pt x="97170" y="286741"/>
                  <a:pt x="91445" y="281016"/>
                  <a:pt x="84391" y="281016"/>
                </a:cubicBezTo>
                <a:moveTo>
                  <a:pt x="193012" y="204342"/>
                </a:moveTo>
                <a:lnTo>
                  <a:pt x="224959" y="204342"/>
                </a:lnTo>
                <a:cubicBezTo>
                  <a:pt x="232013" y="204342"/>
                  <a:pt x="237738" y="198617"/>
                  <a:pt x="237738" y="191563"/>
                </a:cubicBezTo>
                <a:cubicBezTo>
                  <a:pt x="237738" y="184510"/>
                  <a:pt x="232013" y="178785"/>
                  <a:pt x="224959" y="178785"/>
                </a:cubicBezTo>
                <a:lnTo>
                  <a:pt x="193012" y="178785"/>
                </a:lnTo>
                <a:cubicBezTo>
                  <a:pt x="175368" y="178785"/>
                  <a:pt x="161065" y="193088"/>
                  <a:pt x="161065" y="210732"/>
                </a:cubicBezTo>
                <a:lnTo>
                  <a:pt x="161065" y="274626"/>
                </a:lnTo>
                <a:cubicBezTo>
                  <a:pt x="161065" y="292270"/>
                  <a:pt x="175368" y="306573"/>
                  <a:pt x="193012" y="306573"/>
                </a:cubicBezTo>
                <a:lnTo>
                  <a:pt x="224959" y="306573"/>
                </a:lnTo>
                <a:cubicBezTo>
                  <a:pt x="232013" y="306573"/>
                  <a:pt x="237738" y="300848"/>
                  <a:pt x="237738" y="293795"/>
                </a:cubicBezTo>
                <a:cubicBezTo>
                  <a:pt x="237738" y="286741"/>
                  <a:pt x="232013" y="281016"/>
                  <a:pt x="224959" y="281016"/>
                </a:cubicBezTo>
                <a:lnTo>
                  <a:pt x="193012" y="281016"/>
                </a:lnTo>
                <a:cubicBezTo>
                  <a:pt x="189485" y="281016"/>
                  <a:pt x="186622" y="278153"/>
                  <a:pt x="186622" y="274626"/>
                </a:cubicBezTo>
                <a:lnTo>
                  <a:pt x="186622" y="255458"/>
                </a:lnTo>
                <a:lnTo>
                  <a:pt x="205791" y="255458"/>
                </a:lnTo>
                <a:cubicBezTo>
                  <a:pt x="212845" y="255458"/>
                  <a:pt x="218569" y="249733"/>
                  <a:pt x="218569" y="242679"/>
                </a:cubicBezTo>
                <a:cubicBezTo>
                  <a:pt x="218569" y="235625"/>
                  <a:pt x="212845" y="229900"/>
                  <a:pt x="205791" y="229900"/>
                </a:cubicBezTo>
                <a:lnTo>
                  <a:pt x="186622" y="229900"/>
                </a:lnTo>
                <a:lnTo>
                  <a:pt x="186622" y="210732"/>
                </a:lnTo>
                <a:cubicBezTo>
                  <a:pt x="186622" y="207205"/>
                  <a:pt x="189485" y="204342"/>
                  <a:pt x="193012" y="204342"/>
                </a:cubicBezTo>
                <a:moveTo>
                  <a:pt x="148541" y="178785"/>
                </a:moveTo>
                <a:lnTo>
                  <a:pt x="97426" y="178785"/>
                </a:lnTo>
                <a:cubicBezTo>
                  <a:pt x="90372" y="178785"/>
                  <a:pt x="84647" y="184510"/>
                  <a:pt x="84647" y="191563"/>
                </a:cubicBezTo>
                <a:cubicBezTo>
                  <a:pt x="84647" y="198617"/>
                  <a:pt x="90372" y="204342"/>
                  <a:pt x="97426" y="204342"/>
                </a:cubicBezTo>
                <a:lnTo>
                  <a:pt x="110205" y="204342"/>
                </a:lnTo>
                <a:lnTo>
                  <a:pt x="110205" y="293795"/>
                </a:lnTo>
                <a:cubicBezTo>
                  <a:pt x="110205" y="300848"/>
                  <a:pt x="115930" y="306573"/>
                  <a:pt x="122983" y="306573"/>
                </a:cubicBezTo>
                <a:cubicBezTo>
                  <a:pt x="130037" y="306573"/>
                  <a:pt x="135762" y="300848"/>
                  <a:pt x="135762" y="293795"/>
                </a:cubicBezTo>
                <a:lnTo>
                  <a:pt x="135762" y="204342"/>
                </a:lnTo>
                <a:lnTo>
                  <a:pt x="148541" y="204342"/>
                </a:lnTo>
                <a:cubicBezTo>
                  <a:pt x="155595" y="204342"/>
                  <a:pt x="161320" y="198617"/>
                  <a:pt x="161320" y="191563"/>
                </a:cubicBezTo>
                <a:cubicBezTo>
                  <a:pt x="161320" y="184510"/>
                  <a:pt x="155595" y="178785"/>
                  <a:pt x="148541" y="178785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8" name="Rounded Rectangle 59">
            <a:extLst>
              <a:ext uri="{FF2B5EF4-FFF2-40B4-BE49-F238E27FC236}">
                <a16:creationId xmlns:a16="http://schemas.microsoft.com/office/drawing/2014/main" id="{5DA19B09-BD18-61AC-7980-5E6EF44049B6}"/>
              </a:ext>
            </a:extLst>
          </p:cNvPr>
          <p:cNvSpPr/>
          <p:nvPr/>
        </p:nvSpPr>
        <p:spPr>
          <a:xfrm>
            <a:off x="6323355" y="3845059"/>
            <a:ext cx="306693" cy="274745"/>
          </a:xfrm>
          <a:custGeom>
            <a:avLst/>
            <a:gdLst/>
            <a:ahLst/>
            <a:cxnLst/>
            <a:rect l="0" t="0" r="0" b="0"/>
            <a:pathLst>
              <a:path w="306693" h="274745">
                <a:moveTo>
                  <a:pt x="204462" y="44726"/>
                </a:moveTo>
                <a:lnTo>
                  <a:pt x="201267" y="44726"/>
                </a:lnTo>
                <a:lnTo>
                  <a:pt x="201267" y="41531"/>
                </a:lnTo>
                <a:cubicBezTo>
                  <a:pt x="201267" y="36240"/>
                  <a:pt x="196973" y="31947"/>
                  <a:pt x="191683" y="31947"/>
                </a:cubicBezTo>
                <a:cubicBezTo>
                  <a:pt x="186392" y="31947"/>
                  <a:pt x="182099" y="36240"/>
                  <a:pt x="182099" y="41531"/>
                </a:cubicBezTo>
                <a:lnTo>
                  <a:pt x="182099" y="44726"/>
                </a:lnTo>
                <a:lnTo>
                  <a:pt x="178904" y="44726"/>
                </a:lnTo>
                <a:cubicBezTo>
                  <a:pt x="173613" y="44726"/>
                  <a:pt x="169320" y="49019"/>
                  <a:pt x="169320" y="54310"/>
                </a:cubicBezTo>
                <a:cubicBezTo>
                  <a:pt x="169320" y="59600"/>
                  <a:pt x="173613" y="63894"/>
                  <a:pt x="178904" y="63894"/>
                </a:cubicBezTo>
                <a:lnTo>
                  <a:pt x="182099" y="63894"/>
                </a:lnTo>
                <a:lnTo>
                  <a:pt x="182099" y="67089"/>
                </a:lnTo>
                <a:cubicBezTo>
                  <a:pt x="182099" y="72379"/>
                  <a:pt x="186392" y="76673"/>
                  <a:pt x="191683" y="76673"/>
                </a:cubicBezTo>
                <a:cubicBezTo>
                  <a:pt x="196973" y="76673"/>
                  <a:pt x="201267" y="72379"/>
                  <a:pt x="201267" y="67089"/>
                </a:cubicBezTo>
                <a:lnTo>
                  <a:pt x="201267" y="63894"/>
                </a:lnTo>
                <a:lnTo>
                  <a:pt x="204462" y="63894"/>
                </a:lnTo>
                <a:cubicBezTo>
                  <a:pt x="209752" y="63894"/>
                  <a:pt x="214046" y="59600"/>
                  <a:pt x="214046" y="54310"/>
                </a:cubicBezTo>
                <a:cubicBezTo>
                  <a:pt x="214046" y="49019"/>
                  <a:pt x="209752" y="44726"/>
                  <a:pt x="204462" y="44726"/>
                </a:cubicBezTo>
                <a:moveTo>
                  <a:pt x="223630" y="89452"/>
                </a:moveTo>
                <a:cubicBezTo>
                  <a:pt x="214804" y="89452"/>
                  <a:pt x="207656" y="96599"/>
                  <a:pt x="207656" y="105425"/>
                </a:cubicBezTo>
                <a:cubicBezTo>
                  <a:pt x="207656" y="114251"/>
                  <a:pt x="214804" y="121399"/>
                  <a:pt x="223630" y="121399"/>
                </a:cubicBezTo>
                <a:cubicBezTo>
                  <a:pt x="232456" y="121399"/>
                  <a:pt x="239604" y="114251"/>
                  <a:pt x="239604" y="105425"/>
                </a:cubicBezTo>
                <a:cubicBezTo>
                  <a:pt x="239604" y="96599"/>
                  <a:pt x="232456" y="89452"/>
                  <a:pt x="223630" y="89452"/>
                </a:cubicBezTo>
                <a:moveTo>
                  <a:pt x="284330" y="0"/>
                </a:moveTo>
                <a:lnTo>
                  <a:pt x="22363" y="0"/>
                </a:lnTo>
                <a:cubicBezTo>
                  <a:pt x="10044" y="68"/>
                  <a:pt x="68" y="10044"/>
                  <a:pt x="0" y="22363"/>
                </a:cubicBezTo>
                <a:lnTo>
                  <a:pt x="0" y="201267"/>
                </a:lnTo>
                <a:cubicBezTo>
                  <a:pt x="68" y="213586"/>
                  <a:pt x="10044" y="223562"/>
                  <a:pt x="22363" y="223630"/>
                </a:cubicBezTo>
                <a:lnTo>
                  <a:pt x="121016" y="223630"/>
                </a:lnTo>
                <a:lnTo>
                  <a:pt x="110665" y="255577"/>
                </a:lnTo>
                <a:lnTo>
                  <a:pt x="92646" y="255577"/>
                </a:lnTo>
                <a:cubicBezTo>
                  <a:pt x="87356" y="255577"/>
                  <a:pt x="83062" y="259871"/>
                  <a:pt x="83062" y="265161"/>
                </a:cubicBezTo>
                <a:cubicBezTo>
                  <a:pt x="83062" y="270452"/>
                  <a:pt x="87356" y="274745"/>
                  <a:pt x="92646" y="274745"/>
                </a:cubicBezTo>
                <a:lnTo>
                  <a:pt x="214046" y="274745"/>
                </a:lnTo>
                <a:cubicBezTo>
                  <a:pt x="219336" y="274745"/>
                  <a:pt x="223630" y="270452"/>
                  <a:pt x="223630" y="265161"/>
                </a:cubicBezTo>
                <a:cubicBezTo>
                  <a:pt x="223630" y="259871"/>
                  <a:pt x="219336" y="255577"/>
                  <a:pt x="214046" y="255577"/>
                </a:cubicBezTo>
                <a:lnTo>
                  <a:pt x="195133" y="255577"/>
                </a:lnTo>
                <a:lnTo>
                  <a:pt x="184782" y="223630"/>
                </a:lnTo>
                <a:lnTo>
                  <a:pt x="284330" y="223630"/>
                </a:lnTo>
                <a:cubicBezTo>
                  <a:pt x="296648" y="223562"/>
                  <a:pt x="306625" y="213586"/>
                  <a:pt x="306693" y="201267"/>
                </a:cubicBezTo>
                <a:lnTo>
                  <a:pt x="306693" y="22363"/>
                </a:lnTo>
                <a:cubicBezTo>
                  <a:pt x="306625" y="10044"/>
                  <a:pt x="296648" y="68"/>
                  <a:pt x="284330" y="0"/>
                </a:cubicBezTo>
                <a:moveTo>
                  <a:pt x="287524" y="201267"/>
                </a:moveTo>
                <a:cubicBezTo>
                  <a:pt x="287524" y="203030"/>
                  <a:pt x="286093" y="204462"/>
                  <a:pt x="284330" y="204462"/>
                </a:cubicBezTo>
                <a:lnTo>
                  <a:pt x="22363" y="204462"/>
                </a:lnTo>
                <a:cubicBezTo>
                  <a:pt x="20599" y="204462"/>
                  <a:pt x="19168" y="203030"/>
                  <a:pt x="19168" y="201267"/>
                </a:cubicBezTo>
                <a:lnTo>
                  <a:pt x="19168" y="22363"/>
                </a:lnTo>
                <a:cubicBezTo>
                  <a:pt x="19168" y="20599"/>
                  <a:pt x="20599" y="19168"/>
                  <a:pt x="22363" y="19168"/>
                </a:cubicBezTo>
                <a:lnTo>
                  <a:pt x="284330" y="19168"/>
                </a:lnTo>
                <a:cubicBezTo>
                  <a:pt x="286093" y="19168"/>
                  <a:pt x="287524" y="20599"/>
                  <a:pt x="287524" y="22363"/>
                </a:cubicBezTo>
                <a:lnTo>
                  <a:pt x="287524" y="201267"/>
                </a:lnTo>
                <a:moveTo>
                  <a:pt x="195005" y="117437"/>
                </a:moveTo>
                <a:cubicBezTo>
                  <a:pt x="193668" y="117071"/>
                  <a:pt x="192254" y="117650"/>
                  <a:pt x="191555" y="118843"/>
                </a:cubicBezTo>
                <a:cubicBezTo>
                  <a:pt x="182968" y="133752"/>
                  <a:pt x="165972" y="141692"/>
                  <a:pt x="149035" y="138710"/>
                </a:cubicBezTo>
                <a:cubicBezTo>
                  <a:pt x="132091" y="135728"/>
                  <a:pt x="118826" y="122464"/>
                  <a:pt x="115844" y="105519"/>
                </a:cubicBezTo>
                <a:cubicBezTo>
                  <a:pt x="112863" y="88583"/>
                  <a:pt x="120803" y="71587"/>
                  <a:pt x="135711" y="62999"/>
                </a:cubicBezTo>
                <a:cubicBezTo>
                  <a:pt x="136870" y="62267"/>
                  <a:pt x="137441" y="60878"/>
                  <a:pt x="137117" y="59549"/>
                </a:cubicBezTo>
                <a:cubicBezTo>
                  <a:pt x="136725" y="58254"/>
                  <a:pt x="135532" y="57377"/>
                  <a:pt x="134178" y="57377"/>
                </a:cubicBezTo>
                <a:cubicBezTo>
                  <a:pt x="99385" y="57377"/>
                  <a:pt x="71178" y="85584"/>
                  <a:pt x="71178" y="120377"/>
                </a:cubicBezTo>
                <a:cubicBezTo>
                  <a:pt x="71178" y="155169"/>
                  <a:pt x="99385" y="183376"/>
                  <a:pt x="134178" y="183376"/>
                </a:cubicBezTo>
                <a:cubicBezTo>
                  <a:pt x="168970" y="183376"/>
                  <a:pt x="197178" y="155169"/>
                  <a:pt x="197178" y="120377"/>
                </a:cubicBezTo>
                <a:cubicBezTo>
                  <a:pt x="197178" y="119022"/>
                  <a:pt x="196300" y="117829"/>
                  <a:pt x="195005" y="117437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Rounded Rectangle 60">
            <a:extLst>
              <a:ext uri="{FF2B5EF4-FFF2-40B4-BE49-F238E27FC236}">
                <a16:creationId xmlns:a16="http://schemas.microsoft.com/office/drawing/2014/main" id="{D368C799-CE9C-6996-05E7-9B30AABDBAD2}"/>
              </a:ext>
            </a:extLst>
          </p:cNvPr>
          <p:cNvSpPr/>
          <p:nvPr/>
        </p:nvSpPr>
        <p:spPr>
          <a:xfrm>
            <a:off x="7400902" y="3828012"/>
            <a:ext cx="255577" cy="308840"/>
          </a:xfrm>
          <a:custGeom>
            <a:avLst/>
            <a:gdLst/>
            <a:ahLst/>
            <a:cxnLst/>
            <a:rect l="0" t="0" r="0" b="0"/>
            <a:pathLst>
              <a:path w="255577" h="308840">
                <a:moveTo>
                  <a:pt x="51115" y="263040"/>
                </a:moveTo>
                <a:cubicBezTo>
                  <a:pt x="36999" y="263040"/>
                  <a:pt x="25557" y="251599"/>
                  <a:pt x="25557" y="237482"/>
                </a:cubicBezTo>
                <a:lnTo>
                  <a:pt x="25557" y="71357"/>
                </a:lnTo>
                <a:cubicBezTo>
                  <a:pt x="25557" y="57240"/>
                  <a:pt x="36999" y="45799"/>
                  <a:pt x="51115" y="45799"/>
                </a:cubicBezTo>
                <a:lnTo>
                  <a:pt x="118204" y="45799"/>
                </a:lnTo>
                <a:cubicBezTo>
                  <a:pt x="121731" y="45799"/>
                  <a:pt x="124594" y="48661"/>
                  <a:pt x="124594" y="52188"/>
                </a:cubicBezTo>
                <a:lnTo>
                  <a:pt x="124594" y="58578"/>
                </a:lnTo>
                <a:cubicBezTo>
                  <a:pt x="124611" y="61159"/>
                  <a:pt x="126170" y="63476"/>
                  <a:pt x="128555" y="64456"/>
                </a:cubicBezTo>
                <a:cubicBezTo>
                  <a:pt x="129356" y="64635"/>
                  <a:pt x="130182" y="64635"/>
                  <a:pt x="130983" y="64456"/>
                </a:cubicBezTo>
                <a:cubicBezTo>
                  <a:pt x="132678" y="64473"/>
                  <a:pt x="134306" y="63783"/>
                  <a:pt x="135456" y="62539"/>
                </a:cubicBezTo>
                <a:lnTo>
                  <a:pt x="161013" y="36982"/>
                </a:lnTo>
                <a:cubicBezTo>
                  <a:pt x="162249" y="35823"/>
                  <a:pt x="162947" y="34204"/>
                  <a:pt x="162947" y="32509"/>
                </a:cubicBezTo>
                <a:cubicBezTo>
                  <a:pt x="162947" y="30814"/>
                  <a:pt x="162249" y="29195"/>
                  <a:pt x="161013" y="28036"/>
                </a:cubicBezTo>
                <a:lnTo>
                  <a:pt x="135456" y="2479"/>
                </a:lnTo>
                <a:cubicBezTo>
                  <a:pt x="133701" y="570"/>
                  <a:pt x="130915" y="0"/>
                  <a:pt x="128555" y="1073"/>
                </a:cubicBezTo>
                <a:cubicBezTo>
                  <a:pt x="126170" y="2053"/>
                  <a:pt x="124611" y="4370"/>
                  <a:pt x="124594" y="6951"/>
                </a:cubicBezTo>
                <a:lnTo>
                  <a:pt x="124594" y="13852"/>
                </a:lnTo>
                <a:cubicBezTo>
                  <a:pt x="124594" y="17379"/>
                  <a:pt x="121731" y="20241"/>
                  <a:pt x="118204" y="20241"/>
                </a:cubicBezTo>
                <a:lnTo>
                  <a:pt x="51115" y="20241"/>
                </a:lnTo>
                <a:cubicBezTo>
                  <a:pt x="22882" y="20241"/>
                  <a:pt x="0" y="43124"/>
                  <a:pt x="0" y="71357"/>
                </a:cubicBezTo>
                <a:lnTo>
                  <a:pt x="0" y="237482"/>
                </a:lnTo>
                <a:cubicBezTo>
                  <a:pt x="0" y="265715"/>
                  <a:pt x="22882" y="288598"/>
                  <a:pt x="51115" y="288598"/>
                </a:cubicBezTo>
                <a:cubicBezTo>
                  <a:pt x="58169" y="288598"/>
                  <a:pt x="63894" y="282873"/>
                  <a:pt x="63894" y="275819"/>
                </a:cubicBezTo>
                <a:cubicBezTo>
                  <a:pt x="63894" y="268765"/>
                  <a:pt x="58169" y="263040"/>
                  <a:pt x="51115" y="263040"/>
                </a:cubicBezTo>
                <a:moveTo>
                  <a:pt x="204462" y="20241"/>
                </a:moveTo>
                <a:cubicBezTo>
                  <a:pt x="197408" y="20241"/>
                  <a:pt x="191683" y="25966"/>
                  <a:pt x="191683" y="33020"/>
                </a:cubicBezTo>
                <a:cubicBezTo>
                  <a:pt x="191683" y="40074"/>
                  <a:pt x="197408" y="45799"/>
                  <a:pt x="204462" y="45799"/>
                </a:cubicBezTo>
                <a:cubicBezTo>
                  <a:pt x="218578" y="45799"/>
                  <a:pt x="230019" y="57240"/>
                  <a:pt x="230019" y="71357"/>
                </a:cubicBezTo>
                <a:lnTo>
                  <a:pt x="230019" y="237482"/>
                </a:lnTo>
                <a:cubicBezTo>
                  <a:pt x="230019" y="251599"/>
                  <a:pt x="218578" y="263040"/>
                  <a:pt x="204462" y="263040"/>
                </a:cubicBezTo>
                <a:lnTo>
                  <a:pt x="137372" y="263040"/>
                </a:lnTo>
                <a:cubicBezTo>
                  <a:pt x="133846" y="263040"/>
                  <a:pt x="130983" y="260178"/>
                  <a:pt x="130983" y="256651"/>
                </a:cubicBezTo>
                <a:lnTo>
                  <a:pt x="130983" y="250261"/>
                </a:lnTo>
                <a:cubicBezTo>
                  <a:pt x="130966" y="247680"/>
                  <a:pt x="129407" y="245363"/>
                  <a:pt x="127022" y="244383"/>
                </a:cubicBezTo>
                <a:cubicBezTo>
                  <a:pt x="126221" y="244204"/>
                  <a:pt x="125394" y="244204"/>
                  <a:pt x="124594" y="244383"/>
                </a:cubicBezTo>
                <a:cubicBezTo>
                  <a:pt x="122898" y="244366"/>
                  <a:pt x="121271" y="245056"/>
                  <a:pt x="120121" y="246300"/>
                </a:cubicBezTo>
                <a:lnTo>
                  <a:pt x="94563" y="271857"/>
                </a:lnTo>
                <a:cubicBezTo>
                  <a:pt x="93328" y="273016"/>
                  <a:pt x="92629" y="274635"/>
                  <a:pt x="92629" y="276330"/>
                </a:cubicBezTo>
                <a:cubicBezTo>
                  <a:pt x="92629" y="278025"/>
                  <a:pt x="93328" y="279644"/>
                  <a:pt x="94563" y="280803"/>
                </a:cubicBezTo>
                <a:lnTo>
                  <a:pt x="120121" y="306360"/>
                </a:lnTo>
                <a:cubicBezTo>
                  <a:pt x="121876" y="308269"/>
                  <a:pt x="124662" y="308840"/>
                  <a:pt x="127022" y="307766"/>
                </a:cubicBezTo>
                <a:cubicBezTo>
                  <a:pt x="129407" y="306786"/>
                  <a:pt x="130966" y="304469"/>
                  <a:pt x="130983" y="301888"/>
                </a:cubicBezTo>
                <a:lnTo>
                  <a:pt x="130983" y="294987"/>
                </a:lnTo>
                <a:cubicBezTo>
                  <a:pt x="130983" y="291460"/>
                  <a:pt x="133846" y="288598"/>
                  <a:pt x="137372" y="288598"/>
                </a:cubicBezTo>
                <a:lnTo>
                  <a:pt x="204462" y="288598"/>
                </a:lnTo>
                <a:cubicBezTo>
                  <a:pt x="232694" y="288598"/>
                  <a:pt x="255577" y="265715"/>
                  <a:pt x="255577" y="237482"/>
                </a:cubicBezTo>
                <a:lnTo>
                  <a:pt x="255577" y="71357"/>
                </a:lnTo>
                <a:cubicBezTo>
                  <a:pt x="255577" y="43124"/>
                  <a:pt x="232694" y="20241"/>
                  <a:pt x="204462" y="20241"/>
                </a:cubicBezTo>
                <a:moveTo>
                  <a:pt x="178904" y="218314"/>
                </a:moveTo>
                <a:lnTo>
                  <a:pt x="178904" y="116083"/>
                </a:lnTo>
                <a:cubicBezTo>
                  <a:pt x="178904" y="109029"/>
                  <a:pt x="173179" y="103304"/>
                  <a:pt x="166125" y="103304"/>
                </a:cubicBezTo>
                <a:lnTo>
                  <a:pt x="159736" y="103304"/>
                </a:lnTo>
                <a:cubicBezTo>
                  <a:pt x="156209" y="103304"/>
                  <a:pt x="153346" y="100442"/>
                  <a:pt x="153346" y="96915"/>
                </a:cubicBezTo>
                <a:lnTo>
                  <a:pt x="153346" y="90525"/>
                </a:lnTo>
                <a:cubicBezTo>
                  <a:pt x="153346" y="83471"/>
                  <a:pt x="147621" y="77746"/>
                  <a:pt x="140567" y="77746"/>
                </a:cubicBezTo>
                <a:lnTo>
                  <a:pt x="115009" y="77746"/>
                </a:lnTo>
                <a:cubicBezTo>
                  <a:pt x="107955" y="77746"/>
                  <a:pt x="102231" y="83471"/>
                  <a:pt x="102231" y="90525"/>
                </a:cubicBezTo>
                <a:lnTo>
                  <a:pt x="102231" y="96915"/>
                </a:lnTo>
                <a:cubicBezTo>
                  <a:pt x="102231" y="100442"/>
                  <a:pt x="99368" y="103304"/>
                  <a:pt x="95841" y="103304"/>
                </a:cubicBezTo>
                <a:lnTo>
                  <a:pt x="89452" y="103304"/>
                </a:lnTo>
                <a:cubicBezTo>
                  <a:pt x="82398" y="103304"/>
                  <a:pt x="76673" y="109029"/>
                  <a:pt x="76673" y="116083"/>
                </a:cubicBezTo>
                <a:lnTo>
                  <a:pt x="76673" y="218314"/>
                </a:lnTo>
                <a:cubicBezTo>
                  <a:pt x="76673" y="225368"/>
                  <a:pt x="82398" y="231093"/>
                  <a:pt x="89452" y="231093"/>
                </a:cubicBezTo>
                <a:lnTo>
                  <a:pt x="166125" y="231093"/>
                </a:lnTo>
                <a:cubicBezTo>
                  <a:pt x="173179" y="231093"/>
                  <a:pt x="178904" y="225368"/>
                  <a:pt x="178904" y="218314"/>
                </a:cubicBezTo>
                <a:moveTo>
                  <a:pt x="145040" y="133334"/>
                </a:moveTo>
                <a:lnTo>
                  <a:pt x="129322" y="149180"/>
                </a:lnTo>
                <a:cubicBezTo>
                  <a:pt x="128632" y="150185"/>
                  <a:pt x="128632" y="151497"/>
                  <a:pt x="129322" y="152503"/>
                </a:cubicBezTo>
                <a:cubicBezTo>
                  <a:pt x="129782" y="153653"/>
                  <a:pt x="130898" y="154402"/>
                  <a:pt x="132133" y="154420"/>
                </a:cubicBezTo>
                <a:cubicBezTo>
                  <a:pt x="137211" y="154641"/>
                  <a:pt x="141675" y="157844"/>
                  <a:pt x="143498" y="162581"/>
                </a:cubicBezTo>
                <a:cubicBezTo>
                  <a:pt x="145329" y="167326"/>
                  <a:pt x="144179" y="172702"/>
                  <a:pt x="140567" y="176271"/>
                </a:cubicBezTo>
                <a:lnTo>
                  <a:pt x="119482" y="197229"/>
                </a:lnTo>
                <a:cubicBezTo>
                  <a:pt x="118323" y="198464"/>
                  <a:pt x="116705" y="199163"/>
                  <a:pt x="115009" y="199163"/>
                </a:cubicBezTo>
                <a:cubicBezTo>
                  <a:pt x="113314" y="199163"/>
                  <a:pt x="111695" y="198464"/>
                  <a:pt x="110537" y="197229"/>
                </a:cubicBezTo>
                <a:cubicBezTo>
                  <a:pt x="109302" y="196070"/>
                  <a:pt x="108603" y="194451"/>
                  <a:pt x="108603" y="192756"/>
                </a:cubicBezTo>
                <a:cubicBezTo>
                  <a:pt x="108603" y="191061"/>
                  <a:pt x="109302" y="189442"/>
                  <a:pt x="110537" y="188284"/>
                </a:cubicBezTo>
                <a:lnTo>
                  <a:pt x="126255" y="172438"/>
                </a:lnTo>
                <a:cubicBezTo>
                  <a:pt x="126945" y="171432"/>
                  <a:pt x="126945" y="170120"/>
                  <a:pt x="126255" y="169115"/>
                </a:cubicBezTo>
                <a:cubicBezTo>
                  <a:pt x="125795" y="167965"/>
                  <a:pt x="124679" y="167215"/>
                  <a:pt x="123444" y="167198"/>
                </a:cubicBezTo>
                <a:cubicBezTo>
                  <a:pt x="118366" y="166977"/>
                  <a:pt x="113902" y="163774"/>
                  <a:pt x="112079" y="159037"/>
                </a:cubicBezTo>
                <a:cubicBezTo>
                  <a:pt x="110247" y="154292"/>
                  <a:pt x="111397" y="148916"/>
                  <a:pt x="115009" y="145347"/>
                </a:cubicBezTo>
                <a:lnTo>
                  <a:pt x="136095" y="124389"/>
                </a:lnTo>
                <a:cubicBezTo>
                  <a:pt x="138565" y="121919"/>
                  <a:pt x="142569" y="121919"/>
                  <a:pt x="145040" y="124389"/>
                </a:cubicBezTo>
                <a:cubicBezTo>
                  <a:pt x="147510" y="126860"/>
                  <a:pt x="147510" y="130864"/>
                  <a:pt x="145040" y="133334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0" name="Rounded Rectangle 61">
            <a:extLst>
              <a:ext uri="{FF2B5EF4-FFF2-40B4-BE49-F238E27FC236}">
                <a16:creationId xmlns:a16="http://schemas.microsoft.com/office/drawing/2014/main" id="{03BE3474-0621-D6B8-4BF7-D0847C8508E8}"/>
              </a:ext>
            </a:extLst>
          </p:cNvPr>
          <p:cNvSpPr/>
          <p:nvPr/>
        </p:nvSpPr>
        <p:spPr>
          <a:xfrm>
            <a:off x="8446008" y="3829085"/>
            <a:ext cx="307042" cy="306693"/>
          </a:xfrm>
          <a:custGeom>
            <a:avLst/>
            <a:gdLst/>
            <a:ahLst/>
            <a:cxnLst/>
            <a:rect l="0" t="0" r="0" b="0"/>
            <a:pathLst>
              <a:path w="307042" h="306693">
                <a:moveTo>
                  <a:pt x="249537" y="204462"/>
                </a:moveTo>
                <a:lnTo>
                  <a:pt x="57854" y="204462"/>
                </a:lnTo>
                <a:cubicBezTo>
                  <a:pt x="29621" y="204462"/>
                  <a:pt x="6738" y="227344"/>
                  <a:pt x="6738" y="255577"/>
                </a:cubicBezTo>
                <a:cubicBezTo>
                  <a:pt x="6738" y="283810"/>
                  <a:pt x="29621" y="306693"/>
                  <a:pt x="57854" y="306693"/>
                </a:cubicBezTo>
                <a:lnTo>
                  <a:pt x="249537" y="306693"/>
                </a:lnTo>
                <a:cubicBezTo>
                  <a:pt x="277770" y="306693"/>
                  <a:pt x="300653" y="283810"/>
                  <a:pt x="300653" y="255577"/>
                </a:cubicBezTo>
                <a:cubicBezTo>
                  <a:pt x="300653" y="227344"/>
                  <a:pt x="277770" y="204462"/>
                  <a:pt x="249537" y="204462"/>
                </a:cubicBezTo>
                <a:moveTo>
                  <a:pt x="70633" y="281135"/>
                </a:moveTo>
                <a:cubicBezTo>
                  <a:pt x="56516" y="281135"/>
                  <a:pt x="45075" y="269694"/>
                  <a:pt x="45075" y="255577"/>
                </a:cubicBezTo>
                <a:cubicBezTo>
                  <a:pt x="45075" y="241461"/>
                  <a:pt x="56516" y="230019"/>
                  <a:pt x="70633" y="230019"/>
                </a:cubicBezTo>
                <a:cubicBezTo>
                  <a:pt x="84749" y="230019"/>
                  <a:pt x="96190" y="241461"/>
                  <a:pt x="96190" y="255577"/>
                </a:cubicBezTo>
                <a:cubicBezTo>
                  <a:pt x="96190" y="269694"/>
                  <a:pt x="84749" y="281135"/>
                  <a:pt x="70633" y="281135"/>
                </a:cubicBezTo>
                <a:moveTo>
                  <a:pt x="153695" y="281135"/>
                </a:moveTo>
                <a:cubicBezTo>
                  <a:pt x="139579" y="281135"/>
                  <a:pt x="128138" y="269694"/>
                  <a:pt x="128138" y="255577"/>
                </a:cubicBezTo>
                <a:cubicBezTo>
                  <a:pt x="128138" y="241461"/>
                  <a:pt x="139579" y="230019"/>
                  <a:pt x="153695" y="230019"/>
                </a:cubicBezTo>
                <a:cubicBezTo>
                  <a:pt x="167812" y="230019"/>
                  <a:pt x="179253" y="241461"/>
                  <a:pt x="179253" y="255577"/>
                </a:cubicBezTo>
                <a:cubicBezTo>
                  <a:pt x="179253" y="269694"/>
                  <a:pt x="167812" y="281135"/>
                  <a:pt x="153695" y="281135"/>
                </a:cubicBezTo>
                <a:moveTo>
                  <a:pt x="236758" y="281135"/>
                </a:moveTo>
                <a:cubicBezTo>
                  <a:pt x="222642" y="281135"/>
                  <a:pt x="211200" y="269694"/>
                  <a:pt x="211200" y="255577"/>
                </a:cubicBezTo>
                <a:cubicBezTo>
                  <a:pt x="211200" y="241461"/>
                  <a:pt x="222642" y="230019"/>
                  <a:pt x="236758" y="230019"/>
                </a:cubicBezTo>
                <a:cubicBezTo>
                  <a:pt x="250875" y="230019"/>
                  <a:pt x="262316" y="241461"/>
                  <a:pt x="262316" y="255577"/>
                </a:cubicBezTo>
                <a:cubicBezTo>
                  <a:pt x="262316" y="269694"/>
                  <a:pt x="250875" y="281135"/>
                  <a:pt x="236758" y="281135"/>
                </a:cubicBezTo>
                <a:moveTo>
                  <a:pt x="25907" y="159736"/>
                </a:moveTo>
                <a:cubicBezTo>
                  <a:pt x="18853" y="159736"/>
                  <a:pt x="13128" y="165460"/>
                  <a:pt x="13128" y="172514"/>
                </a:cubicBezTo>
                <a:cubicBezTo>
                  <a:pt x="13128" y="179568"/>
                  <a:pt x="18853" y="185293"/>
                  <a:pt x="25907" y="185293"/>
                </a:cubicBezTo>
                <a:lnTo>
                  <a:pt x="239953" y="185293"/>
                </a:lnTo>
                <a:cubicBezTo>
                  <a:pt x="247007" y="185293"/>
                  <a:pt x="252732" y="179568"/>
                  <a:pt x="252732" y="172514"/>
                </a:cubicBezTo>
                <a:cubicBezTo>
                  <a:pt x="252732" y="165460"/>
                  <a:pt x="247007" y="159736"/>
                  <a:pt x="239953" y="159736"/>
                </a:cubicBezTo>
                <a:lnTo>
                  <a:pt x="217590" y="159736"/>
                </a:lnTo>
                <a:lnTo>
                  <a:pt x="217590" y="134178"/>
                </a:lnTo>
                <a:cubicBezTo>
                  <a:pt x="217453" y="121884"/>
                  <a:pt x="207520" y="111951"/>
                  <a:pt x="195227" y="111815"/>
                </a:cubicBezTo>
                <a:lnTo>
                  <a:pt x="189476" y="111815"/>
                </a:lnTo>
                <a:lnTo>
                  <a:pt x="174781" y="42809"/>
                </a:lnTo>
                <a:cubicBezTo>
                  <a:pt x="170947" y="21340"/>
                  <a:pt x="156635" y="5878"/>
                  <a:pt x="140916" y="5878"/>
                </a:cubicBezTo>
                <a:cubicBezTo>
                  <a:pt x="125198" y="5878"/>
                  <a:pt x="110886" y="21340"/>
                  <a:pt x="107052" y="42553"/>
                </a:cubicBezTo>
                <a:lnTo>
                  <a:pt x="92357" y="111815"/>
                </a:lnTo>
                <a:lnTo>
                  <a:pt x="86606" y="111815"/>
                </a:lnTo>
                <a:cubicBezTo>
                  <a:pt x="74287" y="111883"/>
                  <a:pt x="64311" y="121859"/>
                  <a:pt x="64243" y="134178"/>
                </a:cubicBezTo>
                <a:lnTo>
                  <a:pt x="64243" y="159736"/>
                </a:lnTo>
                <a:lnTo>
                  <a:pt x="54915" y="159736"/>
                </a:lnTo>
                <a:lnTo>
                  <a:pt x="25907" y="90857"/>
                </a:lnTo>
                <a:cubicBezTo>
                  <a:pt x="23155" y="84579"/>
                  <a:pt x="15939" y="81588"/>
                  <a:pt x="9550" y="84085"/>
                </a:cubicBezTo>
                <a:cubicBezTo>
                  <a:pt x="3083" y="86794"/>
                  <a:pt x="0" y="94205"/>
                  <a:pt x="2649" y="100697"/>
                </a:cubicBezTo>
                <a:lnTo>
                  <a:pt x="27184" y="159736"/>
                </a:lnTo>
                <a:lnTo>
                  <a:pt x="25907" y="159736"/>
                </a:lnTo>
                <a:moveTo>
                  <a:pt x="297458" y="0"/>
                </a:moveTo>
                <a:cubicBezTo>
                  <a:pt x="292167" y="0"/>
                  <a:pt x="287874" y="4293"/>
                  <a:pt x="287874" y="9584"/>
                </a:cubicBezTo>
                <a:lnTo>
                  <a:pt x="287874" y="19168"/>
                </a:lnTo>
                <a:lnTo>
                  <a:pt x="187048" y="19168"/>
                </a:lnTo>
                <a:cubicBezTo>
                  <a:pt x="189987" y="25251"/>
                  <a:pt x="192092" y="31691"/>
                  <a:pt x="193310" y="38336"/>
                </a:cubicBezTo>
                <a:cubicBezTo>
                  <a:pt x="193370" y="38592"/>
                  <a:pt x="193370" y="38847"/>
                  <a:pt x="193310" y="39103"/>
                </a:cubicBezTo>
                <a:lnTo>
                  <a:pt x="197271" y="57504"/>
                </a:lnTo>
                <a:lnTo>
                  <a:pt x="201616" y="76673"/>
                </a:lnTo>
                <a:lnTo>
                  <a:pt x="218484" y="76673"/>
                </a:lnTo>
                <a:cubicBezTo>
                  <a:pt x="229355" y="76656"/>
                  <a:pt x="239263" y="70462"/>
                  <a:pt x="244042" y="60699"/>
                </a:cubicBezTo>
                <a:lnTo>
                  <a:pt x="255926" y="38336"/>
                </a:lnTo>
                <a:lnTo>
                  <a:pt x="297969" y="38336"/>
                </a:lnTo>
                <a:cubicBezTo>
                  <a:pt x="303029" y="38004"/>
                  <a:pt x="306982" y="33829"/>
                  <a:pt x="307042" y="28752"/>
                </a:cubicBezTo>
                <a:lnTo>
                  <a:pt x="307042" y="9584"/>
                </a:lnTo>
                <a:cubicBezTo>
                  <a:pt x="306974" y="4319"/>
                  <a:pt x="302723" y="68"/>
                  <a:pt x="297458" y="0"/>
                </a:cubicBezTo>
                <a:moveTo>
                  <a:pt x="67438" y="83062"/>
                </a:moveTo>
                <a:lnTo>
                  <a:pt x="78811" y="83062"/>
                </a:lnTo>
                <a:lnTo>
                  <a:pt x="82900" y="63894"/>
                </a:lnTo>
                <a:lnTo>
                  <a:pt x="88267" y="38336"/>
                </a:lnTo>
                <a:cubicBezTo>
                  <a:pt x="89588" y="30993"/>
                  <a:pt x="91999" y="23879"/>
                  <a:pt x="95424" y="17251"/>
                </a:cubicBezTo>
                <a:cubicBezTo>
                  <a:pt x="93021" y="7232"/>
                  <a:pt x="84127" y="127"/>
                  <a:pt x="73827" y="0"/>
                </a:cubicBezTo>
                <a:lnTo>
                  <a:pt x="67438" y="0"/>
                </a:lnTo>
                <a:cubicBezTo>
                  <a:pt x="48031" y="0"/>
                  <a:pt x="32296" y="15735"/>
                  <a:pt x="32296" y="35141"/>
                </a:cubicBezTo>
                <a:lnTo>
                  <a:pt x="32296" y="47920"/>
                </a:lnTo>
                <a:cubicBezTo>
                  <a:pt x="32296" y="67327"/>
                  <a:pt x="48031" y="83062"/>
                  <a:pt x="67438" y="83062"/>
                </a:cubicBezTo>
              </a:path>
            </a:pathLst>
          </a:custGeom>
          <a:solidFill>
            <a:srgbClr val="22403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247164B6-92EB-9013-E502-7CBCA24E8C06}"/>
              </a:ext>
            </a:extLst>
          </p:cNvPr>
          <p:cNvGrpSpPr/>
          <p:nvPr/>
        </p:nvGrpSpPr>
        <p:grpSpPr>
          <a:xfrm>
            <a:off x="7637075" y="2270281"/>
            <a:ext cx="819455" cy="536499"/>
            <a:chOff x="5470324" y="1252229"/>
            <a:chExt cx="819455" cy="536499"/>
          </a:xfrm>
        </p:grpSpPr>
        <p:sp>
          <p:nvSpPr>
            <p:cNvPr id="472" name="TextBox 471">
              <a:extLst>
                <a:ext uri="{FF2B5EF4-FFF2-40B4-BE49-F238E27FC236}">
                  <a16:creationId xmlns:a16="http://schemas.microsoft.com/office/drawing/2014/main" id="{4677FD62-3FBE-70AC-5942-77B93FD37ACB}"/>
                </a:ext>
              </a:extLst>
            </p:cNvPr>
            <p:cNvSpPr txBox="1"/>
            <p:nvPr/>
          </p:nvSpPr>
          <p:spPr>
            <a:xfrm>
              <a:off x="5470324" y="1252229"/>
              <a:ext cx="815915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Sensors monitor</a:t>
              </a:r>
            </a:p>
          </p:txBody>
        </p:sp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id="{03D94C39-4724-45D1-FD1D-633033962A0C}"/>
                </a:ext>
              </a:extLst>
            </p:cNvPr>
            <p:cNvSpPr txBox="1"/>
            <p:nvPr/>
          </p:nvSpPr>
          <p:spPr>
            <a:xfrm>
              <a:off x="5470324" y="1359571"/>
              <a:ext cx="815915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tilt, leg loads,</a:t>
              </a:r>
            </a:p>
          </p:txBody>
        </p:sp>
        <p:sp>
          <p:nvSpPr>
            <p:cNvPr id="474" name="TextBox 473">
              <a:extLst>
                <a:ext uri="{FF2B5EF4-FFF2-40B4-BE49-F238E27FC236}">
                  <a16:creationId xmlns:a16="http://schemas.microsoft.com/office/drawing/2014/main" id="{ACF5C872-DFC5-8530-4600-9CC4EC1E33EE}"/>
                </a:ext>
              </a:extLst>
            </p:cNvPr>
            <p:cNvSpPr txBox="1"/>
            <p:nvPr/>
          </p:nvSpPr>
          <p:spPr>
            <a:xfrm>
              <a:off x="5473864" y="1464103"/>
              <a:ext cx="815915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temperature, and</a:t>
              </a:r>
            </a:p>
          </p:txBody>
        </p:sp>
        <p:sp>
          <p:nvSpPr>
            <p:cNvPr id="475" name="TextBox 474">
              <a:extLst>
                <a:ext uri="{FF2B5EF4-FFF2-40B4-BE49-F238E27FC236}">
                  <a16:creationId xmlns:a16="http://schemas.microsoft.com/office/drawing/2014/main" id="{E0D6B1E7-A053-ACE0-1CE0-368AC1026210}"/>
                </a:ext>
              </a:extLst>
            </p:cNvPr>
            <p:cNvSpPr txBox="1"/>
            <p:nvPr/>
          </p:nvSpPr>
          <p:spPr>
            <a:xfrm>
              <a:off x="5470324" y="1574086"/>
              <a:ext cx="815915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structural</a:t>
              </a:r>
            </a:p>
          </p:txBody>
        </p:sp>
        <p:sp>
          <p:nvSpPr>
            <p:cNvPr id="476" name="TextBox 475">
              <a:extLst>
                <a:ext uri="{FF2B5EF4-FFF2-40B4-BE49-F238E27FC236}">
                  <a16:creationId xmlns:a16="http://schemas.microsoft.com/office/drawing/2014/main" id="{67A8BB03-6E22-1F95-20F7-C17E5040D886}"/>
                </a:ext>
              </a:extLst>
            </p:cNvPr>
            <p:cNvSpPr txBox="1"/>
            <p:nvPr/>
          </p:nvSpPr>
          <p:spPr>
            <a:xfrm>
              <a:off x="5470324" y="1681429"/>
              <a:ext cx="815915" cy="1072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condition</a:t>
              </a:r>
            </a:p>
          </p:txBody>
        </p:sp>
      </p:grp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90F7D8F8-E96A-8790-FA68-7350FD278AE7}"/>
              </a:ext>
            </a:extLst>
          </p:cNvPr>
          <p:cNvGrpSpPr/>
          <p:nvPr/>
        </p:nvGrpSpPr>
        <p:grpSpPr>
          <a:xfrm>
            <a:off x="6626783" y="2377562"/>
            <a:ext cx="781505" cy="429207"/>
            <a:chOff x="4465222" y="1359510"/>
            <a:chExt cx="781505" cy="429207"/>
          </a:xfrm>
        </p:grpSpPr>
        <p:sp>
          <p:nvSpPr>
            <p:cNvPr id="478" name="TextBox 477">
              <a:extLst>
                <a:ext uri="{FF2B5EF4-FFF2-40B4-BE49-F238E27FC236}">
                  <a16:creationId xmlns:a16="http://schemas.microsoft.com/office/drawing/2014/main" id="{B39DC3DE-FD83-D029-8723-F9E34495945D}"/>
                </a:ext>
              </a:extLst>
            </p:cNvPr>
            <p:cNvSpPr txBox="1"/>
            <p:nvPr/>
          </p:nvSpPr>
          <p:spPr>
            <a:xfrm>
              <a:off x="4406610" y="1359510"/>
              <a:ext cx="898730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Solar panels</a:t>
              </a:r>
            </a:p>
          </p:txBody>
        </p:sp>
        <p:sp>
          <p:nvSpPr>
            <p:cNvPr id="479" name="TextBox 478">
              <a:extLst>
                <a:ext uri="{FF2B5EF4-FFF2-40B4-BE49-F238E27FC236}">
                  <a16:creationId xmlns:a16="http://schemas.microsoft.com/office/drawing/2014/main" id="{8E6F66FB-9D70-36EA-8675-0976C8A9849A}"/>
                </a:ext>
              </a:extLst>
            </p:cNvPr>
            <p:cNvSpPr txBox="1"/>
            <p:nvPr/>
          </p:nvSpPr>
          <p:spPr>
            <a:xfrm>
              <a:off x="4406610" y="1466767"/>
              <a:ext cx="898730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deploy to generate</a:t>
              </a:r>
            </a:p>
          </p:txBody>
        </p: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DF6374D6-4878-F163-8F2B-56599F10E4E4}"/>
                </a:ext>
              </a:extLst>
            </p:cNvPr>
            <p:cNvSpPr txBox="1"/>
            <p:nvPr/>
          </p:nvSpPr>
          <p:spPr>
            <a:xfrm>
              <a:off x="4406610" y="1574110"/>
              <a:ext cx="898730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electrical power for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0651D924-D56A-0299-831E-9049DA28E0DD}"/>
                </a:ext>
              </a:extLst>
            </p:cNvPr>
            <p:cNvSpPr txBox="1"/>
            <p:nvPr/>
          </p:nvSpPr>
          <p:spPr>
            <a:xfrm>
              <a:off x="4406610" y="1681367"/>
              <a:ext cx="898730" cy="10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tower</a:t>
              </a:r>
            </a:p>
          </p:txBody>
        </p: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ACE4D8E1-4161-8773-5681-8067D61AE85B}"/>
              </a:ext>
            </a:extLst>
          </p:cNvPr>
          <p:cNvGrpSpPr/>
          <p:nvPr/>
        </p:nvGrpSpPr>
        <p:grpSpPr>
          <a:xfrm>
            <a:off x="5605286" y="2428527"/>
            <a:ext cx="782842" cy="429207"/>
            <a:chOff x="3442247" y="1359510"/>
            <a:chExt cx="782842" cy="429207"/>
          </a:xfrm>
        </p:grpSpPr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BFE67E74-7CA1-230D-D870-8B28264D65CE}"/>
                </a:ext>
              </a:extLst>
            </p:cNvPr>
            <p:cNvSpPr txBox="1"/>
            <p:nvPr/>
          </p:nvSpPr>
          <p:spPr>
            <a:xfrm>
              <a:off x="3383534" y="1359510"/>
              <a:ext cx="900268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Directional antenna</a:t>
              </a:r>
            </a:p>
          </p:txBody>
        </p:sp>
        <p:sp>
          <p:nvSpPr>
            <p:cNvPr id="484" name="TextBox 483">
              <a:extLst>
                <a:ext uri="{FF2B5EF4-FFF2-40B4-BE49-F238E27FC236}">
                  <a16:creationId xmlns:a16="http://schemas.microsoft.com/office/drawing/2014/main" id="{A5D22D91-C875-8DB0-4E4D-113A5184AF9F}"/>
                </a:ext>
              </a:extLst>
            </p:cNvPr>
            <p:cNvSpPr txBox="1"/>
            <p:nvPr/>
          </p:nvSpPr>
          <p:spPr>
            <a:xfrm>
              <a:off x="3383534" y="1466767"/>
              <a:ext cx="900268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and RF backhaul</a:t>
              </a:r>
            </a:p>
          </p:txBody>
        </p:sp>
        <p:sp>
          <p:nvSpPr>
            <p:cNvPr id="485" name="TextBox 484">
              <a:extLst>
                <a:ext uri="{FF2B5EF4-FFF2-40B4-BE49-F238E27FC236}">
                  <a16:creationId xmlns:a16="http://schemas.microsoft.com/office/drawing/2014/main" id="{B5DB643E-E1EB-0E59-494E-4A09A7C7A1D8}"/>
                </a:ext>
              </a:extLst>
            </p:cNvPr>
            <p:cNvSpPr txBox="1"/>
            <p:nvPr/>
          </p:nvSpPr>
          <p:spPr>
            <a:xfrm>
              <a:off x="3383534" y="1574110"/>
              <a:ext cx="900268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module transmit</a:t>
              </a:r>
            </a:p>
          </p:txBody>
        </p:sp>
        <p:sp>
          <p:nvSpPr>
            <p:cNvPr id="486" name="TextBox 485">
              <a:extLst>
                <a:ext uri="{FF2B5EF4-FFF2-40B4-BE49-F238E27FC236}">
                  <a16:creationId xmlns:a16="http://schemas.microsoft.com/office/drawing/2014/main" id="{BC64F9D6-2963-DDDE-EC75-3BB8D933F80F}"/>
                </a:ext>
              </a:extLst>
            </p:cNvPr>
            <p:cNvSpPr txBox="1"/>
            <p:nvPr/>
          </p:nvSpPr>
          <p:spPr>
            <a:xfrm>
              <a:off x="3383534" y="1681367"/>
              <a:ext cx="900268" cy="10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data to orbit</a:t>
              </a:r>
            </a:p>
          </p:txBody>
        </p:sp>
      </p:grp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7409117A-3527-640A-F594-D797879AABF9}"/>
              </a:ext>
            </a:extLst>
          </p:cNvPr>
          <p:cNvGrpSpPr/>
          <p:nvPr/>
        </p:nvGrpSpPr>
        <p:grpSpPr>
          <a:xfrm>
            <a:off x="4454298" y="2377562"/>
            <a:ext cx="848962" cy="429207"/>
            <a:chOff x="2372725" y="1359510"/>
            <a:chExt cx="848962" cy="429207"/>
          </a:xfrm>
        </p:grpSpPr>
        <p:sp>
          <p:nvSpPr>
            <p:cNvPr id="488" name="TextBox 487">
              <a:extLst>
                <a:ext uri="{FF2B5EF4-FFF2-40B4-BE49-F238E27FC236}">
                  <a16:creationId xmlns:a16="http://schemas.microsoft.com/office/drawing/2014/main" id="{70D541BD-2DAB-022D-C379-FE37E8765C92}"/>
                </a:ext>
              </a:extLst>
            </p:cNvPr>
            <p:cNvSpPr txBox="1"/>
            <p:nvPr/>
          </p:nvSpPr>
          <p:spPr>
            <a:xfrm>
              <a:off x="2401021" y="1359510"/>
              <a:ext cx="820666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Local RF</a:t>
              </a:r>
            </a:p>
          </p:txBody>
        </p:sp>
        <p:sp>
          <p:nvSpPr>
            <p:cNvPr id="489" name="TextBox 488">
              <a:extLst>
                <a:ext uri="{FF2B5EF4-FFF2-40B4-BE49-F238E27FC236}">
                  <a16:creationId xmlns:a16="http://schemas.microsoft.com/office/drawing/2014/main" id="{7EEDBA74-10B3-1A7E-4DED-D3297DF1C0D2}"/>
                </a:ext>
              </a:extLst>
            </p:cNvPr>
            <p:cNvSpPr txBox="1"/>
            <p:nvPr/>
          </p:nvSpPr>
          <p:spPr>
            <a:xfrm>
              <a:off x="2401021" y="1466767"/>
              <a:ext cx="820666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communication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BF0EF924-CD29-7E18-8E16-4F9C8E4B47E7}"/>
                </a:ext>
              </a:extLst>
            </p:cNvPr>
            <p:cNvSpPr txBox="1"/>
            <p:nvPr/>
          </p:nvSpPr>
          <p:spPr>
            <a:xfrm>
              <a:off x="2372725" y="1574172"/>
              <a:ext cx="820666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module connects</a:t>
              </a:r>
            </a:p>
          </p:txBody>
        </p:sp>
        <p:sp>
          <p:nvSpPr>
            <p:cNvPr id="491" name="TextBox 490">
              <a:extLst>
                <a:ext uri="{FF2B5EF4-FFF2-40B4-BE49-F238E27FC236}">
                  <a16:creationId xmlns:a16="http://schemas.microsoft.com/office/drawing/2014/main" id="{24D93404-08DA-DCCD-4085-19348A5D0B76}"/>
                </a:ext>
              </a:extLst>
            </p:cNvPr>
            <p:cNvSpPr txBox="1"/>
            <p:nvPr/>
          </p:nvSpPr>
          <p:spPr>
            <a:xfrm>
              <a:off x="2401021" y="1681367"/>
              <a:ext cx="820666" cy="10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rover and tower</a:t>
              </a:r>
            </a:p>
          </p:txBody>
        </p:sp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AC75D89B-8930-D31C-DB30-ACB097F6281F}"/>
              </a:ext>
            </a:extLst>
          </p:cNvPr>
          <p:cNvGrpSpPr/>
          <p:nvPr/>
        </p:nvGrpSpPr>
        <p:grpSpPr>
          <a:xfrm>
            <a:off x="3412957" y="2371293"/>
            <a:ext cx="745698" cy="429207"/>
            <a:chOff x="1416189" y="1359510"/>
            <a:chExt cx="745698" cy="429207"/>
          </a:xfrm>
        </p:grpSpPr>
        <p:sp>
          <p:nvSpPr>
            <p:cNvPr id="493" name="TextBox 492">
              <a:extLst>
                <a:ext uri="{FF2B5EF4-FFF2-40B4-BE49-F238E27FC236}">
                  <a16:creationId xmlns:a16="http://schemas.microsoft.com/office/drawing/2014/main" id="{30A89C5A-821B-3A02-0894-4F563F0D8D7F}"/>
                </a:ext>
              </a:extLst>
            </p:cNvPr>
            <p:cNvSpPr txBox="1"/>
            <p:nvPr/>
          </p:nvSpPr>
          <p:spPr>
            <a:xfrm>
              <a:off x="1360262" y="1359510"/>
              <a:ext cx="857552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Self-anchoring</a:t>
              </a:r>
            </a:p>
          </p:txBody>
        </p:sp>
        <p:sp>
          <p:nvSpPr>
            <p:cNvPr id="494" name="TextBox 493">
              <a:extLst>
                <a:ext uri="{FF2B5EF4-FFF2-40B4-BE49-F238E27FC236}">
                  <a16:creationId xmlns:a16="http://schemas.microsoft.com/office/drawing/2014/main" id="{C001338B-692F-FED6-7817-BE9C84325B67}"/>
                </a:ext>
              </a:extLst>
            </p:cNvPr>
            <p:cNvSpPr txBox="1"/>
            <p:nvPr/>
          </p:nvSpPr>
          <p:spPr>
            <a:xfrm>
              <a:off x="1360262" y="1466767"/>
              <a:ext cx="857552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mechanism</a:t>
              </a:r>
            </a:p>
          </p:txBody>
        </p:sp>
        <p:sp>
          <p:nvSpPr>
            <p:cNvPr id="495" name="TextBox 494">
              <a:extLst>
                <a:ext uri="{FF2B5EF4-FFF2-40B4-BE49-F238E27FC236}">
                  <a16:creationId xmlns:a16="http://schemas.microsoft.com/office/drawing/2014/main" id="{F5C87E97-ABB0-90C1-E96B-B1EDC799E004}"/>
                </a:ext>
              </a:extLst>
            </p:cNvPr>
            <p:cNvSpPr txBox="1"/>
            <p:nvPr/>
          </p:nvSpPr>
          <p:spPr>
            <a:xfrm>
              <a:off x="1360262" y="1574110"/>
              <a:ext cx="857552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secures lander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070E1B02-CF84-E0D1-4A49-C71D6622973B}"/>
                </a:ext>
              </a:extLst>
            </p:cNvPr>
            <p:cNvSpPr txBox="1"/>
            <p:nvPr/>
          </p:nvSpPr>
          <p:spPr>
            <a:xfrm>
              <a:off x="1360262" y="1681367"/>
              <a:ext cx="857552" cy="10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against movement</a:t>
              </a:r>
            </a:p>
          </p:txBody>
        </p:sp>
      </p:grpSp>
      <p:grpSp>
        <p:nvGrpSpPr>
          <p:cNvPr id="497" name="Group 496">
            <a:extLst>
              <a:ext uri="{FF2B5EF4-FFF2-40B4-BE49-F238E27FC236}">
                <a16:creationId xmlns:a16="http://schemas.microsoft.com/office/drawing/2014/main" id="{A670EC21-82E8-BA3D-65E6-4ADA37CFE37A}"/>
              </a:ext>
            </a:extLst>
          </p:cNvPr>
          <p:cNvGrpSpPr/>
          <p:nvPr/>
        </p:nvGrpSpPr>
        <p:grpSpPr>
          <a:xfrm>
            <a:off x="2357253" y="2321270"/>
            <a:ext cx="762336" cy="429207"/>
            <a:chOff x="385564" y="1359510"/>
            <a:chExt cx="762336" cy="429207"/>
          </a:xfrm>
        </p:grpSpPr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08AAFFDA-D90C-21A6-EE9B-25EFBC713FB5}"/>
                </a:ext>
              </a:extLst>
            </p:cNvPr>
            <p:cNvSpPr txBox="1"/>
            <p:nvPr/>
          </p:nvSpPr>
          <p:spPr>
            <a:xfrm>
              <a:off x="328389" y="1359510"/>
              <a:ext cx="876686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Autonomous lunar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197A98D9-F1CE-FA22-F6BA-064C89836C97}"/>
                </a:ext>
              </a:extLst>
            </p:cNvPr>
            <p:cNvSpPr txBox="1"/>
            <p:nvPr/>
          </p:nvSpPr>
          <p:spPr>
            <a:xfrm>
              <a:off x="328389" y="1466767"/>
              <a:ext cx="876686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lander touches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0BB56D22-701A-60D1-9DD7-3F8741D22FDA}"/>
                </a:ext>
              </a:extLst>
            </p:cNvPr>
            <p:cNvSpPr txBox="1"/>
            <p:nvPr/>
          </p:nvSpPr>
          <p:spPr>
            <a:xfrm>
              <a:off x="328389" y="1574110"/>
              <a:ext cx="876686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down at selected</a:t>
              </a:r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F3723C5B-2F31-866B-F76E-706E7C410B4A}"/>
                </a:ext>
              </a:extLst>
            </p:cNvPr>
            <p:cNvSpPr txBox="1"/>
            <p:nvPr/>
          </p:nvSpPr>
          <p:spPr>
            <a:xfrm>
              <a:off x="328389" y="1681367"/>
              <a:ext cx="876686" cy="10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location</a:t>
              </a:r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C20C39CA-74F4-BB34-07F3-46A39074DA3C}"/>
              </a:ext>
            </a:extLst>
          </p:cNvPr>
          <p:cNvGrpSpPr/>
          <p:nvPr/>
        </p:nvGrpSpPr>
        <p:grpSpPr>
          <a:xfrm>
            <a:off x="8758764" y="2219158"/>
            <a:ext cx="736387" cy="643790"/>
            <a:chOff x="6532402" y="1144938"/>
            <a:chExt cx="736387" cy="643790"/>
          </a:xfrm>
        </p:grpSpPr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EBE7CAAE-1B39-23CC-83E9-A668D2C7FB96}"/>
                </a:ext>
              </a:extLst>
            </p:cNvPr>
            <p:cNvSpPr txBox="1"/>
            <p:nvPr/>
          </p:nvSpPr>
          <p:spPr>
            <a:xfrm>
              <a:off x="6477173" y="1144938"/>
              <a:ext cx="846845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Micro-relay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E1C98E0E-012E-7E7F-CE05-8C26739BBE97}"/>
                </a:ext>
              </a:extLst>
            </p:cNvPr>
            <p:cNvSpPr txBox="1"/>
            <p:nvPr/>
          </p:nvSpPr>
          <p:spPr>
            <a:xfrm>
              <a:off x="6477173" y="1252195"/>
              <a:ext cx="846845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deployment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F9656852-F9AF-B5CA-7A81-336BB44C8A4F}"/>
                </a:ext>
              </a:extLst>
            </p:cNvPr>
            <p:cNvSpPr txBox="1"/>
            <p:nvPr/>
          </p:nvSpPr>
          <p:spPr>
            <a:xfrm>
              <a:off x="6477173" y="1359452"/>
              <a:ext cx="846845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decision software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D78883D5-C2CD-17DB-A0C0-3734A971BD06}"/>
                </a:ext>
              </a:extLst>
            </p:cNvPr>
            <p:cNvSpPr txBox="1"/>
            <p:nvPr/>
          </p:nvSpPr>
          <p:spPr>
            <a:xfrm>
              <a:off x="6477173" y="1466795"/>
              <a:ext cx="846845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determines need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0D1C6905-FDEE-D623-C3C6-520097098B0C}"/>
                </a:ext>
              </a:extLst>
            </p:cNvPr>
            <p:cNvSpPr txBox="1"/>
            <p:nvPr/>
          </p:nvSpPr>
          <p:spPr>
            <a:xfrm>
              <a:off x="6477173" y="1574052"/>
              <a:ext cx="846845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for additional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523F5B36-F8B0-7B69-6BBF-A1C9F89CD7CF}"/>
                </a:ext>
              </a:extLst>
            </p:cNvPr>
            <p:cNvSpPr txBox="1"/>
            <p:nvPr/>
          </p:nvSpPr>
          <p:spPr>
            <a:xfrm>
              <a:off x="6477173" y="1681310"/>
              <a:ext cx="846845" cy="1074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relays</a:t>
              </a:r>
            </a:p>
          </p:txBody>
        </p:sp>
      </p:grpSp>
      <p:sp>
        <p:nvSpPr>
          <p:cNvPr id="509" name="TextBox 508">
            <a:extLst>
              <a:ext uri="{FF2B5EF4-FFF2-40B4-BE49-F238E27FC236}">
                <a16:creationId xmlns:a16="http://schemas.microsoft.com/office/drawing/2014/main" id="{847CFC25-E366-CDE1-1A02-2C4B508F90A2}"/>
              </a:ext>
            </a:extLst>
          </p:cNvPr>
          <p:cNvSpPr txBox="1"/>
          <p:nvPr/>
        </p:nvSpPr>
        <p:spPr>
          <a:xfrm>
            <a:off x="6600471" y="2234440"/>
            <a:ext cx="834137" cy="92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00" b="1" dirty="0">
                <a:solidFill>
                  <a:srgbClr val="000000"/>
                </a:solidFill>
                <a:latin typeface="Roboto Slab"/>
              </a:rPr>
              <a:t>Solar Panels Deploy</a:t>
            </a:r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DB81DB40-FF1D-64B8-3173-1A7854FB5FB5}"/>
              </a:ext>
            </a:extLst>
          </p:cNvPr>
          <p:cNvSpPr txBox="1"/>
          <p:nvPr/>
        </p:nvSpPr>
        <p:spPr>
          <a:xfrm>
            <a:off x="7687071" y="2127151"/>
            <a:ext cx="705550" cy="92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00" b="1" dirty="0">
                <a:solidFill>
                  <a:srgbClr val="000000"/>
                </a:solidFill>
                <a:latin typeface="Roboto Slab"/>
              </a:rPr>
              <a:t>Sensors Activate</a:t>
            </a:r>
          </a:p>
        </p:txBody>
      </p: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4D49E7B8-9F9F-FA71-7105-3DE4E630B3A4}"/>
              </a:ext>
            </a:extLst>
          </p:cNvPr>
          <p:cNvGrpSpPr/>
          <p:nvPr/>
        </p:nvGrpSpPr>
        <p:grpSpPr>
          <a:xfrm>
            <a:off x="5617634" y="2162990"/>
            <a:ext cx="753689" cy="183989"/>
            <a:chOff x="3456823" y="1124411"/>
            <a:chExt cx="753689" cy="183989"/>
          </a:xfrm>
        </p:grpSpPr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B9E5BD90-ADFF-6530-B0A3-8D16ED678C36}"/>
                </a:ext>
              </a:extLst>
            </p:cNvPr>
            <p:cNvSpPr txBox="1"/>
            <p:nvPr/>
          </p:nvSpPr>
          <p:spPr>
            <a:xfrm>
              <a:off x="3400297" y="1124411"/>
              <a:ext cx="866742" cy="92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000000"/>
                  </a:solidFill>
                  <a:latin typeface="Roboto Slab"/>
                </a:rPr>
                <a:t>Directional Antenna</a:t>
              </a:r>
            </a:p>
          </p:txBody>
        </p: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47ACFF97-28BE-35CA-BE36-D7508D5D853C}"/>
                </a:ext>
              </a:extLst>
            </p:cNvPr>
            <p:cNvSpPr txBox="1"/>
            <p:nvPr/>
          </p:nvSpPr>
          <p:spPr>
            <a:xfrm>
              <a:off x="3400297" y="1216418"/>
              <a:ext cx="866742" cy="91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000000"/>
                  </a:solidFill>
                  <a:latin typeface="Roboto Slab"/>
                </a:rPr>
                <a:t>Transmits</a:t>
              </a:r>
            </a:p>
          </p:txBody>
        </p:sp>
      </p:grpSp>
      <p:sp>
        <p:nvSpPr>
          <p:cNvPr id="514" name="TextBox 513">
            <a:extLst>
              <a:ext uri="{FF2B5EF4-FFF2-40B4-BE49-F238E27FC236}">
                <a16:creationId xmlns:a16="http://schemas.microsoft.com/office/drawing/2014/main" id="{36680334-DB77-8411-767B-027F5A1DCEE6}"/>
              </a:ext>
            </a:extLst>
          </p:cNvPr>
          <p:cNvSpPr txBox="1"/>
          <p:nvPr/>
        </p:nvSpPr>
        <p:spPr>
          <a:xfrm>
            <a:off x="4515965" y="2188498"/>
            <a:ext cx="873326" cy="92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00" b="1" dirty="0">
                <a:solidFill>
                  <a:srgbClr val="000000"/>
                </a:solidFill>
                <a:latin typeface="Roboto Slab"/>
              </a:rPr>
              <a:t>RF Module Activates</a:t>
            </a:r>
          </a:p>
        </p:txBody>
      </p: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8AE1FA06-AB31-F44A-CF80-B40144ABC572}"/>
              </a:ext>
            </a:extLst>
          </p:cNvPr>
          <p:cNvGrpSpPr/>
          <p:nvPr/>
        </p:nvGrpSpPr>
        <p:grpSpPr>
          <a:xfrm>
            <a:off x="3354304" y="2095748"/>
            <a:ext cx="905891" cy="209466"/>
            <a:chOff x="1321427" y="1098934"/>
            <a:chExt cx="905891" cy="209466"/>
          </a:xfrm>
        </p:grpSpPr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5B5B11DA-73A1-FAF2-C591-B83F4AB97277}"/>
                </a:ext>
              </a:extLst>
            </p:cNvPr>
            <p:cNvSpPr txBox="1"/>
            <p:nvPr/>
          </p:nvSpPr>
          <p:spPr>
            <a:xfrm>
              <a:off x="1321427" y="1098934"/>
              <a:ext cx="876540" cy="92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000000"/>
                  </a:solidFill>
                  <a:latin typeface="Roboto Slab"/>
                </a:rPr>
                <a:t>Self-Anchoring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4E65F1F4-F49C-612E-AD5A-0BD16BD02531}"/>
                </a:ext>
              </a:extLst>
            </p:cNvPr>
            <p:cNvSpPr txBox="1"/>
            <p:nvPr/>
          </p:nvSpPr>
          <p:spPr>
            <a:xfrm>
              <a:off x="1350778" y="1216418"/>
              <a:ext cx="876540" cy="91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000000"/>
                  </a:solidFill>
                  <a:latin typeface="Roboto Slab"/>
                </a:rPr>
                <a:t>Mechanism Engages</a:t>
              </a:r>
            </a:p>
          </p:txBody>
        </p:sp>
      </p:grpSp>
      <p:sp>
        <p:nvSpPr>
          <p:cNvPr id="518" name="TextBox 517">
            <a:extLst>
              <a:ext uri="{FF2B5EF4-FFF2-40B4-BE49-F238E27FC236}">
                <a16:creationId xmlns:a16="http://schemas.microsoft.com/office/drawing/2014/main" id="{AA5AE096-6738-3E63-5C15-A875C9344F05}"/>
              </a:ext>
            </a:extLst>
          </p:cNvPr>
          <p:cNvSpPr txBox="1"/>
          <p:nvPr/>
        </p:nvSpPr>
        <p:spPr>
          <a:xfrm>
            <a:off x="2445716" y="2162230"/>
            <a:ext cx="629769" cy="920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00" b="1" dirty="0">
                <a:solidFill>
                  <a:srgbClr val="000000"/>
                </a:solidFill>
                <a:latin typeface="Roboto Slab"/>
              </a:rPr>
              <a:t>Lander Arrives</a:t>
            </a:r>
          </a:p>
        </p:txBody>
      </p: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A2FA2853-CC67-F1B0-DAFC-93DEE051651F}"/>
              </a:ext>
            </a:extLst>
          </p:cNvPr>
          <p:cNvGrpSpPr/>
          <p:nvPr/>
        </p:nvGrpSpPr>
        <p:grpSpPr>
          <a:xfrm>
            <a:off x="8773428" y="1860663"/>
            <a:ext cx="794641" cy="291253"/>
            <a:chOff x="6507329" y="817846"/>
            <a:chExt cx="794641" cy="291253"/>
          </a:xfrm>
        </p:grpSpPr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id="{3B9F5C41-D265-E8DD-F20D-D386CBD18169}"/>
                </a:ext>
              </a:extLst>
            </p:cNvPr>
            <p:cNvSpPr txBox="1"/>
            <p:nvPr/>
          </p:nvSpPr>
          <p:spPr>
            <a:xfrm>
              <a:off x="6507329" y="817846"/>
              <a:ext cx="786524" cy="92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000000"/>
                  </a:solidFill>
                  <a:latin typeface="Roboto Slab"/>
                </a:rPr>
                <a:t>Micro-Relay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83BB189B-D793-D7D4-EE1F-6B5D2CC04449}"/>
                </a:ext>
              </a:extLst>
            </p:cNvPr>
            <p:cNvSpPr txBox="1"/>
            <p:nvPr/>
          </p:nvSpPr>
          <p:spPr>
            <a:xfrm>
              <a:off x="6515446" y="909853"/>
              <a:ext cx="786524" cy="92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000000"/>
                  </a:solidFill>
                  <a:latin typeface="Roboto Slab"/>
                </a:rPr>
                <a:t>Decision Software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611859C6-C8F8-EBE6-3B6F-ECCF0745A89B}"/>
                </a:ext>
              </a:extLst>
            </p:cNvPr>
            <p:cNvSpPr txBox="1"/>
            <p:nvPr/>
          </p:nvSpPr>
          <p:spPr>
            <a:xfrm>
              <a:off x="6507329" y="1017143"/>
              <a:ext cx="786524" cy="919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000000"/>
                  </a:solidFill>
                  <a:latin typeface="Roboto Slab"/>
                </a:rPr>
                <a:t>Evaluates</a:t>
              </a:r>
            </a:p>
          </p:txBody>
        </p:sp>
      </p:grpSp>
      <p:grpSp>
        <p:nvGrpSpPr>
          <p:cNvPr id="523" name="Group 522">
            <a:extLst>
              <a:ext uri="{FF2B5EF4-FFF2-40B4-BE49-F238E27FC236}">
                <a16:creationId xmlns:a16="http://schemas.microsoft.com/office/drawing/2014/main" id="{78F23475-FF53-D236-BC2A-20896B23D254}"/>
              </a:ext>
            </a:extLst>
          </p:cNvPr>
          <p:cNvGrpSpPr/>
          <p:nvPr/>
        </p:nvGrpSpPr>
        <p:grpSpPr>
          <a:xfrm>
            <a:off x="2919057" y="4377426"/>
            <a:ext cx="654116" cy="183989"/>
            <a:chOff x="950825" y="3424425"/>
            <a:chExt cx="654116" cy="183989"/>
          </a:xfrm>
        </p:grpSpPr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C911F56D-94B2-3256-1493-04246414E882}"/>
                </a:ext>
              </a:extLst>
            </p:cNvPr>
            <p:cNvSpPr txBox="1"/>
            <p:nvPr/>
          </p:nvSpPr>
          <p:spPr>
            <a:xfrm>
              <a:off x="901767" y="3424425"/>
              <a:ext cx="752233" cy="92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000000"/>
                  </a:solidFill>
                  <a:latin typeface="Roboto Slab"/>
                </a:rPr>
                <a:t>Three-Legged</a:t>
              </a:r>
            </a:p>
          </p:txBody>
        </p:sp>
        <p:sp>
          <p:nvSpPr>
            <p:cNvPr id="525" name="TextBox 524">
              <a:extLst>
                <a:ext uri="{FF2B5EF4-FFF2-40B4-BE49-F238E27FC236}">
                  <a16:creationId xmlns:a16="http://schemas.microsoft.com/office/drawing/2014/main" id="{7FCB7A80-B0CC-88CB-101F-1F22591D3EB0}"/>
                </a:ext>
              </a:extLst>
            </p:cNvPr>
            <p:cNvSpPr txBox="1"/>
            <p:nvPr/>
          </p:nvSpPr>
          <p:spPr>
            <a:xfrm>
              <a:off x="901767" y="3516432"/>
              <a:ext cx="752233" cy="91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000000"/>
                  </a:solidFill>
                  <a:latin typeface="Roboto Slab"/>
                </a:rPr>
                <a:t>Structure Deploys</a:t>
              </a:r>
            </a:p>
          </p:txBody>
        </p:sp>
      </p:grpSp>
      <p:grpSp>
        <p:nvGrpSpPr>
          <p:cNvPr id="526" name="Group 525">
            <a:extLst>
              <a:ext uri="{FF2B5EF4-FFF2-40B4-BE49-F238E27FC236}">
                <a16:creationId xmlns:a16="http://schemas.microsoft.com/office/drawing/2014/main" id="{B9190EFF-8758-5FAD-A5B4-FE5697C37215}"/>
              </a:ext>
            </a:extLst>
          </p:cNvPr>
          <p:cNvGrpSpPr/>
          <p:nvPr/>
        </p:nvGrpSpPr>
        <p:grpSpPr>
          <a:xfrm>
            <a:off x="4064147" y="4377419"/>
            <a:ext cx="519274" cy="183989"/>
            <a:chOff x="2040557" y="3424425"/>
            <a:chExt cx="519274" cy="183989"/>
          </a:xfrm>
        </p:grpSpPr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B04FD5A9-7BD7-BD9D-B199-F1EC49E8D880}"/>
                </a:ext>
              </a:extLst>
            </p:cNvPr>
            <p:cNvSpPr txBox="1"/>
            <p:nvPr/>
          </p:nvSpPr>
          <p:spPr>
            <a:xfrm>
              <a:off x="2001612" y="3424425"/>
              <a:ext cx="597165" cy="92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000000"/>
                  </a:solidFill>
                  <a:latin typeface="Roboto Slab"/>
                </a:rPr>
                <a:t>Rollable Mast</a:t>
              </a: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1B84AB60-2D35-DB09-E8BF-861DF160CF87}"/>
                </a:ext>
              </a:extLst>
            </p:cNvPr>
            <p:cNvSpPr txBox="1"/>
            <p:nvPr/>
          </p:nvSpPr>
          <p:spPr>
            <a:xfrm>
              <a:off x="2001612" y="3516432"/>
              <a:ext cx="597165" cy="91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000000"/>
                  </a:solidFill>
                  <a:latin typeface="Roboto Slab"/>
                </a:rPr>
                <a:t>Unrolls</a:t>
              </a:r>
            </a:p>
          </p:txBody>
        </p: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BB86D32-6AB4-6EEB-B6A0-068BA117EFCD}"/>
              </a:ext>
            </a:extLst>
          </p:cNvPr>
          <p:cNvGrpSpPr/>
          <p:nvPr/>
        </p:nvGrpSpPr>
        <p:grpSpPr>
          <a:xfrm>
            <a:off x="5026632" y="4377382"/>
            <a:ext cx="763137" cy="183989"/>
            <a:chOff x="2940940" y="3424425"/>
            <a:chExt cx="763137" cy="183989"/>
          </a:xfrm>
        </p:grpSpPr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3574B6DA-C573-0D92-65AC-D6017823F4A7}"/>
                </a:ext>
              </a:extLst>
            </p:cNvPr>
            <p:cNvSpPr txBox="1"/>
            <p:nvPr/>
          </p:nvSpPr>
          <p:spPr>
            <a:xfrm>
              <a:off x="2883705" y="3424425"/>
              <a:ext cx="877607" cy="92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000000"/>
                  </a:solidFill>
                  <a:latin typeface="Roboto Slab"/>
                </a:rPr>
                <a:t>LTE/3GPP Hardware</a:t>
              </a:r>
            </a:p>
          </p:txBody>
        </p: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EF98B5B9-DEEB-BAAF-127D-2013D8FE2B59}"/>
                </a:ext>
              </a:extLst>
            </p:cNvPr>
            <p:cNvSpPr txBox="1"/>
            <p:nvPr/>
          </p:nvSpPr>
          <p:spPr>
            <a:xfrm>
              <a:off x="2883705" y="3516432"/>
              <a:ext cx="877607" cy="91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000000"/>
                  </a:solidFill>
                  <a:latin typeface="Roboto Slab"/>
                </a:rPr>
                <a:t>Online</a:t>
              </a:r>
            </a:p>
          </p:txBody>
        </p:sp>
      </p:grpSp>
      <p:grpSp>
        <p:nvGrpSpPr>
          <p:cNvPr id="532" name="Group 531">
            <a:extLst>
              <a:ext uri="{FF2B5EF4-FFF2-40B4-BE49-F238E27FC236}">
                <a16:creationId xmlns:a16="http://schemas.microsoft.com/office/drawing/2014/main" id="{24B55C0F-2CF4-ACC0-F6F0-F1E6C8756C77}"/>
              </a:ext>
            </a:extLst>
          </p:cNvPr>
          <p:cNvGrpSpPr/>
          <p:nvPr/>
        </p:nvGrpSpPr>
        <p:grpSpPr>
          <a:xfrm>
            <a:off x="6150813" y="4364034"/>
            <a:ext cx="714552" cy="183989"/>
            <a:chOff x="3987539" y="3424425"/>
            <a:chExt cx="714552" cy="183989"/>
          </a:xfrm>
        </p:grpSpPr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201F4E59-BE69-98EC-601A-15BC0CCF6E1D}"/>
                </a:ext>
              </a:extLst>
            </p:cNvPr>
            <p:cNvSpPr txBox="1"/>
            <p:nvPr/>
          </p:nvSpPr>
          <p:spPr>
            <a:xfrm>
              <a:off x="3933948" y="3424425"/>
              <a:ext cx="821734" cy="92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000000"/>
                  </a:solidFill>
                  <a:latin typeface="Roboto Slab"/>
                </a:rPr>
                <a:t>Control Electronics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323D72D0-851E-4A42-DA16-1A84B01210FC}"/>
                </a:ext>
              </a:extLst>
            </p:cNvPr>
            <p:cNvSpPr txBox="1"/>
            <p:nvPr/>
          </p:nvSpPr>
          <p:spPr>
            <a:xfrm>
              <a:off x="3933948" y="3516432"/>
              <a:ext cx="821734" cy="91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000000"/>
                  </a:solidFill>
                  <a:latin typeface="Roboto Slab"/>
                </a:rPr>
                <a:t>Activate</a:t>
              </a:r>
            </a:p>
          </p:txBody>
        </p:sp>
      </p:grpSp>
      <p:grpSp>
        <p:nvGrpSpPr>
          <p:cNvPr id="535" name="Group 534">
            <a:extLst>
              <a:ext uri="{FF2B5EF4-FFF2-40B4-BE49-F238E27FC236}">
                <a16:creationId xmlns:a16="http://schemas.microsoft.com/office/drawing/2014/main" id="{A2B13829-B450-402D-C95F-40C69E28BF56}"/>
              </a:ext>
            </a:extLst>
          </p:cNvPr>
          <p:cNvGrpSpPr/>
          <p:nvPr/>
        </p:nvGrpSpPr>
        <p:grpSpPr>
          <a:xfrm>
            <a:off x="7103456" y="4364034"/>
            <a:ext cx="876021" cy="183989"/>
            <a:chOff x="4933381" y="3424425"/>
            <a:chExt cx="876021" cy="183989"/>
          </a:xfrm>
        </p:grpSpPr>
        <p:sp>
          <p:nvSpPr>
            <p:cNvPr id="536" name="TextBox 535">
              <a:extLst>
                <a:ext uri="{FF2B5EF4-FFF2-40B4-BE49-F238E27FC236}">
                  <a16:creationId xmlns:a16="http://schemas.microsoft.com/office/drawing/2014/main" id="{093CFEBF-BF1C-F073-7521-6C33EC185618}"/>
                </a:ext>
              </a:extLst>
            </p:cNvPr>
            <p:cNvSpPr txBox="1"/>
            <p:nvPr/>
          </p:nvSpPr>
          <p:spPr>
            <a:xfrm>
              <a:off x="4941895" y="3424425"/>
              <a:ext cx="867507" cy="92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000000"/>
                  </a:solidFill>
                  <a:latin typeface="Roboto Slab"/>
                </a:rPr>
                <a:t>Power Management</a:t>
              </a:r>
            </a:p>
          </p:txBody>
        </p:sp>
        <p:sp>
          <p:nvSpPr>
            <p:cNvPr id="537" name="TextBox 536">
              <a:extLst>
                <a:ext uri="{FF2B5EF4-FFF2-40B4-BE49-F238E27FC236}">
                  <a16:creationId xmlns:a16="http://schemas.microsoft.com/office/drawing/2014/main" id="{8A74F043-34FE-A550-C643-0F3A8D24E6D5}"/>
                </a:ext>
              </a:extLst>
            </p:cNvPr>
            <p:cNvSpPr txBox="1"/>
            <p:nvPr/>
          </p:nvSpPr>
          <p:spPr>
            <a:xfrm>
              <a:off x="4933381" y="3516432"/>
              <a:ext cx="867507" cy="91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000000"/>
                  </a:solidFill>
                  <a:latin typeface="Roboto Slab"/>
                </a:rPr>
                <a:t>Unit Regulates</a:t>
              </a:r>
            </a:p>
          </p:txBody>
        </p: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049BF961-6F83-374F-32E0-FC374C6DF303}"/>
              </a:ext>
            </a:extLst>
          </p:cNvPr>
          <p:cNvGrpSpPr/>
          <p:nvPr/>
        </p:nvGrpSpPr>
        <p:grpSpPr>
          <a:xfrm>
            <a:off x="8239415" y="4391369"/>
            <a:ext cx="650129" cy="183989"/>
            <a:chOff x="6064380" y="3424425"/>
            <a:chExt cx="650129" cy="183989"/>
          </a:xfrm>
        </p:grpSpPr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BDE947E7-93C1-8C6D-98BF-9E69D401F471}"/>
                </a:ext>
              </a:extLst>
            </p:cNvPr>
            <p:cNvSpPr txBox="1"/>
            <p:nvPr/>
          </p:nvSpPr>
          <p:spPr>
            <a:xfrm>
              <a:off x="6015621" y="3424425"/>
              <a:ext cx="747648" cy="92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000000"/>
                  </a:solidFill>
                  <a:latin typeface="Roboto Slab"/>
                </a:rPr>
                <a:t>Mast Unrolls and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1459D821-874D-1D7A-A376-0792527B3A99}"/>
                </a:ext>
              </a:extLst>
            </p:cNvPr>
            <p:cNvSpPr txBox="1"/>
            <p:nvPr/>
          </p:nvSpPr>
          <p:spPr>
            <a:xfrm>
              <a:off x="6015621" y="3516432"/>
              <a:ext cx="747648" cy="91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000000"/>
                  </a:solidFill>
                  <a:latin typeface="Roboto Slab"/>
                </a:rPr>
                <a:t>Deploys</a:t>
              </a:r>
            </a:p>
          </p:txBody>
        </p:sp>
      </p:grpSp>
      <p:grpSp>
        <p:nvGrpSpPr>
          <p:cNvPr id="541" name="Group 540">
            <a:extLst>
              <a:ext uri="{FF2B5EF4-FFF2-40B4-BE49-F238E27FC236}">
                <a16:creationId xmlns:a16="http://schemas.microsoft.com/office/drawing/2014/main" id="{1D0E30CC-CC54-83D7-4DC5-333DC3E9236E}"/>
              </a:ext>
            </a:extLst>
          </p:cNvPr>
          <p:cNvGrpSpPr/>
          <p:nvPr/>
        </p:nvGrpSpPr>
        <p:grpSpPr>
          <a:xfrm>
            <a:off x="9215588" y="4359790"/>
            <a:ext cx="736114" cy="183989"/>
            <a:chOff x="7043694" y="3424425"/>
            <a:chExt cx="736114" cy="183989"/>
          </a:xfrm>
        </p:grpSpPr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262DA7E9-17E6-E567-7102-3A01748FE3A1}"/>
                </a:ext>
              </a:extLst>
            </p:cNvPr>
            <p:cNvSpPr txBox="1"/>
            <p:nvPr/>
          </p:nvSpPr>
          <p:spPr>
            <a:xfrm>
              <a:off x="6988486" y="3424425"/>
              <a:ext cx="846531" cy="92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000000"/>
                  </a:solidFill>
                  <a:latin typeface="Roboto Slab"/>
                </a:rPr>
                <a:t>Thermal and Dust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829F1F7F-231B-4492-ED3F-4580D13ABA1B}"/>
                </a:ext>
              </a:extLst>
            </p:cNvPr>
            <p:cNvSpPr txBox="1"/>
            <p:nvPr/>
          </p:nvSpPr>
          <p:spPr>
            <a:xfrm>
              <a:off x="6988486" y="3516432"/>
              <a:ext cx="846531" cy="91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000000"/>
                  </a:solidFill>
                  <a:latin typeface="Roboto Slab"/>
                </a:rPr>
                <a:t>Components Protect</a:t>
              </a:r>
            </a:p>
          </p:txBody>
        </p:sp>
      </p:grp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7C9E2476-26AF-284E-1183-16742135BAA8}"/>
              </a:ext>
            </a:extLst>
          </p:cNvPr>
          <p:cNvGrpSpPr/>
          <p:nvPr/>
        </p:nvGrpSpPr>
        <p:grpSpPr>
          <a:xfrm>
            <a:off x="2872406" y="4612523"/>
            <a:ext cx="747428" cy="429207"/>
            <a:chOff x="904174" y="3659522"/>
            <a:chExt cx="747428" cy="429207"/>
          </a:xfrm>
        </p:grpSpPr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13649B15-6922-0C3D-4754-CA7E4E91476F}"/>
                </a:ext>
              </a:extLst>
            </p:cNvPr>
            <p:cNvSpPr txBox="1"/>
            <p:nvPr/>
          </p:nvSpPr>
          <p:spPr>
            <a:xfrm>
              <a:off x="848117" y="3659522"/>
              <a:ext cx="859542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Three-legged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507AF58A-410A-A5E2-BA0F-9D4C31A6654E}"/>
                </a:ext>
              </a:extLst>
            </p:cNvPr>
            <p:cNvSpPr txBox="1"/>
            <p:nvPr/>
          </p:nvSpPr>
          <p:spPr>
            <a:xfrm>
              <a:off x="848117" y="3766779"/>
              <a:ext cx="859542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landing structure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FBABA84F-5006-BAFE-5155-2CAC6FF8B4EA}"/>
                </a:ext>
              </a:extLst>
            </p:cNvPr>
            <p:cNvSpPr txBox="1"/>
            <p:nvPr/>
          </p:nvSpPr>
          <p:spPr>
            <a:xfrm>
              <a:off x="848117" y="3874122"/>
              <a:ext cx="859542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extends for stable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896D3DA6-2581-C091-8D05-7DA7164687AD}"/>
                </a:ext>
              </a:extLst>
            </p:cNvPr>
            <p:cNvSpPr txBox="1"/>
            <p:nvPr/>
          </p:nvSpPr>
          <p:spPr>
            <a:xfrm>
              <a:off x="848117" y="3981379"/>
              <a:ext cx="859542" cy="10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support</a:t>
              </a:r>
            </a:p>
          </p:txBody>
        </p:sp>
      </p:grpSp>
      <p:grpSp>
        <p:nvGrpSpPr>
          <p:cNvPr id="549" name="Group 548">
            <a:extLst>
              <a:ext uri="{FF2B5EF4-FFF2-40B4-BE49-F238E27FC236}">
                <a16:creationId xmlns:a16="http://schemas.microsoft.com/office/drawing/2014/main" id="{75F6AE6F-8990-7F1D-7AA6-8A595F34F593}"/>
              </a:ext>
            </a:extLst>
          </p:cNvPr>
          <p:cNvGrpSpPr/>
          <p:nvPr/>
        </p:nvGrpSpPr>
        <p:grpSpPr>
          <a:xfrm>
            <a:off x="3935029" y="4612523"/>
            <a:ext cx="777518" cy="536499"/>
            <a:chOff x="1911439" y="3659529"/>
            <a:chExt cx="777518" cy="536499"/>
          </a:xfrm>
        </p:grpSpPr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1D431300-2553-1A36-92A3-2291DFA6E1AD}"/>
                </a:ext>
              </a:extLst>
            </p:cNvPr>
            <p:cNvSpPr txBox="1"/>
            <p:nvPr/>
          </p:nvSpPr>
          <p:spPr>
            <a:xfrm>
              <a:off x="1853126" y="3659529"/>
              <a:ext cx="894145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Rollable composite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AB768E3A-D539-C6F8-991C-DD4C76E21DFC}"/>
                </a:ext>
              </a:extLst>
            </p:cNvPr>
            <p:cNvSpPr txBox="1"/>
            <p:nvPr/>
          </p:nvSpPr>
          <p:spPr>
            <a:xfrm>
              <a:off x="1853126" y="3766871"/>
              <a:ext cx="894145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mast extends to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093E7752-5C69-6379-6FF9-0D7FFE502F45}"/>
                </a:ext>
              </a:extLst>
            </p:cNvPr>
            <p:cNvSpPr txBox="1"/>
            <p:nvPr/>
          </p:nvSpPr>
          <p:spPr>
            <a:xfrm>
              <a:off x="1853126" y="3874129"/>
              <a:ext cx="894145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raise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649D38B7-B380-8FB3-25D2-D36CB8E39981}"/>
                </a:ext>
              </a:extLst>
            </p:cNvPr>
            <p:cNvSpPr txBox="1"/>
            <p:nvPr/>
          </p:nvSpPr>
          <p:spPr>
            <a:xfrm>
              <a:off x="1853126" y="3981386"/>
              <a:ext cx="894145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communication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E4DD5800-45CA-4897-818D-68342381472D}"/>
                </a:ext>
              </a:extLst>
            </p:cNvPr>
            <p:cNvSpPr txBox="1"/>
            <p:nvPr/>
          </p:nvSpPr>
          <p:spPr>
            <a:xfrm>
              <a:off x="1853126" y="4088729"/>
              <a:ext cx="894145" cy="1072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antenna</a:t>
              </a:r>
            </a:p>
          </p:txBody>
        </p:sp>
      </p:grpSp>
      <p:grpSp>
        <p:nvGrpSpPr>
          <p:cNvPr id="555" name="Group 554">
            <a:extLst>
              <a:ext uri="{FF2B5EF4-FFF2-40B4-BE49-F238E27FC236}">
                <a16:creationId xmlns:a16="http://schemas.microsoft.com/office/drawing/2014/main" id="{F00AB813-F560-B702-54C7-0A822BE6DBA6}"/>
              </a:ext>
            </a:extLst>
          </p:cNvPr>
          <p:cNvGrpSpPr/>
          <p:nvPr/>
        </p:nvGrpSpPr>
        <p:grpSpPr>
          <a:xfrm>
            <a:off x="8177182" y="4626466"/>
            <a:ext cx="774587" cy="429207"/>
            <a:chOff x="6002147" y="3659522"/>
            <a:chExt cx="774587" cy="429207"/>
          </a:xfrm>
        </p:grpSpPr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17FF8D49-0D53-B7D5-AE40-91781B3F7451}"/>
                </a:ext>
              </a:extLst>
            </p:cNvPr>
            <p:cNvSpPr txBox="1"/>
            <p:nvPr/>
          </p:nvSpPr>
          <p:spPr>
            <a:xfrm>
              <a:off x="5944053" y="3659522"/>
              <a:ext cx="890775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Mast deployment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4112F28D-0E26-D1DD-9884-9099D5419C01}"/>
                </a:ext>
              </a:extLst>
            </p:cNvPr>
            <p:cNvSpPr txBox="1"/>
            <p:nvPr/>
          </p:nvSpPr>
          <p:spPr>
            <a:xfrm>
              <a:off x="5944053" y="3766779"/>
              <a:ext cx="890775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mechanism unrolls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352255C3-71E8-74F9-D6AB-41C441100D74}"/>
                </a:ext>
              </a:extLst>
            </p:cNvPr>
            <p:cNvSpPr txBox="1"/>
            <p:nvPr/>
          </p:nvSpPr>
          <p:spPr>
            <a:xfrm>
              <a:off x="5944053" y="3874122"/>
              <a:ext cx="890775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and deploys the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8E4F9B02-308F-3CF8-BF54-21DD85DF94F6}"/>
                </a:ext>
              </a:extLst>
            </p:cNvPr>
            <p:cNvSpPr txBox="1"/>
            <p:nvPr/>
          </p:nvSpPr>
          <p:spPr>
            <a:xfrm>
              <a:off x="5944053" y="3981379"/>
              <a:ext cx="890775" cy="10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composite mast</a:t>
              </a:r>
            </a:p>
          </p:txBody>
        </p:sp>
      </p:grpSp>
      <p:grpSp>
        <p:nvGrpSpPr>
          <p:cNvPr id="560" name="Group 559">
            <a:extLst>
              <a:ext uri="{FF2B5EF4-FFF2-40B4-BE49-F238E27FC236}">
                <a16:creationId xmlns:a16="http://schemas.microsoft.com/office/drawing/2014/main" id="{0F1E664F-801C-1D5A-D89A-045A35F84F7D}"/>
              </a:ext>
            </a:extLst>
          </p:cNvPr>
          <p:cNvGrpSpPr/>
          <p:nvPr/>
        </p:nvGrpSpPr>
        <p:grpSpPr>
          <a:xfrm>
            <a:off x="5023574" y="4612485"/>
            <a:ext cx="769263" cy="643790"/>
            <a:chOff x="2937882" y="3659528"/>
            <a:chExt cx="769263" cy="643790"/>
          </a:xfrm>
        </p:grpSpPr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F60F1330-9532-44DE-4D6F-80B3AB5609FB}"/>
                </a:ext>
              </a:extLst>
            </p:cNvPr>
            <p:cNvSpPr txBox="1"/>
            <p:nvPr/>
          </p:nvSpPr>
          <p:spPr>
            <a:xfrm>
              <a:off x="2880188" y="3659528"/>
              <a:ext cx="884652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LTE/3GPP-</a:t>
              </a:r>
            </a:p>
          </p:txBody>
        </p:sp>
        <p:sp>
          <p:nvSpPr>
            <p:cNvPr id="562" name="TextBox 561">
              <a:extLst>
                <a:ext uri="{FF2B5EF4-FFF2-40B4-BE49-F238E27FC236}">
                  <a16:creationId xmlns:a16="http://schemas.microsoft.com/office/drawing/2014/main" id="{6EB93A89-A7F0-953C-9E66-64124589DCCA}"/>
                </a:ext>
              </a:extLst>
            </p:cNvPr>
            <p:cNvSpPr txBox="1"/>
            <p:nvPr/>
          </p:nvSpPr>
          <p:spPr>
            <a:xfrm>
              <a:off x="2880188" y="3766785"/>
              <a:ext cx="884652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compatible</a:t>
              </a:r>
            </a:p>
          </p:txBody>
        </p:sp>
        <p:sp>
          <p:nvSpPr>
            <p:cNvPr id="563" name="TextBox 562">
              <a:extLst>
                <a:ext uri="{FF2B5EF4-FFF2-40B4-BE49-F238E27FC236}">
                  <a16:creationId xmlns:a16="http://schemas.microsoft.com/office/drawing/2014/main" id="{80149EFE-1DD1-6CB0-2A44-AC34D4EF2D5B}"/>
                </a:ext>
              </a:extLst>
            </p:cNvPr>
            <p:cNvSpPr txBox="1"/>
            <p:nvPr/>
          </p:nvSpPr>
          <p:spPr>
            <a:xfrm>
              <a:off x="2880188" y="3874042"/>
              <a:ext cx="884652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networking</a:t>
              </a:r>
            </a:p>
          </p:txBody>
        </p:sp>
        <p:sp>
          <p:nvSpPr>
            <p:cNvPr id="564" name="TextBox 563">
              <a:extLst>
                <a:ext uri="{FF2B5EF4-FFF2-40B4-BE49-F238E27FC236}">
                  <a16:creationId xmlns:a16="http://schemas.microsoft.com/office/drawing/2014/main" id="{8415B9B5-2B14-7C73-503F-A600EF04E68D}"/>
                </a:ext>
              </a:extLst>
            </p:cNvPr>
            <p:cNvSpPr txBox="1"/>
            <p:nvPr/>
          </p:nvSpPr>
          <p:spPr>
            <a:xfrm>
              <a:off x="2880188" y="3981385"/>
              <a:ext cx="884652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hardware supports</a:t>
              </a: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02D71DD6-7B95-1555-4FFD-70372B5BD7C7}"/>
                </a:ext>
              </a:extLst>
            </p:cNvPr>
            <p:cNvSpPr txBox="1"/>
            <p:nvPr/>
          </p:nvSpPr>
          <p:spPr>
            <a:xfrm>
              <a:off x="2880188" y="4088642"/>
              <a:ext cx="884652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surface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B88731FB-43B3-71C4-DD22-1C8E212D3489}"/>
                </a:ext>
              </a:extLst>
            </p:cNvPr>
            <p:cNvSpPr txBox="1"/>
            <p:nvPr/>
          </p:nvSpPr>
          <p:spPr>
            <a:xfrm>
              <a:off x="2880188" y="4195900"/>
              <a:ext cx="884652" cy="1074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communication</a:t>
              </a:r>
            </a:p>
          </p:txBody>
        </p:sp>
      </p:grpSp>
      <p:grpSp>
        <p:nvGrpSpPr>
          <p:cNvPr id="567" name="Group 566">
            <a:extLst>
              <a:ext uri="{FF2B5EF4-FFF2-40B4-BE49-F238E27FC236}">
                <a16:creationId xmlns:a16="http://schemas.microsoft.com/office/drawing/2014/main" id="{AB52ECFD-C520-DD8E-6015-1723B8BEBF4B}"/>
              </a:ext>
            </a:extLst>
          </p:cNvPr>
          <p:cNvGrpSpPr/>
          <p:nvPr/>
        </p:nvGrpSpPr>
        <p:grpSpPr>
          <a:xfrm>
            <a:off x="6124258" y="4599137"/>
            <a:ext cx="767661" cy="643790"/>
            <a:chOff x="3960984" y="3659528"/>
            <a:chExt cx="767661" cy="643790"/>
          </a:xfrm>
        </p:grpSpPr>
        <p:sp>
          <p:nvSpPr>
            <p:cNvPr id="568" name="TextBox 567">
              <a:extLst>
                <a:ext uri="{FF2B5EF4-FFF2-40B4-BE49-F238E27FC236}">
                  <a16:creationId xmlns:a16="http://schemas.microsoft.com/office/drawing/2014/main" id="{88F41814-F749-6324-F737-66B6E47FF790}"/>
                </a:ext>
              </a:extLst>
            </p:cNvPr>
            <p:cNvSpPr txBox="1"/>
            <p:nvPr/>
          </p:nvSpPr>
          <p:spPr>
            <a:xfrm>
              <a:off x="3903410" y="3659528"/>
              <a:ext cx="882810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Onboard computer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CE920311-7FB8-959E-7A8B-BA050B20C579}"/>
                </a:ext>
              </a:extLst>
            </p:cNvPr>
            <p:cNvSpPr txBox="1"/>
            <p:nvPr/>
          </p:nvSpPr>
          <p:spPr>
            <a:xfrm>
              <a:off x="3903410" y="3766785"/>
              <a:ext cx="882810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and control</a:t>
              </a:r>
            </a:p>
          </p:txBody>
        </p:sp>
        <p:sp>
          <p:nvSpPr>
            <p:cNvPr id="570" name="TextBox 569">
              <a:extLst>
                <a:ext uri="{FF2B5EF4-FFF2-40B4-BE49-F238E27FC236}">
                  <a16:creationId xmlns:a16="http://schemas.microsoft.com/office/drawing/2014/main" id="{B15206C8-662E-8427-4B22-EF74840CA928}"/>
                </a:ext>
              </a:extLst>
            </p:cNvPr>
            <p:cNvSpPr txBox="1"/>
            <p:nvPr/>
          </p:nvSpPr>
          <p:spPr>
            <a:xfrm>
              <a:off x="3903410" y="3874042"/>
              <a:ext cx="882810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electronics</a:t>
              </a:r>
            </a:p>
          </p:txBody>
        </p:sp>
        <p:sp>
          <p:nvSpPr>
            <p:cNvPr id="571" name="TextBox 570">
              <a:extLst>
                <a:ext uri="{FF2B5EF4-FFF2-40B4-BE49-F238E27FC236}">
                  <a16:creationId xmlns:a16="http://schemas.microsoft.com/office/drawing/2014/main" id="{093970A4-9CAE-D1F4-7072-10CE6CCE5D27}"/>
                </a:ext>
              </a:extLst>
            </p:cNvPr>
            <p:cNvSpPr txBox="1"/>
            <p:nvPr/>
          </p:nvSpPr>
          <p:spPr>
            <a:xfrm>
              <a:off x="3903410" y="3981385"/>
              <a:ext cx="882810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manage</a:t>
              </a:r>
            </a:p>
          </p:txBody>
        </p:sp>
        <p:sp>
          <p:nvSpPr>
            <p:cNvPr id="572" name="TextBox 571">
              <a:extLst>
                <a:ext uri="{FF2B5EF4-FFF2-40B4-BE49-F238E27FC236}">
                  <a16:creationId xmlns:a16="http://schemas.microsoft.com/office/drawing/2014/main" id="{51F6667F-966F-41E6-6EC1-C4BF0061ECCF}"/>
                </a:ext>
              </a:extLst>
            </p:cNvPr>
            <p:cNvSpPr txBox="1"/>
            <p:nvPr/>
          </p:nvSpPr>
          <p:spPr>
            <a:xfrm>
              <a:off x="3903410" y="4088642"/>
              <a:ext cx="882810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deployment and</a:t>
              </a:r>
            </a:p>
          </p:txBody>
        </p:sp>
        <p:sp>
          <p:nvSpPr>
            <p:cNvPr id="573" name="TextBox 572">
              <a:extLst>
                <a:ext uri="{FF2B5EF4-FFF2-40B4-BE49-F238E27FC236}">
                  <a16:creationId xmlns:a16="http://schemas.microsoft.com/office/drawing/2014/main" id="{582B5CAF-D414-676D-5FA1-F7A475035157}"/>
                </a:ext>
              </a:extLst>
            </p:cNvPr>
            <p:cNvSpPr txBox="1"/>
            <p:nvPr/>
          </p:nvSpPr>
          <p:spPr>
            <a:xfrm>
              <a:off x="3903410" y="4195900"/>
              <a:ext cx="882810" cy="1074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operations</a:t>
              </a:r>
            </a:p>
          </p:txBody>
        </p:sp>
      </p:grpSp>
      <p:grpSp>
        <p:nvGrpSpPr>
          <p:cNvPr id="574" name="Group 573">
            <a:extLst>
              <a:ext uri="{FF2B5EF4-FFF2-40B4-BE49-F238E27FC236}">
                <a16:creationId xmlns:a16="http://schemas.microsoft.com/office/drawing/2014/main" id="{CFFD2BCC-59DC-3E14-9BF4-C47F8EDDA80A}"/>
              </a:ext>
            </a:extLst>
          </p:cNvPr>
          <p:cNvGrpSpPr/>
          <p:nvPr/>
        </p:nvGrpSpPr>
        <p:grpSpPr>
          <a:xfrm>
            <a:off x="7160892" y="4599137"/>
            <a:ext cx="752625" cy="643790"/>
            <a:chOff x="4990817" y="3659528"/>
            <a:chExt cx="752625" cy="643790"/>
          </a:xfrm>
        </p:grpSpPr>
        <p:sp>
          <p:nvSpPr>
            <p:cNvPr id="575" name="TextBox 574">
              <a:extLst>
                <a:ext uri="{FF2B5EF4-FFF2-40B4-BE49-F238E27FC236}">
                  <a16:creationId xmlns:a16="http://schemas.microsoft.com/office/drawing/2014/main" id="{E9501820-2C07-5A47-D39D-A46526B3EA8E}"/>
                </a:ext>
              </a:extLst>
            </p:cNvPr>
            <p:cNvSpPr txBox="1"/>
            <p:nvPr/>
          </p:nvSpPr>
          <p:spPr>
            <a:xfrm>
              <a:off x="4934371" y="3659528"/>
              <a:ext cx="865518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Rechargeable</a:t>
              </a:r>
            </a:p>
          </p:txBody>
        </p:sp>
        <p:sp>
          <p:nvSpPr>
            <p:cNvPr id="576" name="TextBox 575">
              <a:extLst>
                <a:ext uri="{FF2B5EF4-FFF2-40B4-BE49-F238E27FC236}">
                  <a16:creationId xmlns:a16="http://schemas.microsoft.com/office/drawing/2014/main" id="{CEBECAA2-8200-DA96-01A3-A969BF7D1080}"/>
                </a:ext>
              </a:extLst>
            </p:cNvPr>
            <p:cNvSpPr txBox="1"/>
            <p:nvPr/>
          </p:nvSpPr>
          <p:spPr>
            <a:xfrm>
              <a:off x="4934371" y="3766785"/>
              <a:ext cx="865518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batteries and</a:t>
              </a:r>
            </a:p>
          </p:txBody>
        </p:sp>
        <p:sp>
          <p:nvSpPr>
            <p:cNvPr id="577" name="TextBox 576">
              <a:extLst>
                <a:ext uri="{FF2B5EF4-FFF2-40B4-BE49-F238E27FC236}">
                  <a16:creationId xmlns:a16="http://schemas.microsoft.com/office/drawing/2014/main" id="{43FC2BD1-89B2-37AF-CADF-558788171F3E}"/>
                </a:ext>
              </a:extLst>
            </p:cNvPr>
            <p:cNvSpPr txBox="1"/>
            <p:nvPr/>
          </p:nvSpPr>
          <p:spPr>
            <a:xfrm>
              <a:off x="4934371" y="3874042"/>
              <a:ext cx="865518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power-</a:t>
              </a:r>
            </a:p>
          </p:txBody>
        </p:sp>
        <p:sp>
          <p:nvSpPr>
            <p:cNvPr id="578" name="TextBox 577">
              <a:extLst>
                <a:ext uri="{FF2B5EF4-FFF2-40B4-BE49-F238E27FC236}">
                  <a16:creationId xmlns:a16="http://schemas.microsoft.com/office/drawing/2014/main" id="{71E2296C-3FC3-916D-7976-6CD69A072DF7}"/>
                </a:ext>
              </a:extLst>
            </p:cNvPr>
            <p:cNvSpPr txBox="1"/>
            <p:nvPr/>
          </p:nvSpPr>
          <p:spPr>
            <a:xfrm>
              <a:off x="4934371" y="3981385"/>
              <a:ext cx="865518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management unit</a:t>
              </a:r>
            </a:p>
          </p:txBody>
        </p:sp>
        <p:sp>
          <p:nvSpPr>
            <p:cNvPr id="579" name="TextBox 578">
              <a:extLst>
                <a:ext uri="{FF2B5EF4-FFF2-40B4-BE49-F238E27FC236}">
                  <a16:creationId xmlns:a16="http://schemas.microsoft.com/office/drawing/2014/main" id="{D29DB1C1-D293-0E28-7515-C2E9164AD242}"/>
                </a:ext>
              </a:extLst>
            </p:cNvPr>
            <p:cNvSpPr txBox="1"/>
            <p:nvPr/>
          </p:nvSpPr>
          <p:spPr>
            <a:xfrm>
              <a:off x="4934371" y="4088642"/>
              <a:ext cx="865518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store and regulate</a:t>
              </a:r>
            </a:p>
          </p:txBody>
        </p:sp>
        <p:sp>
          <p:nvSpPr>
            <p:cNvPr id="580" name="TextBox 579">
              <a:extLst>
                <a:ext uri="{FF2B5EF4-FFF2-40B4-BE49-F238E27FC236}">
                  <a16:creationId xmlns:a16="http://schemas.microsoft.com/office/drawing/2014/main" id="{5D36B374-898E-8F61-20DC-9300527CDAF9}"/>
                </a:ext>
              </a:extLst>
            </p:cNvPr>
            <p:cNvSpPr txBox="1"/>
            <p:nvPr/>
          </p:nvSpPr>
          <p:spPr>
            <a:xfrm>
              <a:off x="4934371" y="4195900"/>
              <a:ext cx="865518" cy="1074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power</a:t>
              </a:r>
            </a:p>
          </p:txBody>
        </p:sp>
      </p:grp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CA917094-3F4D-984D-A655-9B583B1F56B3}"/>
              </a:ext>
            </a:extLst>
          </p:cNvPr>
          <p:cNvGrpSpPr/>
          <p:nvPr/>
        </p:nvGrpSpPr>
        <p:grpSpPr>
          <a:xfrm>
            <a:off x="9195218" y="4594894"/>
            <a:ext cx="776853" cy="536499"/>
            <a:chOff x="7023324" y="3659529"/>
            <a:chExt cx="776853" cy="536499"/>
          </a:xfrm>
        </p:grpSpPr>
        <p:sp>
          <p:nvSpPr>
            <p:cNvPr id="582" name="TextBox 581">
              <a:extLst>
                <a:ext uri="{FF2B5EF4-FFF2-40B4-BE49-F238E27FC236}">
                  <a16:creationId xmlns:a16="http://schemas.microsoft.com/office/drawing/2014/main" id="{BA2BE166-5BE3-C0F2-CD17-F8B286100B72}"/>
                </a:ext>
              </a:extLst>
            </p:cNvPr>
            <p:cNvSpPr txBox="1"/>
            <p:nvPr/>
          </p:nvSpPr>
          <p:spPr>
            <a:xfrm>
              <a:off x="6965061" y="3659529"/>
              <a:ext cx="893380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Thermal protection</a:t>
              </a:r>
            </a:p>
          </p:txBody>
        </p:sp>
        <p:sp>
          <p:nvSpPr>
            <p:cNvPr id="583" name="TextBox 582">
              <a:extLst>
                <a:ext uri="{FF2B5EF4-FFF2-40B4-BE49-F238E27FC236}">
                  <a16:creationId xmlns:a16="http://schemas.microsoft.com/office/drawing/2014/main" id="{72C05975-5539-44F4-D6F2-B343391FC7B9}"/>
                </a:ext>
              </a:extLst>
            </p:cNvPr>
            <p:cNvSpPr txBox="1"/>
            <p:nvPr/>
          </p:nvSpPr>
          <p:spPr>
            <a:xfrm>
              <a:off x="6965061" y="3766871"/>
              <a:ext cx="893380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and dust-resistant</a:t>
              </a:r>
            </a:p>
          </p:txBody>
        </p:sp>
        <p:sp>
          <p:nvSpPr>
            <p:cNvPr id="584" name="TextBox 583">
              <a:extLst>
                <a:ext uri="{FF2B5EF4-FFF2-40B4-BE49-F238E27FC236}">
                  <a16:creationId xmlns:a16="http://schemas.microsoft.com/office/drawing/2014/main" id="{C5AAEC23-E06D-7522-87D5-98D1180EB7A7}"/>
                </a:ext>
              </a:extLst>
            </p:cNvPr>
            <p:cNvSpPr txBox="1"/>
            <p:nvPr/>
          </p:nvSpPr>
          <p:spPr>
            <a:xfrm>
              <a:off x="6965061" y="3874129"/>
              <a:ext cx="893380" cy="10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components</a:t>
              </a:r>
            </a:p>
          </p:txBody>
        </p:sp>
        <p:sp>
          <p:nvSpPr>
            <p:cNvPr id="585" name="TextBox 584">
              <a:extLst>
                <a:ext uri="{FF2B5EF4-FFF2-40B4-BE49-F238E27FC236}">
                  <a16:creationId xmlns:a16="http://schemas.microsoft.com/office/drawing/2014/main" id="{6B3247C0-9B85-5238-AFD7-68F35DD9F7BC}"/>
                </a:ext>
              </a:extLst>
            </p:cNvPr>
            <p:cNvSpPr txBox="1"/>
            <p:nvPr/>
          </p:nvSpPr>
          <p:spPr>
            <a:xfrm>
              <a:off x="6965061" y="3981386"/>
              <a:ext cx="893380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safeguard</a:t>
              </a:r>
            </a:p>
          </p:txBody>
        </p:sp>
        <p:sp>
          <p:nvSpPr>
            <p:cNvPr id="586" name="TextBox 585">
              <a:extLst>
                <a:ext uri="{FF2B5EF4-FFF2-40B4-BE49-F238E27FC236}">
                  <a16:creationId xmlns:a16="http://schemas.microsoft.com/office/drawing/2014/main" id="{87071B98-2E36-9B43-306D-3F6148EAC8B8}"/>
                </a:ext>
              </a:extLst>
            </p:cNvPr>
            <p:cNvSpPr txBox="1"/>
            <p:nvPr/>
          </p:nvSpPr>
          <p:spPr>
            <a:xfrm>
              <a:off x="6965061" y="4088729"/>
              <a:ext cx="893380" cy="1072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700" b="1" dirty="0">
                  <a:solidFill>
                    <a:srgbClr val="22403B"/>
                  </a:solidFill>
                  <a:latin typeface="Roboto"/>
                </a:rPr>
                <a:t>electronics</a:t>
              </a:r>
            </a:p>
          </p:txBody>
        </p:sp>
      </p:grpSp>
      <p:sp>
        <p:nvSpPr>
          <p:cNvPr id="587" name="TextBox 586">
            <a:extLst>
              <a:ext uri="{FF2B5EF4-FFF2-40B4-BE49-F238E27FC236}">
                <a16:creationId xmlns:a16="http://schemas.microsoft.com/office/drawing/2014/main" id="{123E8D1F-EB21-C713-4E3A-AB16E082CAF5}"/>
              </a:ext>
            </a:extLst>
          </p:cNvPr>
          <p:cNvSpPr txBox="1"/>
          <p:nvPr/>
        </p:nvSpPr>
        <p:spPr>
          <a:xfrm>
            <a:off x="4223017" y="1426976"/>
            <a:ext cx="4106687" cy="2044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22403B"/>
                </a:solidFill>
                <a:latin typeface="Roboto Slab"/>
              </a:rPr>
              <a:t>Lunar Relay Network Deployment Sequence</a:t>
            </a:r>
          </a:p>
        </p:txBody>
      </p:sp>
      <p:sp>
        <p:nvSpPr>
          <p:cNvPr id="593" name="Team Badge">
            <a:extLst>
              <a:ext uri="{FF2B5EF4-FFF2-40B4-BE49-F238E27FC236}">
                <a16:creationId xmlns:a16="http://schemas.microsoft.com/office/drawing/2014/main" id="{D9C5D949-5A12-2F43-991B-AFF2E11A9CE0}"/>
              </a:ext>
            </a:extLst>
          </p:cNvPr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95" name="Team Name">
            <a:extLst>
              <a:ext uri="{FF2B5EF4-FFF2-40B4-BE49-F238E27FC236}">
                <a16:creationId xmlns:a16="http://schemas.microsoft.com/office/drawing/2014/main" id="{B96AEAA2-C811-F1A3-0E14-958A6F3D7786}"/>
              </a:ext>
            </a:extLst>
          </p:cNvPr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BRAIN BYTES </a:t>
            </a:r>
            <a:endParaRPr lang="en-US" sz="2000" dirty="0"/>
          </a:p>
        </p:txBody>
      </p:sp>
      <p:pic>
        <p:nvPicPr>
          <p:cNvPr id="597" name="Picture 596">
            <a:extLst>
              <a:ext uri="{FF2B5EF4-FFF2-40B4-BE49-F238E27FC236}">
                <a16:creationId xmlns:a16="http://schemas.microsoft.com/office/drawing/2014/main" id="{3A5C4724-07A5-2835-555A-FD8EE41F9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32" y="357518"/>
            <a:ext cx="748004" cy="7480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1C7CB28-60FF-5174-D6B0-39D907C3412D}"/>
              </a:ext>
            </a:extLst>
          </p:cNvPr>
          <p:cNvSpPr/>
          <p:nvPr/>
        </p:nvSpPr>
        <p:spPr>
          <a:xfrm>
            <a:off x="766344" y="3930301"/>
            <a:ext cx="905691" cy="113211"/>
          </a:xfrm>
          <a:custGeom>
            <a:avLst/>
            <a:gdLst/>
            <a:ahLst/>
            <a:cxnLst/>
            <a:rect l="0" t="0" r="0" b="0"/>
            <a:pathLst>
              <a:path w="905691" h="113211">
                <a:moveTo>
                  <a:pt x="0" y="0"/>
                </a:moveTo>
                <a:lnTo>
                  <a:pt x="905691" y="0"/>
                </a:lnTo>
                <a:lnTo>
                  <a:pt x="905691" y="113211"/>
                </a:lnTo>
                <a:lnTo>
                  <a:pt x="0" y="113211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7835494-19EE-1675-FDC7-011225E35D2A}"/>
              </a:ext>
            </a:extLst>
          </p:cNvPr>
          <p:cNvSpPr/>
          <p:nvPr/>
        </p:nvSpPr>
        <p:spPr>
          <a:xfrm>
            <a:off x="766344" y="3930301"/>
            <a:ext cx="905691" cy="113211"/>
          </a:xfrm>
          <a:custGeom>
            <a:avLst/>
            <a:gdLst/>
            <a:ahLst/>
            <a:cxnLst/>
            <a:rect l="0" t="0" r="0" b="0"/>
            <a:pathLst>
              <a:path w="905691" h="113211">
                <a:moveTo>
                  <a:pt x="0" y="0"/>
                </a:moveTo>
                <a:lnTo>
                  <a:pt x="905691" y="0"/>
                </a:lnTo>
                <a:lnTo>
                  <a:pt x="905691" y="113211"/>
                </a:lnTo>
                <a:lnTo>
                  <a:pt x="0" y="113211"/>
                </a:lnTo>
                <a:lnTo>
                  <a:pt x="0" y="0"/>
                </a:lnTo>
                <a:close/>
              </a:path>
            </a:pathLst>
          </a:custGeom>
          <a:noFill/>
          <a:ln w="9434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79CBE2B-A12A-1716-CDD6-C6A38AE7CA87}"/>
              </a:ext>
            </a:extLst>
          </p:cNvPr>
          <p:cNvSpPr/>
          <p:nvPr/>
        </p:nvSpPr>
        <p:spPr>
          <a:xfrm>
            <a:off x="1672035" y="3930301"/>
            <a:ext cx="905691" cy="113211"/>
          </a:xfrm>
          <a:custGeom>
            <a:avLst/>
            <a:gdLst/>
            <a:ahLst/>
            <a:cxnLst/>
            <a:rect l="0" t="0" r="0" b="0"/>
            <a:pathLst>
              <a:path w="905691" h="113211">
                <a:moveTo>
                  <a:pt x="0" y="0"/>
                </a:moveTo>
                <a:lnTo>
                  <a:pt x="905691" y="0"/>
                </a:lnTo>
                <a:lnTo>
                  <a:pt x="905691" y="113211"/>
                </a:lnTo>
                <a:lnTo>
                  <a:pt x="0" y="113211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BF797BD-4716-D5B7-2B60-8D5910B3B120}"/>
              </a:ext>
            </a:extLst>
          </p:cNvPr>
          <p:cNvSpPr/>
          <p:nvPr/>
        </p:nvSpPr>
        <p:spPr>
          <a:xfrm>
            <a:off x="1672035" y="3930301"/>
            <a:ext cx="905691" cy="113211"/>
          </a:xfrm>
          <a:custGeom>
            <a:avLst/>
            <a:gdLst/>
            <a:ahLst/>
            <a:cxnLst/>
            <a:rect l="0" t="0" r="0" b="0"/>
            <a:pathLst>
              <a:path w="905691" h="113211">
                <a:moveTo>
                  <a:pt x="0" y="0"/>
                </a:moveTo>
                <a:lnTo>
                  <a:pt x="905691" y="0"/>
                </a:lnTo>
                <a:lnTo>
                  <a:pt x="905691" y="113211"/>
                </a:lnTo>
                <a:lnTo>
                  <a:pt x="0" y="113211"/>
                </a:lnTo>
                <a:close/>
              </a:path>
            </a:pathLst>
          </a:custGeom>
          <a:noFill/>
          <a:ln w="9434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6F1EED33-8A74-2D6C-ECEA-C26736DCDE2A}"/>
              </a:ext>
            </a:extLst>
          </p:cNvPr>
          <p:cNvSpPr/>
          <p:nvPr/>
        </p:nvSpPr>
        <p:spPr>
          <a:xfrm>
            <a:off x="2577727" y="3930301"/>
            <a:ext cx="905691" cy="113211"/>
          </a:xfrm>
          <a:custGeom>
            <a:avLst/>
            <a:gdLst/>
            <a:ahLst/>
            <a:cxnLst/>
            <a:rect l="0" t="0" r="0" b="0"/>
            <a:pathLst>
              <a:path w="905691" h="113211">
                <a:moveTo>
                  <a:pt x="0" y="0"/>
                </a:moveTo>
                <a:lnTo>
                  <a:pt x="905691" y="0"/>
                </a:lnTo>
                <a:lnTo>
                  <a:pt x="905691" y="113211"/>
                </a:lnTo>
                <a:lnTo>
                  <a:pt x="0" y="113211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CF3FDB6E-71F4-C916-68A2-6D7A81F6AB18}"/>
              </a:ext>
            </a:extLst>
          </p:cNvPr>
          <p:cNvSpPr/>
          <p:nvPr/>
        </p:nvSpPr>
        <p:spPr>
          <a:xfrm>
            <a:off x="2577727" y="3930301"/>
            <a:ext cx="905691" cy="113211"/>
          </a:xfrm>
          <a:custGeom>
            <a:avLst/>
            <a:gdLst/>
            <a:ahLst/>
            <a:cxnLst/>
            <a:rect l="0" t="0" r="0" b="0"/>
            <a:pathLst>
              <a:path w="905691" h="113211">
                <a:moveTo>
                  <a:pt x="0" y="0"/>
                </a:moveTo>
                <a:lnTo>
                  <a:pt x="905691" y="0"/>
                </a:lnTo>
                <a:lnTo>
                  <a:pt x="905691" y="113211"/>
                </a:lnTo>
                <a:lnTo>
                  <a:pt x="0" y="113211"/>
                </a:lnTo>
                <a:close/>
              </a:path>
            </a:pathLst>
          </a:custGeom>
          <a:noFill/>
          <a:ln w="9434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5738D939-F43A-6818-B1CD-F54C163E6B1B}"/>
              </a:ext>
            </a:extLst>
          </p:cNvPr>
          <p:cNvSpPr/>
          <p:nvPr/>
        </p:nvSpPr>
        <p:spPr>
          <a:xfrm>
            <a:off x="3483418" y="3930301"/>
            <a:ext cx="905691" cy="113211"/>
          </a:xfrm>
          <a:custGeom>
            <a:avLst/>
            <a:gdLst/>
            <a:ahLst/>
            <a:cxnLst/>
            <a:rect l="0" t="0" r="0" b="0"/>
            <a:pathLst>
              <a:path w="905691" h="113211">
                <a:moveTo>
                  <a:pt x="0" y="0"/>
                </a:moveTo>
                <a:lnTo>
                  <a:pt x="905691" y="0"/>
                </a:lnTo>
                <a:lnTo>
                  <a:pt x="905691" y="113211"/>
                </a:lnTo>
                <a:lnTo>
                  <a:pt x="0" y="113211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8FDCFA03-4A5E-A587-06E7-B77D5A423C23}"/>
              </a:ext>
            </a:extLst>
          </p:cNvPr>
          <p:cNvSpPr/>
          <p:nvPr/>
        </p:nvSpPr>
        <p:spPr>
          <a:xfrm>
            <a:off x="3483418" y="3930301"/>
            <a:ext cx="905691" cy="113211"/>
          </a:xfrm>
          <a:custGeom>
            <a:avLst/>
            <a:gdLst/>
            <a:ahLst/>
            <a:cxnLst/>
            <a:rect l="0" t="0" r="0" b="0"/>
            <a:pathLst>
              <a:path w="905691" h="113211">
                <a:moveTo>
                  <a:pt x="0" y="0"/>
                </a:moveTo>
                <a:lnTo>
                  <a:pt x="905691" y="0"/>
                </a:lnTo>
                <a:lnTo>
                  <a:pt x="905691" y="113211"/>
                </a:lnTo>
                <a:lnTo>
                  <a:pt x="0" y="113211"/>
                </a:lnTo>
                <a:close/>
              </a:path>
            </a:pathLst>
          </a:custGeom>
          <a:noFill/>
          <a:ln w="9434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0">
            <a:extLst>
              <a:ext uri="{FF2B5EF4-FFF2-40B4-BE49-F238E27FC236}">
                <a16:creationId xmlns:a16="http://schemas.microsoft.com/office/drawing/2014/main" id="{221C644A-8B8C-1E34-0681-90692BC5036A}"/>
              </a:ext>
            </a:extLst>
          </p:cNvPr>
          <p:cNvSpPr/>
          <p:nvPr/>
        </p:nvSpPr>
        <p:spPr>
          <a:xfrm>
            <a:off x="4389109" y="3930301"/>
            <a:ext cx="905691" cy="113211"/>
          </a:xfrm>
          <a:custGeom>
            <a:avLst/>
            <a:gdLst/>
            <a:ahLst/>
            <a:cxnLst/>
            <a:rect l="0" t="0" r="0" b="0"/>
            <a:pathLst>
              <a:path w="905691" h="113211">
                <a:moveTo>
                  <a:pt x="0" y="0"/>
                </a:moveTo>
                <a:lnTo>
                  <a:pt x="905691" y="0"/>
                </a:lnTo>
                <a:lnTo>
                  <a:pt x="905691" y="113211"/>
                </a:lnTo>
                <a:lnTo>
                  <a:pt x="0" y="113211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1">
            <a:extLst>
              <a:ext uri="{FF2B5EF4-FFF2-40B4-BE49-F238E27FC236}">
                <a16:creationId xmlns:a16="http://schemas.microsoft.com/office/drawing/2014/main" id="{592698D0-CA6F-B121-44C6-2DF7793A7E15}"/>
              </a:ext>
            </a:extLst>
          </p:cNvPr>
          <p:cNvSpPr/>
          <p:nvPr/>
        </p:nvSpPr>
        <p:spPr>
          <a:xfrm>
            <a:off x="4389109" y="3930301"/>
            <a:ext cx="905691" cy="113211"/>
          </a:xfrm>
          <a:custGeom>
            <a:avLst/>
            <a:gdLst/>
            <a:ahLst/>
            <a:cxnLst/>
            <a:rect l="0" t="0" r="0" b="0"/>
            <a:pathLst>
              <a:path w="905691" h="113211">
                <a:moveTo>
                  <a:pt x="0" y="0"/>
                </a:moveTo>
                <a:lnTo>
                  <a:pt x="905691" y="0"/>
                </a:lnTo>
                <a:lnTo>
                  <a:pt x="905691" y="113211"/>
                </a:lnTo>
                <a:lnTo>
                  <a:pt x="0" y="113211"/>
                </a:lnTo>
                <a:lnTo>
                  <a:pt x="0" y="0"/>
                </a:lnTo>
                <a:close/>
              </a:path>
            </a:pathLst>
          </a:custGeom>
          <a:noFill/>
          <a:ln w="9434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2">
            <a:extLst>
              <a:ext uri="{FF2B5EF4-FFF2-40B4-BE49-F238E27FC236}">
                <a16:creationId xmlns:a16="http://schemas.microsoft.com/office/drawing/2014/main" id="{FEF8F65D-8D8B-28EE-FDEE-76EFDB140620}"/>
              </a:ext>
            </a:extLst>
          </p:cNvPr>
          <p:cNvSpPr/>
          <p:nvPr/>
        </p:nvSpPr>
        <p:spPr>
          <a:xfrm>
            <a:off x="5294801" y="3930301"/>
            <a:ext cx="905691" cy="113211"/>
          </a:xfrm>
          <a:custGeom>
            <a:avLst/>
            <a:gdLst/>
            <a:ahLst/>
            <a:cxnLst/>
            <a:rect l="0" t="0" r="0" b="0"/>
            <a:pathLst>
              <a:path w="905691" h="113211">
                <a:moveTo>
                  <a:pt x="0" y="0"/>
                </a:moveTo>
                <a:lnTo>
                  <a:pt x="905691" y="0"/>
                </a:lnTo>
                <a:lnTo>
                  <a:pt x="905691" y="113211"/>
                </a:lnTo>
                <a:lnTo>
                  <a:pt x="0" y="113211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13">
            <a:extLst>
              <a:ext uri="{FF2B5EF4-FFF2-40B4-BE49-F238E27FC236}">
                <a16:creationId xmlns:a16="http://schemas.microsoft.com/office/drawing/2014/main" id="{A54D3F11-F973-86DE-00AA-707AD9C09D6D}"/>
              </a:ext>
            </a:extLst>
          </p:cNvPr>
          <p:cNvSpPr/>
          <p:nvPr/>
        </p:nvSpPr>
        <p:spPr>
          <a:xfrm>
            <a:off x="5294801" y="3930301"/>
            <a:ext cx="905691" cy="113211"/>
          </a:xfrm>
          <a:custGeom>
            <a:avLst/>
            <a:gdLst/>
            <a:ahLst/>
            <a:cxnLst/>
            <a:rect l="0" t="0" r="0" b="0"/>
            <a:pathLst>
              <a:path w="905691" h="113211">
                <a:moveTo>
                  <a:pt x="0" y="0"/>
                </a:moveTo>
                <a:lnTo>
                  <a:pt x="905691" y="0"/>
                </a:lnTo>
                <a:lnTo>
                  <a:pt x="905691" y="113211"/>
                </a:lnTo>
                <a:lnTo>
                  <a:pt x="0" y="113211"/>
                </a:lnTo>
                <a:lnTo>
                  <a:pt x="0" y="0"/>
                </a:lnTo>
                <a:close/>
              </a:path>
            </a:pathLst>
          </a:custGeom>
          <a:noFill/>
          <a:ln w="9434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14">
            <a:extLst>
              <a:ext uri="{FF2B5EF4-FFF2-40B4-BE49-F238E27FC236}">
                <a16:creationId xmlns:a16="http://schemas.microsoft.com/office/drawing/2014/main" id="{5973BB5A-41CB-EE77-E6AA-BA163854476D}"/>
              </a:ext>
            </a:extLst>
          </p:cNvPr>
          <p:cNvSpPr/>
          <p:nvPr/>
        </p:nvSpPr>
        <p:spPr>
          <a:xfrm>
            <a:off x="6200492" y="3868978"/>
            <a:ext cx="905691" cy="235857"/>
          </a:xfrm>
          <a:custGeom>
            <a:avLst/>
            <a:gdLst/>
            <a:ahLst/>
            <a:cxnLst/>
            <a:rect l="0" t="0" r="0" b="0"/>
            <a:pathLst>
              <a:path w="905691" h="235857">
                <a:moveTo>
                  <a:pt x="0" y="61322"/>
                </a:moveTo>
                <a:lnTo>
                  <a:pt x="733176" y="61322"/>
                </a:lnTo>
                <a:lnTo>
                  <a:pt x="733176" y="0"/>
                </a:lnTo>
                <a:lnTo>
                  <a:pt x="905691" y="117928"/>
                </a:lnTo>
                <a:lnTo>
                  <a:pt x="733176" y="235857"/>
                </a:lnTo>
                <a:lnTo>
                  <a:pt x="733176" y="174534"/>
                </a:lnTo>
                <a:lnTo>
                  <a:pt x="0" y="174534"/>
                </a:lnTo>
                <a:lnTo>
                  <a:pt x="0" y="61322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15">
            <a:extLst>
              <a:ext uri="{FF2B5EF4-FFF2-40B4-BE49-F238E27FC236}">
                <a16:creationId xmlns:a16="http://schemas.microsoft.com/office/drawing/2014/main" id="{4BA3E184-1F69-ECF3-62C2-2D810EA8326B}"/>
              </a:ext>
            </a:extLst>
          </p:cNvPr>
          <p:cNvSpPr/>
          <p:nvPr/>
        </p:nvSpPr>
        <p:spPr>
          <a:xfrm>
            <a:off x="6200492" y="3868978"/>
            <a:ext cx="905691" cy="235857"/>
          </a:xfrm>
          <a:custGeom>
            <a:avLst/>
            <a:gdLst/>
            <a:ahLst/>
            <a:cxnLst/>
            <a:rect l="0" t="0" r="0" b="0"/>
            <a:pathLst>
              <a:path w="905691" h="235857">
                <a:moveTo>
                  <a:pt x="0" y="61322"/>
                </a:moveTo>
                <a:lnTo>
                  <a:pt x="733178" y="61322"/>
                </a:lnTo>
                <a:lnTo>
                  <a:pt x="733178" y="0"/>
                </a:lnTo>
                <a:lnTo>
                  <a:pt x="905691" y="117928"/>
                </a:lnTo>
                <a:lnTo>
                  <a:pt x="733178" y="235857"/>
                </a:lnTo>
                <a:lnTo>
                  <a:pt x="733178" y="174534"/>
                </a:lnTo>
                <a:lnTo>
                  <a:pt x="0" y="174534"/>
                </a:lnTo>
                <a:lnTo>
                  <a:pt x="0" y="61322"/>
                </a:lnTo>
                <a:close/>
              </a:path>
            </a:pathLst>
          </a:custGeom>
          <a:noFill/>
          <a:ln w="9434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40AA9D2-08FF-3A0B-6F8F-2D662221EFC6}"/>
              </a:ext>
            </a:extLst>
          </p:cNvPr>
          <p:cNvGrpSpPr/>
          <p:nvPr/>
        </p:nvGrpSpPr>
        <p:grpSpPr>
          <a:xfrm>
            <a:off x="2402305" y="2571763"/>
            <a:ext cx="1256533" cy="1188719"/>
            <a:chOff x="2202018" y="1811382"/>
            <a:chExt cx="1256533" cy="118871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3987DD1-9503-8EA6-CAD5-11C0CA7FC5C2}"/>
                </a:ext>
              </a:extLst>
            </p:cNvPr>
            <p:cNvSpPr txBox="1"/>
            <p:nvPr/>
          </p:nvSpPr>
          <p:spPr>
            <a:xfrm>
              <a:off x="2107779" y="1811382"/>
              <a:ext cx="1445012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Use terrain-aware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5B93831-FA4C-43DA-5E10-B5A6D05824D3}"/>
                </a:ext>
              </a:extLst>
            </p:cNvPr>
            <p:cNvSpPr txBox="1"/>
            <p:nvPr/>
          </p:nvSpPr>
          <p:spPr>
            <a:xfrm>
              <a:off x="2107779" y="1981199"/>
              <a:ext cx="1445012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software to select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9F63918-095A-CE78-24AD-4F175D63D44D}"/>
                </a:ext>
              </a:extLst>
            </p:cNvPr>
            <p:cNvSpPr txBox="1"/>
            <p:nvPr/>
          </p:nvSpPr>
          <p:spPr>
            <a:xfrm>
              <a:off x="2107779" y="2151016"/>
              <a:ext cx="1445012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suitable tower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C9F3AAA-ED57-6A5A-614E-87484FF85763}"/>
                </a:ext>
              </a:extLst>
            </p:cNvPr>
            <p:cNvSpPr txBox="1"/>
            <p:nvPr/>
          </p:nvSpPr>
          <p:spPr>
            <a:xfrm>
              <a:off x="2107779" y="2320833"/>
              <a:ext cx="1445012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locations and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6D39691-D2B7-ABAD-9618-4B02EAB9250D}"/>
                </a:ext>
              </a:extLst>
            </p:cNvPr>
            <p:cNvSpPr txBox="1"/>
            <p:nvPr/>
          </p:nvSpPr>
          <p:spPr>
            <a:xfrm>
              <a:off x="2107779" y="2490650"/>
              <a:ext cx="1445012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deploy additional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B9E3300-E7C4-AF11-2940-A3D56034553A}"/>
                </a:ext>
              </a:extLst>
            </p:cNvPr>
            <p:cNvSpPr txBox="1"/>
            <p:nvPr/>
          </p:nvSpPr>
          <p:spPr>
            <a:xfrm>
              <a:off x="2107779" y="2660467"/>
              <a:ext cx="1445012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relay nodes when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EEC7015-4BF3-64E5-A71E-9CD2F4BB87BE}"/>
                </a:ext>
              </a:extLst>
            </p:cNvPr>
            <p:cNvSpPr txBox="1"/>
            <p:nvPr/>
          </p:nvSpPr>
          <p:spPr>
            <a:xfrm>
              <a:off x="2107779" y="2830284"/>
              <a:ext cx="1445012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necessary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BADA395-5C87-FE03-D323-343DFA6957AD}"/>
              </a:ext>
            </a:extLst>
          </p:cNvPr>
          <p:cNvGrpSpPr/>
          <p:nvPr/>
        </p:nvGrpSpPr>
        <p:grpSpPr>
          <a:xfrm>
            <a:off x="4198725" y="2401946"/>
            <a:ext cx="1286449" cy="1358537"/>
            <a:chOff x="3998438" y="1641565"/>
            <a:chExt cx="1286449" cy="135853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236E1CC-95DF-1523-930D-863B70FD1843}"/>
                </a:ext>
              </a:extLst>
            </p:cNvPr>
            <p:cNvSpPr txBox="1"/>
            <p:nvPr/>
          </p:nvSpPr>
          <p:spPr>
            <a:xfrm>
              <a:off x="3901955" y="1641565"/>
              <a:ext cx="1479416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Enable continuous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4FF4F4F-8261-C404-EE02-6E20E88E8572}"/>
                </a:ext>
              </a:extLst>
            </p:cNvPr>
            <p:cNvSpPr txBox="1"/>
            <p:nvPr/>
          </p:nvSpPr>
          <p:spPr>
            <a:xfrm>
              <a:off x="3901955" y="1811382"/>
              <a:ext cx="1479416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or more consistent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2C8DD75-047F-3050-008C-A012AF89E2B6}"/>
                </a:ext>
              </a:extLst>
            </p:cNvPr>
            <p:cNvSpPr txBox="1"/>
            <p:nvPr/>
          </p:nvSpPr>
          <p:spPr>
            <a:xfrm>
              <a:off x="3901955" y="1981199"/>
              <a:ext cx="1479416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transmission of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C00C698-B90E-5FBA-EFB4-7B0D3599FD6F}"/>
                </a:ext>
              </a:extLst>
            </p:cNvPr>
            <p:cNvSpPr txBox="1"/>
            <p:nvPr/>
          </p:nvSpPr>
          <p:spPr>
            <a:xfrm>
              <a:off x="3901955" y="2151016"/>
              <a:ext cx="1479416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scientific data,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9BE3DCC-0691-3488-297E-4F65E6516561}"/>
                </a:ext>
              </a:extLst>
            </p:cNvPr>
            <p:cNvSpPr txBox="1"/>
            <p:nvPr/>
          </p:nvSpPr>
          <p:spPr>
            <a:xfrm>
              <a:off x="3901955" y="2320833"/>
              <a:ext cx="1479416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images, telemetry,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65ED699-0D77-D5B3-495A-46D1F52D22D7}"/>
                </a:ext>
              </a:extLst>
            </p:cNvPr>
            <p:cNvSpPr txBox="1"/>
            <p:nvPr/>
          </p:nvSpPr>
          <p:spPr>
            <a:xfrm>
              <a:off x="3901955" y="2490650"/>
              <a:ext cx="1479416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and commands,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89D42AB-149F-74C4-1564-97FA3F9D10F6}"/>
                </a:ext>
              </a:extLst>
            </p:cNvPr>
            <p:cNvSpPr txBox="1"/>
            <p:nvPr/>
          </p:nvSpPr>
          <p:spPr>
            <a:xfrm>
              <a:off x="3901955" y="2660467"/>
              <a:ext cx="1479416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subject to network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C1947BF-8632-B5DC-A0CF-2145AD3870B7}"/>
                </a:ext>
              </a:extLst>
            </p:cNvPr>
            <p:cNvSpPr txBox="1"/>
            <p:nvPr/>
          </p:nvSpPr>
          <p:spPr>
            <a:xfrm>
              <a:off x="3901955" y="2830285"/>
              <a:ext cx="1479416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availability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8CF143A-F812-7E1C-97FA-56556CADE114}"/>
              </a:ext>
            </a:extLst>
          </p:cNvPr>
          <p:cNvGrpSpPr/>
          <p:nvPr/>
        </p:nvGrpSpPr>
        <p:grpSpPr>
          <a:xfrm>
            <a:off x="6060374" y="2571763"/>
            <a:ext cx="1185918" cy="1188719"/>
            <a:chOff x="5860087" y="1811382"/>
            <a:chExt cx="1185918" cy="1188719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752DF27-BB33-185D-1B85-CFDA78E9E99E}"/>
                </a:ext>
              </a:extLst>
            </p:cNvPr>
            <p:cNvSpPr txBox="1"/>
            <p:nvPr/>
          </p:nvSpPr>
          <p:spPr>
            <a:xfrm>
              <a:off x="5771144" y="1811382"/>
              <a:ext cx="1363805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Establish a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03B927A-6EB9-4CF4-DEDB-F25E3A16D2AB}"/>
                </a:ext>
              </a:extLst>
            </p:cNvPr>
            <p:cNvSpPr txBox="1"/>
            <p:nvPr/>
          </p:nvSpPr>
          <p:spPr>
            <a:xfrm>
              <a:off x="5771144" y="1981199"/>
              <a:ext cx="1363805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scalable lunar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E4C9CAD-1CF5-8FC4-4726-569A547EEDF6}"/>
                </a:ext>
              </a:extLst>
            </p:cNvPr>
            <p:cNvSpPr txBox="1"/>
            <p:nvPr/>
          </p:nvSpPr>
          <p:spPr>
            <a:xfrm>
              <a:off x="5771144" y="2151016"/>
              <a:ext cx="1363805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communication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A68BBFE-E207-1C6F-02E6-9AD64DE0F594}"/>
                </a:ext>
              </a:extLst>
            </p:cNvPr>
            <p:cNvSpPr txBox="1"/>
            <p:nvPr/>
          </p:nvSpPr>
          <p:spPr>
            <a:xfrm>
              <a:off x="5771144" y="2320833"/>
              <a:ext cx="1363805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network that can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3A8C90C-EE4F-06D2-FFE3-BC64C7E739DF}"/>
                </a:ext>
              </a:extLst>
            </p:cNvPr>
            <p:cNvSpPr txBox="1"/>
            <p:nvPr/>
          </p:nvSpPr>
          <p:spPr>
            <a:xfrm>
              <a:off x="5771144" y="2490650"/>
              <a:ext cx="1363805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expand as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BD6A124-EB24-8FE8-253C-24A45F087120}"/>
                </a:ext>
              </a:extLst>
            </p:cNvPr>
            <p:cNvSpPr txBox="1"/>
            <p:nvPr/>
          </p:nvSpPr>
          <p:spPr>
            <a:xfrm>
              <a:off x="5771144" y="2660467"/>
              <a:ext cx="1363805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exploration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85E507E-4CE9-EC5E-F515-67E1A9E5BF39}"/>
                </a:ext>
              </a:extLst>
            </p:cNvPr>
            <p:cNvSpPr txBox="1"/>
            <p:nvPr/>
          </p:nvSpPr>
          <p:spPr>
            <a:xfrm>
              <a:off x="5771144" y="2830284"/>
              <a:ext cx="1363805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activities grow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742F917-4470-6A47-CBC8-E1F22032AB9C}"/>
              </a:ext>
            </a:extLst>
          </p:cNvPr>
          <p:cNvGrpSpPr/>
          <p:nvPr/>
        </p:nvGrpSpPr>
        <p:grpSpPr>
          <a:xfrm>
            <a:off x="574705" y="2911398"/>
            <a:ext cx="1288959" cy="849084"/>
            <a:chOff x="374418" y="2151017"/>
            <a:chExt cx="1288959" cy="849084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8AAEC26-A878-1E7B-54AA-8FB514F931F7}"/>
                </a:ext>
              </a:extLst>
            </p:cNvPr>
            <p:cNvSpPr txBox="1"/>
            <p:nvPr/>
          </p:nvSpPr>
          <p:spPr>
            <a:xfrm>
              <a:off x="277747" y="2151017"/>
              <a:ext cx="1482302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Develop a network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B86D2F8-77B4-E2C8-1B95-32F4012C8B76}"/>
                </a:ext>
              </a:extLst>
            </p:cNvPr>
            <p:cNvSpPr txBox="1"/>
            <p:nvPr/>
          </p:nvSpPr>
          <p:spPr>
            <a:xfrm>
              <a:off x="277747" y="2320834"/>
              <a:ext cx="1482302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 dirty="0">
                  <a:solidFill>
                    <a:srgbClr val="22403B"/>
                  </a:solidFill>
                  <a:latin typeface="Roboto Slab"/>
                </a:rPr>
                <a:t>of autonomous,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BA6B677-6614-62D2-E96E-CCDC399DD483}"/>
                </a:ext>
              </a:extLst>
            </p:cNvPr>
            <p:cNvSpPr txBox="1"/>
            <p:nvPr/>
          </p:nvSpPr>
          <p:spPr>
            <a:xfrm>
              <a:off x="277747" y="2490651"/>
              <a:ext cx="1482302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deployable lunar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675EE0C-1E4E-CA42-A837-C351F1D4A8D4}"/>
                </a:ext>
              </a:extLst>
            </p:cNvPr>
            <p:cNvSpPr txBox="1"/>
            <p:nvPr/>
          </p:nvSpPr>
          <p:spPr>
            <a:xfrm>
              <a:off x="277747" y="2660468"/>
              <a:ext cx="1482302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communication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C6A8A24-2A6E-B1AF-EFFF-0EEA0D1E0080}"/>
                </a:ext>
              </a:extLst>
            </p:cNvPr>
            <p:cNvSpPr txBox="1"/>
            <p:nvPr/>
          </p:nvSpPr>
          <p:spPr>
            <a:xfrm>
              <a:off x="277747" y="2830285"/>
              <a:ext cx="1482302" cy="169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 Slab"/>
                </a:rPr>
                <a:t>towers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F1422F0-8C05-ABEB-BD16-1901A9B7EAE9}"/>
              </a:ext>
            </a:extLst>
          </p:cNvPr>
          <p:cNvGrpSpPr/>
          <p:nvPr/>
        </p:nvGrpSpPr>
        <p:grpSpPr>
          <a:xfrm>
            <a:off x="572205" y="2458552"/>
            <a:ext cx="1293968" cy="339633"/>
            <a:chOff x="371918" y="1698171"/>
            <a:chExt cx="1293968" cy="339633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6459AA3-42AE-3118-B902-B58DFA845955}"/>
                </a:ext>
              </a:extLst>
            </p:cNvPr>
            <p:cNvSpPr txBox="1"/>
            <p:nvPr/>
          </p:nvSpPr>
          <p:spPr>
            <a:xfrm>
              <a:off x="274871" y="1698171"/>
              <a:ext cx="1488063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 dirty="0">
                  <a:solidFill>
                    <a:srgbClr val="000000"/>
                  </a:solidFill>
                  <a:latin typeface="Roboto"/>
                </a:rPr>
                <a:t>Network design and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1AE0ACC-93CD-9C68-C0BA-EDEE1DC0D4F1}"/>
                </a:ext>
              </a:extLst>
            </p:cNvPr>
            <p:cNvSpPr txBox="1"/>
            <p:nvPr/>
          </p:nvSpPr>
          <p:spPr>
            <a:xfrm>
              <a:off x="274871" y="1867988"/>
              <a:ext cx="1488063" cy="169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Roboto"/>
                </a:rPr>
                <a:t>prototyping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82A7ED7-67B0-9821-B901-2EB5B49338DA}"/>
              </a:ext>
            </a:extLst>
          </p:cNvPr>
          <p:cNvGrpSpPr/>
          <p:nvPr/>
        </p:nvGrpSpPr>
        <p:grpSpPr>
          <a:xfrm>
            <a:off x="6192605" y="2118918"/>
            <a:ext cx="921465" cy="339633"/>
            <a:chOff x="5992318" y="1358537"/>
            <a:chExt cx="921465" cy="339633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9E4965A-F836-D17A-689B-639505562791}"/>
                </a:ext>
              </a:extLst>
            </p:cNvPr>
            <p:cNvSpPr txBox="1"/>
            <p:nvPr/>
          </p:nvSpPr>
          <p:spPr>
            <a:xfrm>
              <a:off x="5923209" y="1358537"/>
              <a:ext cx="1059684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Roboto"/>
                </a:rPr>
                <a:t>Future growth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B34644C-CF7B-A32D-1409-E75FAF8A4276}"/>
                </a:ext>
              </a:extLst>
            </p:cNvPr>
            <p:cNvSpPr txBox="1"/>
            <p:nvPr/>
          </p:nvSpPr>
          <p:spPr>
            <a:xfrm>
              <a:off x="5923209" y="1528354"/>
              <a:ext cx="1059684" cy="169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Roboto"/>
                </a:rPr>
                <a:t>planning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DA96FC8-C269-B089-86BE-491F83BA6926}"/>
              </a:ext>
            </a:extLst>
          </p:cNvPr>
          <p:cNvGrpSpPr/>
          <p:nvPr/>
        </p:nvGrpSpPr>
        <p:grpSpPr>
          <a:xfrm>
            <a:off x="2375550" y="2118918"/>
            <a:ext cx="1310035" cy="339633"/>
            <a:chOff x="2175263" y="1358537"/>
            <a:chExt cx="1310035" cy="339633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1C192EE-8B13-547A-6636-5601AA561073}"/>
                </a:ext>
              </a:extLst>
            </p:cNvPr>
            <p:cNvSpPr txBox="1"/>
            <p:nvPr/>
          </p:nvSpPr>
          <p:spPr>
            <a:xfrm>
              <a:off x="2077011" y="1358537"/>
              <a:ext cx="1506540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Roboto"/>
                </a:rPr>
                <a:t>Software integration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6C18FE5-12C8-DC1F-6517-611EC174EF82}"/>
                </a:ext>
              </a:extLst>
            </p:cNvPr>
            <p:cNvSpPr txBox="1"/>
            <p:nvPr/>
          </p:nvSpPr>
          <p:spPr>
            <a:xfrm>
              <a:off x="2077011" y="1528354"/>
              <a:ext cx="1506540" cy="169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Roboto"/>
                </a:rPr>
                <a:t>and refinement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02DE812-01C9-2B00-AB56-1FF231CF1BE6}"/>
              </a:ext>
            </a:extLst>
          </p:cNvPr>
          <p:cNvGrpSpPr/>
          <p:nvPr/>
        </p:nvGrpSpPr>
        <p:grpSpPr>
          <a:xfrm>
            <a:off x="4408714" y="1949101"/>
            <a:ext cx="866482" cy="339633"/>
            <a:chOff x="4208427" y="1188720"/>
            <a:chExt cx="866482" cy="339633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C5FFCFC-92C8-769A-61E6-8B1410E30539}"/>
                </a:ext>
              </a:extLst>
            </p:cNvPr>
            <p:cNvSpPr txBox="1"/>
            <p:nvPr/>
          </p:nvSpPr>
          <p:spPr>
            <a:xfrm>
              <a:off x="4143441" y="1188720"/>
              <a:ext cx="996454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Roboto"/>
                </a:rPr>
                <a:t>Data flow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14C1F1B-318D-CA8C-6C30-810355472CBA}"/>
                </a:ext>
              </a:extLst>
            </p:cNvPr>
            <p:cNvSpPr txBox="1"/>
            <p:nvPr/>
          </p:nvSpPr>
          <p:spPr>
            <a:xfrm>
              <a:off x="4143441" y="1358537"/>
              <a:ext cx="996454" cy="169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Roboto"/>
                </a:rPr>
                <a:t>enhancement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18B40709-16F1-BE28-5FB2-6F5083E18E48}"/>
              </a:ext>
            </a:extLst>
          </p:cNvPr>
          <p:cNvSpPr txBox="1"/>
          <p:nvPr/>
        </p:nvSpPr>
        <p:spPr>
          <a:xfrm>
            <a:off x="2770685" y="1347931"/>
            <a:ext cx="7765304" cy="283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800" b="1" dirty="0">
                <a:solidFill>
                  <a:srgbClr val="22403B"/>
                </a:solidFill>
                <a:latin typeface="Roboto Slab"/>
              </a:rPr>
              <a:t>Enhancing Lunar Communication with Autonomous Towers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DFBCEAE-6B78-A022-8254-5C1360BAD7AB}"/>
              </a:ext>
            </a:extLst>
          </p:cNvPr>
          <p:cNvGrpSpPr/>
          <p:nvPr/>
        </p:nvGrpSpPr>
        <p:grpSpPr>
          <a:xfrm>
            <a:off x="1487104" y="4213329"/>
            <a:ext cx="1275543" cy="339633"/>
            <a:chOff x="1286817" y="3452948"/>
            <a:chExt cx="1275543" cy="339633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488E317-581D-237C-EDB2-B8C167F12C47}"/>
                </a:ext>
              </a:extLst>
            </p:cNvPr>
            <p:cNvSpPr txBox="1"/>
            <p:nvPr/>
          </p:nvSpPr>
          <p:spPr>
            <a:xfrm>
              <a:off x="1191152" y="3452948"/>
              <a:ext cx="1466874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Roboto Slab"/>
                </a:rPr>
                <a:t>Initial deployment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227B1E1-39C8-29F2-5141-EF9834A0A7F5}"/>
                </a:ext>
              </a:extLst>
            </p:cNvPr>
            <p:cNvSpPr txBox="1"/>
            <p:nvPr/>
          </p:nvSpPr>
          <p:spPr>
            <a:xfrm>
              <a:off x="1191152" y="3622765"/>
              <a:ext cx="1466874" cy="169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Roboto Slab"/>
                </a:rPr>
                <a:t>and testing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CC5637A-999A-871A-5107-5D9BAC9AD2DB}"/>
              </a:ext>
            </a:extLst>
          </p:cNvPr>
          <p:cNvGrpSpPr/>
          <p:nvPr/>
        </p:nvGrpSpPr>
        <p:grpSpPr>
          <a:xfrm>
            <a:off x="3388415" y="4213329"/>
            <a:ext cx="1095707" cy="509450"/>
            <a:chOff x="3188128" y="3452948"/>
            <a:chExt cx="1095707" cy="509450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74EC44A-21E0-68C9-3B0F-B6A5C263A157}"/>
                </a:ext>
              </a:extLst>
            </p:cNvPr>
            <p:cNvSpPr txBox="1"/>
            <p:nvPr/>
          </p:nvSpPr>
          <p:spPr>
            <a:xfrm>
              <a:off x="3105950" y="3452948"/>
              <a:ext cx="1260063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Roboto Slab"/>
                </a:rPr>
                <a:t>Continuous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39FD091-506D-E8FF-93B4-FCE0ADCE1D2C}"/>
                </a:ext>
              </a:extLst>
            </p:cNvPr>
            <p:cNvSpPr txBox="1"/>
            <p:nvPr/>
          </p:nvSpPr>
          <p:spPr>
            <a:xfrm>
              <a:off x="3105950" y="3622765"/>
              <a:ext cx="1260063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Roboto Slab"/>
                </a:rPr>
                <a:t>communication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A806A22-BB50-4C6E-03DF-5CAA8B1147F1}"/>
                </a:ext>
              </a:extLst>
            </p:cNvPr>
            <p:cNvSpPr txBox="1"/>
            <p:nvPr/>
          </p:nvSpPr>
          <p:spPr>
            <a:xfrm>
              <a:off x="3105950" y="3792582"/>
              <a:ext cx="1260063" cy="169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Roboto Slab"/>
                </a:rPr>
                <a:t>achieved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65BFE0F-05E7-E51A-7F41-CF9FDAA0CF58}"/>
              </a:ext>
            </a:extLst>
          </p:cNvPr>
          <p:cNvGrpSpPr/>
          <p:nvPr/>
        </p:nvGrpSpPr>
        <p:grpSpPr>
          <a:xfrm>
            <a:off x="5393266" y="4213329"/>
            <a:ext cx="708750" cy="339633"/>
            <a:chOff x="5192979" y="3452948"/>
            <a:chExt cx="708750" cy="339633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7E01D35-5BD3-4838-04CE-4E22F33AEC1D}"/>
                </a:ext>
              </a:extLst>
            </p:cNvPr>
            <p:cNvSpPr txBox="1"/>
            <p:nvPr/>
          </p:nvSpPr>
          <p:spPr>
            <a:xfrm>
              <a:off x="5139823" y="3452948"/>
              <a:ext cx="815062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Roboto Slab"/>
                </a:rPr>
                <a:t>Coverage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FB28060-D177-BA7E-2F13-17B70BD307A0}"/>
                </a:ext>
              </a:extLst>
            </p:cNvPr>
            <p:cNvSpPr txBox="1"/>
            <p:nvPr/>
          </p:nvSpPr>
          <p:spPr>
            <a:xfrm>
              <a:off x="5139823" y="3622765"/>
              <a:ext cx="815062" cy="169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Roboto Slab"/>
                </a:rPr>
                <a:t>expansion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9A675FE-2422-08DD-A190-E4B02D1BBD6B}"/>
              </a:ext>
            </a:extLst>
          </p:cNvPr>
          <p:cNvGrpSpPr/>
          <p:nvPr/>
        </p:nvGrpSpPr>
        <p:grpSpPr>
          <a:xfrm>
            <a:off x="1464481" y="4666175"/>
            <a:ext cx="1320800" cy="849084"/>
            <a:chOff x="1264194" y="3905794"/>
            <a:chExt cx="1320800" cy="849084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82D4BAC-63D4-66AF-390B-BCF15288CCEC}"/>
                </a:ext>
              </a:extLst>
            </p:cNvPr>
            <p:cNvSpPr txBox="1"/>
            <p:nvPr/>
          </p:nvSpPr>
          <p:spPr>
            <a:xfrm>
              <a:off x="1165134" y="3905794"/>
              <a:ext cx="1518920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"/>
                </a:rPr>
                <a:t>Connect rovers in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C6C9971-5932-3A17-D159-031F014FB928}"/>
                </a:ext>
              </a:extLst>
            </p:cNvPr>
            <p:cNvSpPr txBox="1"/>
            <p:nvPr/>
          </p:nvSpPr>
          <p:spPr>
            <a:xfrm>
              <a:off x="1165134" y="4075611"/>
              <a:ext cx="1518920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"/>
                </a:rPr>
                <a:t>craters and terrain-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44EF89C-713A-FC6A-B380-3A1C47DEB76F}"/>
                </a:ext>
              </a:extLst>
            </p:cNvPr>
            <p:cNvSpPr txBox="1"/>
            <p:nvPr/>
          </p:nvSpPr>
          <p:spPr>
            <a:xfrm>
              <a:off x="1165134" y="4245428"/>
              <a:ext cx="1518920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"/>
                </a:rPr>
                <a:t>shadowed regions to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FB8508B-7D40-AF7B-A26B-310AF29707C6}"/>
                </a:ext>
              </a:extLst>
            </p:cNvPr>
            <p:cNvSpPr txBox="1"/>
            <p:nvPr/>
          </p:nvSpPr>
          <p:spPr>
            <a:xfrm>
              <a:off x="1165134" y="4415245"/>
              <a:ext cx="1518920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"/>
                </a:rPr>
                <a:t>orbital relay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BB4F14E-A25C-983B-BD7B-CBCA0D221296}"/>
                </a:ext>
              </a:extLst>
            </p:cNvPr>
            <p:cNvSpPr txBox="1"/>
            <p:nvPr/>
          </p:nvSpPr>
          <p:spPr>
            <a:xfrm>
              <a:off x="1165134" y="4585062"/>
              <a:ext cx="1518920" cy="169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"/>
                </a:rPr>
                <a:t>satellites and Earth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F2A007F-1660-FFAF-69E8-1EE2326D63D4}"/>
              </a:ext>
            </a:extLst>
          </p:cNvPr>
          <p:cNvGrpSpPr/>
          <p:nvPr/>
        </p:nvGrpSpPr>
        <p:grpSpPr>
          <a:xfrm>
            <a:off x="5103162" y="4666175"/>
            <a:ext cx="1288959" cy="1018901"/>
            <a:chOff x="4902875" y="3905794"/>
            <a:chExt cx="1288959" cy="1018901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328D0C7-8837-ADF0-25D2-C140EC3FCBDC}"/>
                </a:ext>
              </a:extLst>
            </p:cNvPr>
            <p:cNvSpPr txBox="1"/>
            <p:nvPr/>
          </p:nvSpPr>
          <p:spPr>
            <a:xfrm>
              <a:off x="4806204" y="3905794"/>
              <a:ext cx="1482302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"/>
                </a:rPr>
                <a:t>Reduce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6AB57B3-301D-743B-AB0F-23D89E22A49B}"/>
                </a:ext>
              </a:extLst>
            </p:cNvPr>
            <p:cNvSpPr txBox="1"/>
            <p:nvPr/>
          </p:nvSpPr>
          <p:spPr>
            <a:xfrm>
              <a:off x="4806204" y="4075611"/>
              <a:ext cx="1482302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"/>
                </a:rPr>
                <a:t>communication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C1A68AEE-F378-14D7-FB1C-41259ACCEE19}"/>
                </a:ext>
              </a:extLst>
            </p:cNvPr>
            <p:cNvSpPr txBox="1"/>
            <p:nvPr/>
          </p:nvSpPr>
          <p:spPr>
            <a:xfrm>
              <a:off x="4806204" y="4245428"/>
              <a:ext cx="1482302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"/>
                </a:rPr>
                <a:t>dead zones through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A5A9A05-FBE1-2AA8-7D6C-A09A63A28DB8}"/>
                </a:ext>
              </a:extLst>
            </p:cNvPr>
            <p:cNvSpPr txBox="1"/>
            <p:nvPr/>
          </p:nvSpPr>
          <p:spPr>
            <a:xfrm>
              <a:off x="4806204" y="4415245"/>
              <a:ext cx="1482302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"/>
                </a:rPr>
                <a:t>strategically placed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A754C91-F131-7E94-88F7-8E3E58CA685B}"/>
                </a:ext>
              </a:extLst>
            </p:cNvPr>
            <p:cNvSpPr txBox="1"/>
            <p:nvPr/>
          </p:nvSpPr>
          <p:spPr>
            <a:xfrm>
              <a:off x="4806204" y="4585062"/>
              <a:ext cx="1482302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"/>
                </a:rPr>
                <a:t>towers and optional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A08333D-2444-217D-4356-46E5DA6A3CBA}"/>
                </a:ext>
              </a:extLst>
            </p:cNvPr>
            <p:cNvSpPr txBox="1"/>
            <p:nvPr/>
          </p:nvSpPr>
          <p:spPr>
            <a:xfrm>
              <a:off x="4806204" y="4754879"/>
              <a:ext cx="1482302" cy="169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"/>
                </a:rPr>
                <a:t>micro-relays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5D89A97-1540-F5D2-CB14-1443C5E5F436}"/>
              </a:ext>
            </a:extLst>
          </p:cNvPr>
          <p:cNvGrpSpPr/>
          <p:nvPr/>
        </p:nvGrpSpPr>
        <p:grpSpPr>
          <a:xfrm>
            <a:off x="3305129" y="4835992"/>
            <a:ext cx="1262279" cy="1188719"/>
            <a:chOff x="3104842" y="4075611"/>
            <a:chExt cx="1262279" cy="1188719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50DE88BC-97A1-8EF6-3906-1F6B06F1C39A}"/>
                </a:ext>
              </a:extLst>
            </p:cNvPr>
            <p:cNvSpPr txBox="1"/>
            <p:nvPr/>
          </p:nvSpPr>
          <p:spPr>
            <a:xfrm>
              <a:off x="3010172" y="4075611"/>
              <a:ext cx="1451620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"/>
                </a:rPr>
                <a:t>Maintain more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E95947E-48FE-5F05-DD36-9454BE6275C5}"/>
                </a:ext>
              </a:extLst>
            </p:cNvPr>
            <p:cNvSpPr txBox="1"/>
            <p:nvPr/>
          </p:nvSpPr>
          <p:spPr>
            <a:xfrm>
              <a:off x="3010172" y="4245428"/>
              <a:ext cx="1451620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"/>
                </a:rPr>
                <a:t>reliable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D86BC74-93CE-B07F-AF1C-076A937EADAF}"/>
                </a:ext>
              </a:extLst>
            </p:cNvPr>
            <p:cNvSpPr txBox="1"/>
            <p:nvPr/>
          </p:nvSpPr>
          <p:spPr>
            <a:xfrm>
              <a:off x="3010172" y="4415245"/>
              <a:ext cx="1451620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"/>
                </a:rPr>
                <a:t>communication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EAAAD02-AE84-7D2E-D38E-8D2A9F7DAF74}"/>
                </a:ext>
              </a:extLst>
            </p:cNvPr>
            <p:cNvSpPr txBox="1"/>
            <p:nvPr/>
          </p:nvSpPr>
          <p:spPr>
            <a:xfrm>
              <a:off x="3010172" y="4585062"/>
              <a:ext cx="1451620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"/>
                </a:rPr>
                <a:t>between lunar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635BD47-A2BF-1847-3C79-BB2B52DEF74B}"/>
                </a:ext>
              </a:extLst>
            </p:cNvPr>
            <p:cNvSpPr txBox="1"/>
            <p:nvPr/>
          </p:nvSpPr>
          <p:spPr>
            <a:xfrm>
              <a:off x="3010172" y="4754879"/>
              <a:ext cx="1451620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"/>
                </a:rPr>
                <a:t>rovers and Earth,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EBC4C7A-7AE5-D54E-4271-A1736F723917}"/>
                </a:ext>
              </a:extLst>
            </p:cNvPr>
            <p:cNvSpPr txBox="1"/>
            <p:nvPr/>
          </p:nvSpPr>
          <p:spPr>
            <a:xfrm>
              <a:off x="3010172" y="4924696"/>
              <a:ext cx="1451620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"/>
                </a:rPr>
                <a:t>even in challenging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97C79E8-0103-C8A0-A7BA-3D8EF144625A}"/>
                </a:ext>
              </a:extLst>
            </p:cNvPr>
            <p:cNvSpPr txBox="1"/>
            <p:nvPr/>
          </p:nvSpPr>
          <p:spPr>
            <a:xfrm>
              <a:off x="3010172" y="5094513"/>
              <a:ext cx="1451620" cy="1698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22403B"/>
                  </a:solidFill>
                  <a:latin typeface="Roboto"/>
                </a:rPr>
                <a:t>terrain</a:t>
              </a:r>
            </a:p>
          </p:txBody>
        </p:sp>
      </p:grpSp>
      <p:pic>
        <p:nvPicPr>
          <p:cNvPr id="101" name="Picture 100">
            <a:extLst>
              <a:ext uri="{FF2B5EF4-FFF2-40B4-BE49-F238E27FC236}">
                <a16:creationId xmlns:a16="http://schemas.microsoft.com/office/drawing/2014/main" id="{13910823-E851-20A0-EB01-D313A3A78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797" y="2118918"/>
            <a:ext cx="4454072" cy="2838617"/>
          </a:xfrm>
          <a:prstGeom prst="rect">
            <a:avLst/>
          </a:prstGeom>
        </p:spPr>
      </p:pic>
      <p:sp>
        <p:nvSpPr>
          <p:cNvPr id="109" name="Team Badge">
            <a:extLst>
              <a:ext uri="{FF2B5EF4-FFF2-40B4-BE49-F238E27FC236}">
                <a16:creationId xmlns:a16="http://schemas.microsoft.com/office/drawing/2014/main" id="{4C182287-DA01-0DA2-F802-12A6E175ADCA}"/>
              </a:ext>
            </a:extLst>
          </p:cNvPr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1" name="Team Name">
            <a:extLst>
              <a:ext uri="{FF2B5EF4-FFF2-40B4-BE49-F238E27FC236}">
                <a16:creationId xmlns:a16="http://schemas.microsoft.com/office/drawing/2014/main" id="{BFAA426D-0F4E-5F68-C260-6F9F8C74304E}"/>
              </a:ext>
            </a:extLst>
          </p:cNvPr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BRAIN BYTES </a:t>
            </a:r>
            <a:endParaRPr lang="en-US" sz="2000" dirty="0"/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CE3C70C3-D64D-79FA-60AB-F1867C19F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732" y="357518"/>
            <a:ext cx="748004" cy="7480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1252</TotalTime>
  <Words>1400</Words>
  <Application>Microsoft Office PowerPoint</Application>
  <PresentationFormat>Widescreen</PresentationFormat>
  <Paragraphs>381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Aptos</vt:lpstr>
      <vt:lpstr>Aptos Display</vt:lpstr>
      <vt:lpstr>Aptos Display</vt:lpstr>
      <vt:lpstr>Arial</vt:lpstr>
      <vt:lpstr>Calibri</vt:lpstr>
      <vt:lpstr>Cambria</vt:lpstr>
      <vt:lpstr>Roboto</vt:lpstr>
      <vt:lpstr>Roboto Slab</vt:lpstr>
      <vt:lpstr>Times New Roman</vt:lpstr>
      <vt:lpstr>Genesis Ideathon</vt:lpstr>
      <vt:lpstr>PowerPoint Presentation</vt:lpstr>
      <vt:lpstr>DOMAIN PROBLEM IN OUR OWN WORDS 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Tharunima M</cp:lastModifiedBy>
  <cp:revision>5</cp:revision>
  <dcterms:created xsi:type="dcterms:W3CDTF">2026-10-07T15:27:40Z</dcterms:created>
  <dcterms:modified xsi:type="dcterms:W3CDTF">2026-10-09T17:29:59Z</dcterms:modified>
</cp:coreProperties>
</file>